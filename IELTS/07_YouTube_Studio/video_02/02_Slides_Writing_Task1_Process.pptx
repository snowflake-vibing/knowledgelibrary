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131F-0CC1-2D77-BD1D-39A38450C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51D8C-D8D9-50E8-D667-572461D8F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E0A38-73DF-1188-EC72-480C53D5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FBCD1-B454-832B-749D-11C154EB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3D05D-39E8-D2FC-DEEC-B09941E9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8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3264-7CAE-F994-CF28-4FCFD67A9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FD56F-C559-53FC-EACC-F904EC3B0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35AC-4DF0-EA9A-20AD-B4150A64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2DE51-0034-E956-A4EF-753807C7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AE90-AC9B-DCB6-BD13-001A31B4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0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8B09-05BF-DB45-C216-4927C3FAA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3783F-83D4-3878-F756-A68320402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74DF3-89AB-D98F-7076-46C0D8E4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0437B-49E5-B1D4-0DBA-CDB85C7C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B05B7-611E-813F-45FD-44B85A10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3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2878-A6C5-5D0D-52C0-584A360D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A969-FE46-08BA-4CEE-2620C2B7F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C54AE-BE97-0327-6F25-D1170D0AA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5776F-E196-C585-DAC6-B21101CCC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9B880-6D34-50F5-1261-3EE44E0B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95C2C-D601-8D94-5F2E-6B589A49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9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C0AF-8627-0D50-D4AB-F67DD1BA8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4656A-F854-65FF-3E89-6F0C58E98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637B-51C8-C440-1569-5972348FB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6E809-5F4C-6FF6-90ED-09F827F08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FAD5B-54D8-6872-24CE-AE1EDEE89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2B58B-4D38-EE4C-B68D-133B7227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ECDC1-5026-E441-15D8-07F27BDA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B962B-601E-69E2-E891-BE736AD8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0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B67B-52D8-ADDD-A4B1-3DA832F5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EE2E1-CC3A-4C02-35B1-2EE1EB0D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0A019-8B78-5ACF-8AA8-70C60DB7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D0C35-BCF0-E2C2-3AAA-399EFC9B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6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6DAEF-F263-23B9-12B5-979CB7B3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F06DF-B961-2826-F9D9-7847AD27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0A24F-6100-C03D-5387-157D5F1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7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0D08-898F-0BDD-0A91-2D79ABD2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90C5-AEDE-6E06-5CB9-55F2B4F88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4F700-7349-C708-CD6B-E4E1AC8AF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D5ADF-0DA3-73B9-8F87-E8560BA4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D2482-7653-C490-34EE-8FB30C72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22D0-C940-85F4-9590-BB5A3DEE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1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1D86-2C7F-5D5F-EE09-2DD69180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9181B-C5F9-E3E9-EBC7-D8BA1E1A5BF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193BD-B7EC-F844-4515-1CB03CAB2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0F9D9-B5A6-FC2F-AEFE-71164339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021D1-C81D-0BD2-7FC4-20DA9EEC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3A7E0-4D3D-266D-6C5B-C4B414A8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451-94B6-8772-B1E9-C7461CD4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FB18E-842B-7EDB-1A99-1FE8C5C79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62A87-D854-6382-EF34-0F56E1CF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BF419-ACD4-5200-943B-A532FE16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8269-1877-3D21-81A8-A2CACFF9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5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BC194-22D1-10D1-90A6-942FE8E6E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EA3B5-8D84-CB2C-05AC-07D2C35CC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5427B-E96A-73DF-B018-E01B28A9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EFF6B-12DB-B614-A7F1-24FF1997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A496-FCAE-C8E7-F2E5-A58215DC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C61F1-7DDC-583D-2958-CD6CC783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9710-A5D0-BF8B-1CAF-E763AA4D9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E664-FB3A-3433-4C82-A7543E549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8C918-D775-486F-8B61-2D42E65A604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A171-9F24-7B06-574B-351BCCAA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BB223-317E-7A11-D407-51620ACC1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2A429-126A-44E1-B5DE-F1E51C399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6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537637-E975-8D75-8EF1-26386BD1680A}"/>
              </a:ext>
            </a:extLst>
          </p:cNvPr>
          <p:cNvSpPr/>
          <p:nvPr/>
        </p:nvSpPr>
        <p:spPr>
          <a:xfrm>
            <a:off x="731520" y="762000"/>
            <a:ext cx="3937000" cy="381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ontserrat" panose="00000500000000000000" pitchFamily="2" charset="0"/>
              </a:rPr>
              <a:t>IELTS WRITING TASK 1 • BAND 7.5+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07F0D-88A7-5173-2474-35AEE520ABA9}"/>
              </a:ext>
            </a:extLst>
          </p:cNvPr>
          <p:cNvSpPr txBox="1"/>
          <p:nvPr/>
        </p:nvSpPr>
        <p:spPr>
          <a:xfrm>
            <a:off x="731520" y="1397000"/>
            <a:ext cx="6096000" cy="13206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4200" b="1">
                <a:solidFill>
                  <a:srgbClr val="0F172A"/>
                </a:solidFill>
                <a:latin typeface="Montserrat" panose="00000500000000000000" pitchFamily="2" charset="0"/>
              </a:rPr>
              <a:t>PROCESS &amp;
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C9774-82C7-FC3E-5343-A1F26721A436}"/>
              </a:ext>
            </a:extLst>
          </p:cNvPr>
          <p:cNvSpPr txBox="1"/>
          <p:nvPr/>
        </p:nvSpPr>
        <p:spPr>
          <a:xfrm>
            <a:off x="731520" y="2768600"/>
            <a:ext cx="609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DC2626"/>
                </a:solidFill>
                <a:latin typeface="Montserrat" panose="00000500000000000000" pitchFamily="2" charset="0"/>
              </a:rPr>
              <a:t>COMPLETE MASTERCLASS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A0F2A-618C-9F29-DF73-2AB1B8474615}"/>
              </a:ext>
            </a:extLst>
          </p:cNvPr>
          <p:cNvSpPr txBox="1"/>
          <p:nvPr/>
        </p:nvSpPr>
        <p:spPr>
          <a:xfrm>
            <a:off x="731520" y="3492500"/>
            <a:ext cx="5842000" cy="12883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1400" b="1">
                <a:solidFill>
                  <a:srgbClr val="0F172A"/>
                </a:solidFill>
                <a:latin typeface="Montserrat" panose="00000500000000000000" pitchFamily="2" charset="0"/>
              </a:rPr>
              <a:t>Linear vs Cyclical • Passive &amp; Active Voice
Sequencing Linkers &amp; 2 Real Cambridge Walkthroughs</a:t>
            </a:r>
            <a:endParaRPr lang="en-US" sz="1200" i="1">
              <a:solidFill>
                <a:srgbClr val="64748B"/>
              </a:solidFill>
              <a:latin typeface="Montserrat" panose="00000500000000000000" pitchFamily="2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1200" i="1">
                <a:solidFill>
                  <a:srgbClr val="64748B"/>
                </a:solidFill>
                <a:latin typeface="Montserrat" panose="00000500000000000000" pitchFamily="2" charset="0"/>
              </a:rPr>
              <a:t>Quy trình nhân tạo &amp; Chu trình tự nhiên • Bí quyết chia đoạn
Từ nối trình tự &amp; Giải chi tiết 2 đề thi thật Cambridge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B90B6-7C31-016A-5156-C76583FD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1409599"/>
            <a:ext cx="4508500" cy="3721302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</p:spTree>
    <p:extLst>
      <p:ext uri="{BB962C8B-B14F-4D97-AF65-F5344CB8AC3E}">
        <p14:creationId xmlns:p14="http://schemas.microsoft.com/office/powerpoint/2010/main" val="3220451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81808-2981-14EF-04B3-A57F60798CF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⚙️ 01. TASK TYPE 1: MAN-MADE LINEAR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5CE84-BF6B-A3C4-511B-DEFB4A635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EC99B6D-0447-17A9-9B55-D2E9AF2633B4}"/>
              </a:ext>
            </a:extLst>
          </p:cNvPr>
          <p:cNvGrpSpPr/>
          <p:nvPr/>
        </p:nvGrpSpPr>
        <p:grpSpPr>
          <a:xfrm>
            <a:off x="5524500" y="1397000"/>
            <a:ext cx="5905500" cy="2850028"/>
            <a:chOff x="5524500" y="1397000"/>
            <a:chExt cx="5905500" cy="28500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08AFE7-3266-254A-DD3F-E3E2B59027D9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79922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MAN-MADE MANUFACTURING PROCESS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Linear production line: raw materials transformed into an end product.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Quy trình sản xuất tuyến tính: nguyên liệu thô biến đổi thành thành phẩm hoàn thiện.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Mandatory use of Passive Voice (be + V3/ed) in Present Simple.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Bắt buộc sử dụng thể Bị động ở thì Hiện tại đơn vì người vận hành không quan trọng.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is excavated / is filtered / is moulded / is delivered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được đào lên / được lọc qua lưới / được đúc khuôn / được vận chuyển.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D70D4C-86E1-07D0-B72A-B377B5108671}"/>
                </a:ext>
              </a:extLst>
            </p:cNvPr>
            <p:cNvSpPr/>
            <p:nvPr/>
          </p:nvSpPr>
          <p:spPr>
            <a:xfrm>
              <a:off x="5524500" y="1397000"/>
              <a:ext cx="50800" cy="2850028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9706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E32B7F-D315-16DB-684F-99A5170B0F29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⚙️ 01. TASK TYPE 1: MODEL SENTENCES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D7278-543E-8078-E4C2-FC05124F5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E5ABDA7-2683-9E7F-CFDC-E25BE8495987}"/>
              </a:ext>
            </a:extLst>
          </p:cNvPr>
          <p:cNvGrpSpPr/>
          <p:nvPr/>
        </p:nvGrpSpPr>
        <p:grpSpPr>
          <a:xfrm>
            <a:off x="5524500" y="1524000"/>
            <a:ext cx="5905500" cy="2279359"/>
            <a:chOff x="5524500" y="1524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108B9C-ACC4-36A0-0277-1088A5DC6C63}"/>
                </a:ext>
              </a:extLst>
            </p:cNvPr>
            <p:cNvSpPr txBox="1"/>
            <p:nvPr/>
          </p:nvSpPr>
          <p:spPr>
            <a:xfrm>
              <a:off x="5727700" y="1524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PASSIVE VOICE &amp; PURPOSE PATTERNS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Raw clay is excavated from the ground using a large mechanical digger.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sét thô được đào lên từ lòng đất bằng một chiếc máy xúc cơ học lớn.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bricks are transferred to a cooling chamber to prevent structural cracking.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Gạch được chuyển vào buồng làm mát để ngăn ngừa hiện tượng nứt vỡ cấu trúc.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27C49D-3B46-E93C-A900-84621EBCA878}"/>
                </a:ext>
              </a:extLst>
            </p:cNvPr>
            <p:cNvSpPr/>
            <p:nvPr/>
          </p:nvSpPr>
          <p:spPr>
            <a:xfrm>
              <a:off x="5524500" y="1524000"/>
              <a:ext cx="50800" cy="2279359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971911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F070F-FD4E-41B0-529A-98AA43608DDC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🐝 01. TASK TYPE 2: NATURAL CYCLICAL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87293-58F7-BAA7-0BCD-25674DE11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9AFF200-AC52-65F7-90D8-F52AADAB2835}"/>
              </a:ext>
            </a:extLst>
          </p:cNvPr>
          <p:cNvGrpSpPr/>
          <p:nvPr/>
        </p:nvGrpSpPr>
        <p:grpSpPr>
          <a:xfrm>
            <a:off x="5524500" y="1397000"/>
            <a:ext cx="5905500" cy="2676904"/>
            <a:chOff x="5524500" y="1397000"/>
            <a:chExt cx="5905500" cy="267690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6EF53D-82A6-7DA7-482D-B0A9A066F040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62610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NATURAL BIOLOGICAL LIFE CYCLE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Closed cyclical loop: organism develops, reproduces, and restarts cycle.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Chu trình sinh học khép kín: sinh vật phát triển, sinh sản và lặp lại vòng đời.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Exclusively use Active Voice (Present Simple) for natural biological stages.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100% Thể chủ động thì Hiện tại đơn vì tự nhiên tự vận hành.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lays eggs / hatches / moults / emerges / reaches maturity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đẻ trứng / nở ra / lột xác / chui ra / đạt độ trưởng thành sinh học.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BDE515-70D5-F1A0-FB6A-E7C24203DD18}"/>
                </a:ext>
              </a:extLst>
            </p:cNvPr>
            <p:cNvSpPr/>
            <p:nvPr/>
          </p:nvSpPr>
          <p:spPr>
            <a:xfrm>
              <a:off x="5524500" y="1397000"/>
              <a:ext cx="50800" cy="2676904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4189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B5EA0-507B-4C93-A306-CED33AFC6C7E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🐝 01. TASK TYPE 2: MODEL SENTENCES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1ADC5-97CA-22D6-A350-A3394A029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52C6FAA-F7CE-A253-4954-B7381F949456}"/>
              </a:ext>
            </a:extLst>
          </p:cNvPr>
          <p:cNvGrpSpPr/>
          <p:nvPr/>
        </p:nvGrpSpPr>
        <p:grpSpPr>
          <a:xfrm>
            <a:off x="5524500" y="1524000"/>
            <a:ext cx="5905500" cy="1519535"/>
            <a:chOff x="5524500" y="1524000"/>
            <a:chExt cx="5905500" cy="15195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01957-2A44-5742-9F68-96B4229F8F26}"/>
                </a:ext>
              </a:extLst>
            </p:cNvPr>
            <p:cNvSpPr txBox="1"/>
            <p:nvPr/>
          </p:nvSpPr>
          <p:spPr>
            <a:xfrm>
              <a:off x="5727700" y="1524000"/>
              <a:ext cx="570230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ACTIVE VOICE BIOLOGICAL PATTERNS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adult female bee lays one or two eggs every three days.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Con ong cái trưởng thành đẻ từ một đến hai quả trứng mỗi ba ngày.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After shedding its skin three times, a young adult bee emerges.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Sau khi lột xác ba lần, một con ong non trưởng thành chui ra hoàn thiện.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6D3FFE-C440-0A3B-90EC-ADF8AFE05BE0}"/>
                </a:ext>
              </a:extLst>
            </p:cNvPr>
            <p:cNvSpPr/>
            <p:nvPr/>
          </p:nvSpPr>
          <p:spPr>
            <a:xfrm>
              <a:off x="5524500" y="1524000"/>
              <a:ext cx="50800" cy="1519535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35663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FAC88-BB50-D01B-6346-30E2D30681EF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🎯 02. BAND 7.5+ CRITERIA: TA &amp; CC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4B365E-FD21-E129-E68E-9AC32A92C775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CA3A10-5CA9-41EF-3A22-80586F16DE33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TASK ACHIEVEMENT (25%)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Overview must state: total number of stages, starting point, and final output.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Đoạn Overview bắt buộc nêu: tổng số công đoạn, điểm bắt đầu và sản phẩm cuối.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Crucial: Never skip any intermediate stage or technical label from the prompt.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Rất quan trọng: Tuyệt đối không được nhảy cóc bỏ sót bất kỳ bước trung gian nào.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A502DC-7A0C-8221-A719-A327DD2B5D7B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BC455C-3738-3EC1-1464-BE804E16BCAD}"/>
              </a:ext>
            </a:extLst>
          </p:cNvPr>
          <p:cNvGrpSpPr/>
          <p:nvPr/>
        </p:nvGrpSpPr>
        <p:grpSpPr>
          <a:xfrm>
            <a:off x="731520" y="3492500"/>
            <a:ext cx="10728960" cy="1519535"/>
            <a:chOff x="731520" y="34925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00D895-82BA-76A0-E972-AFD75BA7DF58}"/>
                </a:ext>
              </a:extLst>
            </p:cNvPr>
            <p:cNvSpPr txBox="1"/>
            <p:nvPr/>
          </p:nvSpPr>
          <p:spPr>
            <a:xfrm>
              <a:off x="934720" y="34925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COHERENCE AND COHESION (25%)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Employ advanced sequential linkers (Subsequently, Prior to, Following this).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linh hoạt các từ nối chỉ trình tự thời gian học thuật, không lặp từ.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Divide Body paragraphs at a logical transition point (forming vs heating).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Chia thân bài tại ranh giới chuyển dịch logic (ví dụ khâu tạo hình vs khâu nung nhiệt).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DFDD433-7368-2973-14DA-50E13A62CE7A}"/>
                </a:ext>
              </a:extLst>
            </p:cNvPr>
            <p:cNvSpPr/>
            <p:nvPr/>
          </p:nvSpPr>
          <p:spPr>
            <a:xfrm>
              <a:off x="731520" y="3492500"/>
              <a:ext cx="50800" cy="1519535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981961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30CB3E-EEF0-9934-7ACB-98E60DB976F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🎯 02. BAND 7.5+ CRITERIA: LR &amp; GRA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4FCD68-E78E-8614-9B0C-EBD70642C7AF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ECE704-2DFA-F5B5-2607-37B9A68754E4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LEXICAL RESOURCE (25%)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Apply domain-specific technical verbs (pulverize, mould, dehydrate, kiln).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chính xác động từ chuyên ngành chế biến (nghiền mịn, đúc khuôn, sấy khô, nung lò).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Master nominalization of process stages (the excavation of clay, the cooling phase).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Vận dụng linh hoạt danh từ hóa công đoạn (sự đào đất, giai đoạn làm mát).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51149FF-9848-8E07-F509-A18A42D5868B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8D7780-E487-633E-E004-1FDB2245F63B}"/>
              </a:ext>
            </a:extLst>
          </p:cNvPr>
          <p:cNvGrpSpPr/>
          <p:nvPr/>
        </p:nvGrpSpPr>
        <p:grpSpPr>
          <a:xfrm>
            <a:off x="731520" y="3492500"/>
            <a:ext cx="10728960" cy="1519535"/>
            <a:chOff x="731520" y="34925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0E2DA8-EEFD-9001-73B4-07DB533316A9}"/>
                </a:ext>
              </a:extLst>
            </p:cNvPr>
            <p:cNvSpPr txBox="1"/>
            <p:nvPr/>
          </p:nvSpPr>
          <p:spPr>
            <a:xfrm>
              <a:off x="934720" y="34925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GRAMMATICAL RANGE AND ACCURACY (25%)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Seamless balance of passive voice and active biological verbs.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Sự cân bằng chuẩn xác giữa thể bị động nhân tạo và thể chủ động sinh học.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Integrate participle clauses: 'Once shaped,...' and 'Having been fired,...'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Kết hợp mệnh đề phân từ rút gọn: 'Once shaped,...' và 'Having been fired,...'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A90D6F-75D5-E384-255E-1C3EAD1D3EB7}"/>
                </a:ext>
              </a:extLst>
            </p:cNvPr>
            <p:cNvSpPr/>
            <p:nvPr/>
          </p:nvSpPr>
          <p:spPr>
            <a:xfrm>
              <a:off x="731520" y="3492500"/>
              <a:ext cx="50800" cy="1519535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793519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90202-EB87-2AB3-83DA-3E7783E0BC9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ESSAY STRUCTURE: 4-PARAGRAPH STANDARD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81C895-5A2C-CFC9-D39E-7EE572F551BA}"/>
              </a:ext>
            </a:extLst>
          </p:cNvPr>
          <p:cNvGrpSpPr/>
          <p:nvPr/>
        </p:nvGrpSpPr>
        <p:grpSpPr>
          <a:xfrm>
            <a:off x="731520" y="1143000"/>
            <a:ext cx="10728960" cy="900135"/>
            <a:chOff x="731520" y="1143000"/>
            <a:chExt cx="10728960" cy="9001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7E33EB9-E79A-7186-DAA5-2A93EDADBD52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3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THE FIXED 4-PARAGRAPH BLUEPRINT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Introduction (1 sentence) ➔ Overview (2 sentences) ➔ Body 1 ➔ Body 2.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Mở bài (1 câu) ➔ Tổng quan (2 câu) ➔ Thân bài 1 (3-4 câu) ➔ Thân bài 2 (3-4 câu).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421EE94-A280-43D3-E403-D368654F91EE}"/>
                </a:ext>
              </a:extLst>
            </p:cNvPr>
            <p:cNvSpPr/>
            <p:nvPr/>
          </p:nvSpPr>
          <p:spPr>
            <a:xfrm>
              <a:off x="731520" y="1143000"/>
              <a:ext cx="50800" cy="900135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78A22A-7803-4FCE-8018-96E5397C076A}"/>
              </a:ext>
            </a:extLst>
          </p:cNvPr>
          <p:cNvGrpSpPr/>
          <p:nvPr/>
        </p:nvGrpSpPr>
        <p:grpSpPr>
          <a:xfrm>
            <a:off x="731520" y="3238500"/>
            <a:ext cx="10728960" cy="900776"/>
            <a:chOff x="731520" y="32385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475FB4-6B01-583C-3B93-5684E492128B}"/>
                </a:ext>
              </a:extLst>
            </p:cNvPr>
            <p:cNvSpPr txBox="1"/>
            <p:nvPr/>
          </p:nvSpPr>
          <p:spPr>
            <a:xfrm>
              <a:off x="934720" y="32385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GOLDEN RULE: NO CONCLUSION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Never add a conclusion paragraph; all holistic evaluations belong in Overview.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Tuyệt đối không viết Kết bài cho Task 1; mọi đánh giá tổng quan nằm trọn ở đoạn Overview.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E8720E-597B-F628-264C-550F807F6153}"/>
                </a:ext>
              </a:extLst>
            </p:cNvPr>
            <p:cNvSpPr/>
            <p:nvPr/>
          </p:nvSpPr>
          <p:spPr>
            <a:xfrm>
              <a:off x="731520" y="32385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802004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C4E75-1FEF-E603-32E0-46F914AA0A2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BODY GROUPING: LINEAR HALVES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F2B668-E5B4-6910-4834-BED8926E04FB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7C53BA-DFC1-D4F2-2B2B-223F72305275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WHEN TO APPLY LINEAR GROUPING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Applied to industrial manufacturing processes with a clear sequential flow.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Áp dụng cho quy trình sản xuất công nghiệp có dòng chảy thứ tự từ nguyên liệu đến thành phẩm.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4C00B0-4FB2-7A66-47E5-0C1A307AC39E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4B56584-D6A9-B8EC-9C18-8245A302CD27}"/>
              </a:ext>
            </a:extLst>
          </p:cNvPr>
          <p:cNvGrpSpPr/>
          <p:nvPr/>
        </p:nvGrpSpPr>
        <p:grpSpPr>
          <a:xfrm>
            <a:off x="731520" y="3175000"/>
            <a:ext cx="10728960" cy="1519535"/>
            <a:chOff x="731520" y="31750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D423E6-91B7-C1CA-431A-AF38A44A2C7E}"/>
                </a:ext>
              </a:extLst>
            </p:cNvPr>
            <p:cNvSpPr txBox="1"/>
            <p:nvPr/>
          </p:nvSpPr>
          <p:spPr>
            <a:xfrm>
              <a:off x="934720" y="3175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HALF-AND-HALF PARAGRAPH SPLIT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Body 1: Raw material extraction &amp; initial shaping (Stages 1 to 4).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1: Khai thác nguyên liệu thô &amp; sơ chế tạo hình (Giai đoạn 1 đến 4).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Body 2: Thermal processing, cooling, packaging &amp; shipping (Stages 5 to 7).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2: Xử lý nhiệt, làm mát, đóng gói &amp; phân phối (Giai đoạn 5 đến 7).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719741-BE79-7552-7DBD-D59CBD47C856}"/>
                </a:ext>
              </a:extLst>
            </p:cNvPr>
            <p:cNvSpPr/>
            <p:nvPr/>
          </p:nvSpPr>
          <p:spPr>
            <a:xfrm>
              <a:off x="731520" y="3175000"/>
              <a:ext cx="50800" cy="1519535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18098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BFF30B-240E-11E6-BE59-8F6A96D68618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BODY GROUPING: LIFE CYCLE PHASES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BCC83D-0FD3-C582-E36C-B07600EE1999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C9902E-5125-0BE8-1F15-BF447ACBD72B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WHEN TO APPLY LIFE CYCLE GROUPING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Applied to biological metamorphosis and natural cyclical diagrams.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Áp dụng cho chu trình biến thái sinh học và vòng đời sinh trưởng tự nhiên.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24B306-7643-9282-E43C-B07678BB75D0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6D00A9F-C59D-59CF-A0B4-BD989964FE4F}"/>
              </a:ext>
            </a:extLst>
          </p:cNvPr>
          <p:cNvGrpSpPr/>
          <p:nvPr/>
        </p:nvGrpSpPr>
        <p:grpSpPr>
          <a:xfrm>
            <a:off x="731520" y="3175000"/>
            <a:ext cx="10728960" cy="1519535"/>
            <a:chOff x="731520" y="31750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BE412B-B32C-E091-C81B-929D8DDFAA01}"/>
                </a:ext>
              </a:extLst>
            </p:cNvPr>
            <p:cNvSpPr txBox="1"/>
            <p:nvPr/>
          </p:nvSpPr>
          <p:spPr>
            <a:xfrm>
              <a:off x="934720" y="3175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DEVELOPMENTAL STAGE SPLIT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Body 1: Egg laying and nymph hatching phases (Initial embryonic stages).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1: Giai đoạn đẻ trứng và ấp nở thành nhộng non (Các bước phôi thai ban đầu).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Body 2: Moulting intervals, young adult emergence, and final reproductive maturity.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2: Các đợt lột xác, trưởng thành và tái sinh sản (Chu trình hoàn tất và lặp lại).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8BAB79-CE1A-BECF-7DB5-E002E84EB1DA}"/>
                </a:ext>
              </a:extLst>
            </p:cNvPr>
            <p:cNvSpPr/>
            <p:nvPr/>
          </p:nvSpPr>
          <p:spPr>
            <a:xfrm>
              <a:off x="731520" y="3175000"/>
              <a:ext cx="50800" cy="1519535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460753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989EF-7FCF-27F7-98B5-B10C113E1092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✍️ 04. INTRODUCTION FORMULA: MAN-MADE VS NATURAL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A183CF-E6CC-96DE-8B2B-1E5EB9F5E457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AFCEF4-C6D1-6253-527E-1BD41F543568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MAN-MADE PROCESS FORMULA (1 SENTENCE)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process by which [Product] is commercially manufactured.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Sơ đồ minh họa quy trình sản xuất thương mại của một sản phẩm nhân tạo.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stages involved in the commercial production of bricks.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Ví dụ: Sơ đồ minh họa các giai đoạn trong quy trình sản xuất gạch thương mại.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79F7B9-9B50-9F6A-522B-AADC29691032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6805C12-2AEB-F6D9-8DF3-CB49AA765F4C}"/>
              </a:ext>
            </a:extLst>
          </p:cNvPr>
          <p:cNvGrpSpPr/>
          <p:nvPr/>
        </p:nvGrpSpPr>
        <p:grpSpPr>
          <a:xfrm>
            <a:off x="731520" y="3556000"/>
            <a:ext cx="10728960" cy="1519535"/>
            <a:chOff x="731520" y="35560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363D6F-3E42-142A-AB2A-36169D98694E}"/>
                </a:ext>
              </a:extLst>
            </p:cNvPr>
            <p:cNvSpPr txBox="1"/>
            <p:nvPr/>
          </p:nvSpPr>
          <p:spPr>
            <a:xfrm>
              <a:off x="934720" y="3556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NATURAL PROCESS FORMULA (1 SENTENCE)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various stages in the life cycle of [Species].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Sơ đồ minh họa các giai đoạn khác nhau trong vòng đời của một loài sinh vật.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cyclical development of the honey bee through its life stages.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Ví dụ: Sơ đồ minh họa quá trình phát triển tuần hoàn của con ong mật qua các giai đoạn.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7C0C8B-FE27-077B-DC34-FE806AA76331}"/>
                </a:ext>
              </a:extLst>
            </p:cNvPr>
            <p:cNvSpPr/>
            <p:nvPr/>
          </p:nvSpPr>
          <p:spPr>
            <a:xfrm>
              <a:off x="731520" y="3556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86072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2C5F4-45DC-8D9E-C447-5C0AC3EDFB9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✍️ 04. OVERVIEW FORMULA: TOTAL STAGES &amp; DURATION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2C4705-A543-88CB-2B9E-C383663779E5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28E0466-2257-2DA5-D142-C12388FBB237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THE 2-SENTENCE OVERVIEW BLUEPRINT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Sentence 1: Overall, the [man-made / natural] process comprises [X] distinct stages.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Câu 1: Nhìn chung, quy trình gồm X công đoạn riêng biệt kéo dài trong khoảng thời gian Y.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Sentence 2: Commencing with [Initial Step] and culminating in [Final Step / Cycle Restart].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Câu 2: Bắt đầu bằng bước khởi đầu và kết thúc bằng bước hoàn thiện / lặp lại vòng đời.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C86D5C-5DFD-2CD3-533C-696E08C56262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071ECC-C6D7-A8C7-6779-95F46703AB0B}"/>
              </a:ext>
            </a:extLst>
          </p:cNvPr>
          <p:cNvGrpSpPr/>
          <p:nvPr/>
        </p:nvGrpSpPr>
        <p:grpSpPr>
          <a:xfrm>
            <a:off x="731520" y="3683000"/>
            <a:ext cx="10728960" cy="900776"/>
            <a:chOff x="731520" y="3683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9F3499-1969-20B5-B6F2-159738A19AC9}"/>
                </a:ext>
              </a:extLst>
            </p:cNvPr>
            <p:cNvSpPr txBox="1"/>
            <p:nvPr/>
          </p:nvSpPr>
          <p:spPr>
            <a:xfrm>
              <a:off x="934720" y="368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CRITICAL OVERVIEW GUIDELINE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Never list granular temperatures or specific tool names in the Overview.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Tuyệt đối không liệt kê nhiệt độ chi tiết hay tên máy móc vụn vặt vào đoạn Overview.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5F01CC-F72D-B403-F490-2441952D8807}"/>
                </a:ext>
              </a:extLst>
            </p:cNvPr>
            <p:cNvSpPr/>
            <p:nvPr/>
          </p:nvSpPr>
          <p:spPr>
            <a:xfrm>
              <a:off x="731520" y="3683000"/>
              <a:ext cx="50800" cy="900776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46098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C022-4440-7C65-D6ED-CE7C270D22FF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🔗 05. INITIAL &amp; SEQUENTIAL CONNECTORS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E9A197-69D1-7174-87C2-DABEA8159DE0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F25E29-4AC3-1FC1-6B70-220312C2AF05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COMMENCING THE FIRST STEP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At the initial stage / First and foremost / The process commences with [Noun].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giai đoạn đầu tiên / Trước hết / Quy trình bắt đầu với việc...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2D51B7-9E29-3E9D-69BD-114F75242BCF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06AD8A6-6E2C-F778-FEDE-D554CA10FCDA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EE51D9-5D36-6112-22BD-705EDCB8C210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TRANSITIONING TO THE NEXT STEP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Subsequently / Following this / In the subsequent step / Prior to being [V3/ed].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Tiếp theo đó / Sau bước này / Trước khi được chuyển sang công đoạn kế tiếp.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950F24-7FAB-74A6-189E-D817351EE3C6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639418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BC2F4D-DBEF-69EC-63D9-4906D0BAFD1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🔗 05. SIMULTANEOUS CONNECTORS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1D1D5F-E25A-6F34-3649-C036323D5101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2CB7416-F663-3486-76E2-07DC3FC0078D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TWO ACTIONS OCCURRING TOGETHER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Simultaneously / Concurrently / At the same time / While [S + V].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Đồng thời / Cùng lúc đó / Trong khi hành động kia diễn ra.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97BB7F-20C8-E440-85C1-AA3210996FD4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E286AB-765D-1E60-B663-0F0895C923B2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C4AF5C-BC61-1708-3707-85EE6221AB30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APPLICATION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Sand and water are added while the clay is thoroughly mixed by a roller.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Cát và nước được thêm vào trong khi đất sét được máy cán trộn đều liên tục.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699CE5-1F73-BDD1-06B5-A42D7350A85A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497018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C3C02-563E-7049-541A-7E248D2C85F1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🔗 05. FINAL STAGE CONNECTORS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D28AD3-C2A9-54D5-3BDE-635503A5517F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64B082B-FF21-C4DC-8134-E4CE12158F3C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CONCLUDING THE LINEAR PROCESS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In the final phase / The process culminates in [Noun/V-ing] / Finally.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giai đoạn cuối cùng / Quy trình khép lại bằng việc... / Cuối cùng.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BFF4B7-4CF3-F673-B9D6-7F3DD9714D4F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6FB36DB-E7E4-E277-3ABC-22996CA65771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4FC037-5D80-2748-9793-BCBA357CBBAE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APPLICATION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process culminates in the packaging and delivery of bricks to customers.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Quy trình khép lại bằng việc đóng gói và vận chuyển gạch đến tay khách hàng.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725822-D299-3762-443F-5BCF339EF985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117136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BA855-7728-FA25-6D56-6766898FECC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🔗 05. CYCLICAL REPETITION CONNECTORS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F3162B-6337-50CA-3FA4-B9867FCA61E3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0E6845-F385-3D65-3451-1F4F7DFAA311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CYCLICAL COMPLETION &amp; RESTART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Completing the cycle / ..., at which point the life cycle repeats itself.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Hoàn tất một chu trình / ..., tại thời điểm đó vòng đời tự động lặp lại.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385744F-1F5B-C2C5-8F4E-B8A52C01F9E8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5BE8AF-2711-4823-28F0-C656F3CA5AD4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CD3EE4-FC81-D046-2B56-D03708D98077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APPLICATION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adult bee reaches maturity, at which point the reproductive cycle begins anew.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Ong trưởng thành đạt độ chín sinh học, từ đó chu trình sinh sản lại bắt đầu lại.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4DD944-E5AE-2F6B-F529-1A2BBA28F443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123326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52B29-A478-D54A-C811-E476EDF07A8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⚙️ 06. PASSIVE VOICE IN MAN-MADE PROCESS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156296-41D0-57BA-0D52-89159E41BE1A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12E8093-4976-DB64-87FD-F32C6AA966B1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it-IT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CORE FORMULA: BE + V3/ED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Focuses on the object being processed, not the human operator.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Tập trung vào đối tượng nguyên liệu chịu tác động, không cần nhắc người vận hành.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2CD48B-0BAB-4F7B-2CCF-881AF2268575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2798826-AFB3-1C4D-7C6E-AD8628525EAD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E3B8AB-A9BF-65B7-1F70-EF188D909601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HIGH-SCORING EXAMPLES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mixture is forced into a mould / Bricks are heated in a kiln.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Hỗn hợp được ép vào khuôn / Gạch được nung trong lò nhiệt độ cao.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FB663C-0122-BD77-DF0D-542BC6566313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91943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C3DB9-5560-9E1C-02CF-8E248F49C938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06. ACTIVE VOICE IN NATURAL PROCESS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DB0BCE-D0E8-87CE-8449-5366B03ADBDA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C10054-415F-CFD5-682E-247918776517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CORE FORMULA: SUBJECT + VERB (PRESENT SIMPLE)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Living organisms carry out biological development instinctively.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Sinh vật sống tự thực hiện các bước phát triển sinh học một cách tự nhiên.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2A53D0-DF1C-4051-1118-FDC407E051E6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CB3E6ED-583D-F0D1-C441-DD0C08BDFDDE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340481-8E18-3B45-38B9-C27DE9EEA661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HIGH-SCORING EXAMPLES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egg hatches into a nymph / The insect sheds its outer exoskeleton.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Trứng nở thành nhộng non / Côn trùng lột bỏ lớp vỏ ngoài để lớn lên.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E8C908-C581-4149-DD3A-673E8F47854E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273537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F1A1D7-D442-C89C-EDF1-AE85F97C1196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⚙️ 06. DANGEROUS PITFALL: DO NOT MIX VOICES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64EDA1-3F8B-8772-F371-C870300502D2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44C30C0-2601-746E-8B7D-827485C5A1C6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FATAL ERROR TO AVOID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❌ Never write: 'The bee is laid' or 'The clay digs up'.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Tuyệt đối cấm viết nhầm: 'Ong được đẻ' hoặc 'Đất sét tự đào'.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A47B02-893D-0B75-3131-AFDCFCB4CBB9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93808D4-8A81-C4AB-693C-EC0E13DE3B4B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B57422-5A16-2DAE-E896-3A8A92A7A59B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GOLDEN GRAMMAR CORRECTION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Man-made = 100% Passive; Natural = 100% Active. Keep them strictly distinct!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Quy trình nhân tạo = 100% Bị động; Quy trình tự nhiên = 100% Chủ động. Luôn phân định rạch ròi!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54D01A-1A35-C5F3-39A2-E81259C9A1D2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706900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F051D8-F9A9-B758-8437-D9CCCC34EB5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💡 07. ADVANCED GRAMMAR #1: ONCE / HAVING BEEN + V3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98BA09-1C58-6921-B732-BA29E6DA1054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BECBC0-1DDE-4378-3C66-9789BD51774A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TEMPORAL CONDITIONAL REDUCTION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Once / Having been + [Past Participle], [Main Subject] is + [Past Participle].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Cấu trúc rút gọn phân từ chỉ điều kiện hoàn thành công đoạn trước.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69776C-70E4-6C4F-1A22-9DD438D3966E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2DCC03-0A46-B8CA-99FB-DF3EADCF547B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5D4C3E-E441-DB2B-ACDF-9C89302DBACB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Once shaped by the cutter, the bricks are placed into a drying oven.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Sau khi được cắt tạo hình, gạch được đưa vào lò sấy khô trong 24 đến 48 giờ.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048CD2-00AC-E00A-5779-036D7871F167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43461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4DE9EF-043A-00CA-AAAC-FF19452412CE}"/>
              </a:ext>
            </a:extLst>
          </p:cNvPr>
          <p:cNvSpPr txBox="1"/>
          <p:nvPr/>
        </p:nvSpPr>
        <p:spPr>
          <a:xfrm>
            <a:off x="731520" y="330200"/>
            <a:ext cx="107289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💡 07. ADVANCED GRAMMAR #2: RELATIVE CLAUSE 'WHICH IS THEN...'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4DF3E9-2D8D-E69A-83CB-7F24E5A732FF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BA082C-4680-FBC6-BF96-D064E948C019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FLOWING RELATIVE CLAUSE LINKAGE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[Action 1], which is then followed by [Noun Phrase of Action 2].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Nối hai hành động liên tiếp mượt mà bằng mệnh đề quan hệ không xác định.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CEF9A5-0D3E-EC6F-E69A-187690A83BB9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FB525B-91C8-5F71-813D-48EBF614A68D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1FB49F-6844-D416-16E4-69DA24631310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Clay is mixed with sand and water, which is then moulded into rectangular blocks.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sét được trộn với cát và nước, sau đó được đúc thành các khối chữ nhật chuẩn.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C0C455-0995-CEF6-E152-D4D48D8ED83D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157607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903DB-6A72-5C67-8749-CA7A90C1560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💡 07. ADVANCED GRAMMAR #3: PASSIVE + PURPOSE CLAUSE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A4F424-5779-947F-EE8B-A5D3C4509175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A30998-515D-C6FB-2E18-E0A2E11C1C33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PURPOSE EXPLANATION CLAUSE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[Subject] is + V3/ed + in order to / so as to / with the aim of [V-inf / Noun].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Giải thích mục đích kỹ thuật của từng công đoạn sản xuất.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9F3F73-9263-E7A8-E3AA-03411F983939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D3B88E2-4CAA-6936-81FC-490723786B51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E0676C-57C5-B6AF-9FB7-69888B00F843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Bricks are kept in a cooling chamber in order to prevent structural cracking.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Gạch được giữ trong buồng làm mát nhằm ngăn ngừa nguy cơ nứt gãy cấu trúc.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D90367-96FC-1D28-9897-F3981EAD855C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9284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D8E92-6492-1844-B7A8-FC86F4E80369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💡 07. ADVANCED GRAMMAR #4: NOMINALIZATION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371DD9-E3FF-BB87-953C-7F35B565E91B}"/>
              </a:ext>
            </a:extLst>
          </p:cNvPr>
          <p:cNvGrpSpPr/>
          <p:nvPr/>
        </p:nvGrpSpPr>
        <p:grpSpPr>
          <a:xfrm>
            <a:off x="731520" y="1143000"/>
            <a:ext cx="10728960" cy="900776"/>
            <a:chOff x="731520" y="11430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6009D6-831C-952F-7783-0C19D574F5A6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NOMINALIZATION OF PROCESS STAGES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[Noun of Action] of [Material] takes place before [Next Action].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Biến đổi động từ thành danh từ học thuật để bài viết đa dạng cấu trúc.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4600DE-0028-9A9B-9D7E-8F0CFAB71D32}"/>
                </a:ext>
              </a:extLst>
            </p:cNvPr>
            <p:cNvSpPr/>
            <p:nvPr/>
          </p:nvSpPr>
          <p:spPr>
            <a:xfrm>
              <a:off x="731520" y="1143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41BCB4-E7C8-D115-F8B7-912EF8F698EF}"/>
              </a:ext>
            </a:extLst>
          </p:cNvPr>
          <p:cNvGrpSpPr/>
          <p:nvPr/>
        </p:nvGrpSpPr>
        <p:grpSpPr>
          <a:xfrm>
            <a:off x="731520" y="3048000"/>
            <a:ext cx="10728960" cy="900776"/>
            <a:chOff x="731520" y="30480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EAE58A-B440-E80F-A722-2BB6901DC4B9}"/>
                </a:ext>
              </a:extLst>
            </p:cNvPr>
            <p:cNvSpPr txBox="1"/>
            <p:nvPr/>
          </p:nvSpPr>
          <p:spPr>
            <a:xfrm>
              <a:off x="934720" y="30480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dehydration of bricks occurs over a 48-hour period inside an oven.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Sự thoát ẩm của gạch diễn ra trong suốt 48 giờ bên trong lò sấy nhiệt.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2217CB-D815-1C19-1B49-E54BB9C6DEB1}"/>
                </a:ext>
              </a:extLst>
            </p:cNvPr>
            <p:cNvSpPr/>
            <p:nvPr/>
          </p:nvSpPr>
          <p:spPr>
            <a:xfrm>
              <a:off x="731520" y="3048000"/>
              <a:ext cx="50800" cy="90077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80537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0AE832-2BE6-F0ED-F98A-28E29542CA38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🔤 08. VOCABULARY: MECHANICAL PROCESSING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139A37-067D-7D51-382D-6926543683E3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0BAD67-69A5-95B7-541F-7FBF4C0329A0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EXTRACTION &amp; SORTING VERBS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excavate / dig up: to dig raw materials out of the ground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khai thác / đào bới đất sét thô từ lòng đất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filter through a metal grid: to strain and separate large debris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lọc qua lưới kim loại để loại bỏ tạp chất lớn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06E25F-B5CB-A2F0-69DB-F5E72D9EEE34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5389ADD-8D1A-BD64-4805-9805AC4A236D}"/>
              </a:ext>
            </a:extLst>
          </p:cNvPr>
          <p:cNvGrpSpPr/>
          <p:nvPr/>
        </p:nvGrpSpPr>
        <p:grpSpPr>
          <a:xfrm>
            <a:off x="731520" y="3492500"/>
            <a:ext cx="10728960" cy="1519535"/>
            <a:chOff x="731520" y="34925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32D4DC-CFF0-C1EB-691D-A70FF4AAC7AB}"/>
                </a:ext>
              </a:extLst>
            </p:cNvPr>
            <p:cNvSpPr txBox="1"/>
            <p:nvPr/>
          </p:nvSpPr>
          <p:spPr>
            <a:xfrm>
              <a:off x="934720" y="34925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PULVERIZING &amp; SHAPING VERBS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crush / pulverize with a roller: to grind into fine powder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nghiền mịn bằng máy cán trục thành bột mịn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mould / slice with a wire cutter: to shape into standardized blocks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đúc vào khuôn / cắt bằng dây thép thành từng viên gạch tiêu chuẩn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04DD92-EE6B-1308-53CA-4C566DCCF3AD}"/>
                </a:ext>
              </a:extLst>
            </p:cNvPr>
            <p:cNvSpPr/>
            <p:nvPr/>
          </p:nvSpPr>
          <p:spPr>
            <a:xfrm>
              <a:off x="731520" y="34925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07796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14D7E-13D5-6C0C-E4AC-C13EA6F07CC2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🔤 08. VOCABULARY: THERMAL TREATMENT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A3F33A-5AB3-C0B2-77C5-9592A27FA57B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A2373F-4AA1-59AF-D6AE-5B0FF185A10B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HEATING &amp; FIRING PROCESS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undergo heat treatment: to process materials under controlled temperature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trải qua quá trình xử lý nhiệt có kiểm soát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fire in a specialized kiln: to heat materials at extremely high temperatures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nung trong lò nung chuyên dụng ở dải nhiệt độ cao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1A0D57-61D9-38B2-0E84-69A1B005F509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FD2BF1E-5672-68D0-53F4-2C5E01BC98EE}"/>
              </a:ext>
            </a:extLst>
          </p:cNvPr>
          <p:cNvGrpSpPr/>
          <p:nvPr/>
        </p:nvGrpSpPr>
        <p:grpSpPr>
          <a:xfrm>
            <a:off x="731520" y="3492500"/>
            <a:ext cx="10728960" cy="1519535"/>
            <a:chOff x="731520" y="34925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F37739-11DB-52E9-6BBC-4A0AC569C47B}"/>
                </a:ext>
              </a:extLst>
            </p:cNvPr>
            <p:cNvSpPr txBox="1"/>
            <p:nvPr/>
          </p:nvSpPr>
          <p:spPr>
            <a:xfrm>
              <a:off x="934720" y="34925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COOLING &amp; DISTRIBUTION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cool down in a cooling chamber: to lower temperature gradually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làm nguội dần trong buồng làm mát để ổn định vật liệu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package and deliver to customers: to distribute the finished product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đóng gói và vận chuyển thành phẩm đến tay người tiêu dùng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176705-F942-CBAD-0F11-6443EF9AABD9}"/>
                </a:ext>
              </a:extLst>
            </p:cNvPr>
            <p:cNvSpPr/>
            <p:nvPr/>
          </p:nvSpPr>
          <p:spPr>
            <a:xfrm>
              <a:off x="731520" y="34925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874544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C2283-8143-1E80-8769-7CF89CFC237F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🔤 08. VOCABULARY: BIOLOGICAL METAMORPHOSIS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683C60-BDE1-F876-F43E-0DC092422C3F}"/>
              </a:ext>
            </a:extLst>
          </p:cNvPr>
          <p:cNvGrpSpPr/>
          <p:nvPr/>
        </p:nvGrpSpPr>
        <p:grpSpPr>
          <a:xfrm>
            <a:off x="731520" y="1143000"/>
            <a:ext cx="10728960" cy="1519535"/>
            <a:chOff x="731520" y="1143000"/>
            <a:chExt cx="10728960" cy="1519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14232A-5E8D-4FB6-1A3D-AED7913BD577}"/>
                </a:ext>
              </a:extLst>
            </p:cNvPr>
            <p:cNvSpPr txBox="1"/>
            <p:nvPr/>
          </p:nvSpPr>
          <p:spPr>
            <a:xfrm>
              <a:off x="934720" y="11430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EMBRYONIC &amp; NYMPH STAGES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lay eggs: female insect produces eggs inside the hive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đẻ trứng: con cái sinh sản trứng bên trong tổ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hatch into a nymph: immature insect breaks out of the eggshell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nở thành nhộng non: ấu trùng non phá vỡ vỏ trứng chui ra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EFECD6-110B-6EEE-EF76-C01B596A9539}"/>
                </a:ext>
              </a:extLst>
            </p:cNvPr>
            <p:cNvSpPr/>
            <p:nvPr/>
          </p:nvSpPr>
          <p:spPr>
            <a:xfrm>
              <a:off x="731520" y="11430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D9F9770-FD5C-5584-1D8D-B5FA425F272D}"/>
              </a:ext>
            </a:extLst>
          </p:cNvPr>
          <p:cNvGrpSpPr/>
          <p:nvPr/>
        </p:nvGrpSpPr>
        <p:grpSpPr>
          <a:xfrm>
            <a:off x="731520" y="3492500"/>
            <a:ext cx="10728960" cy="1519535"/>
            <a:chOff x="731520" y="3492500"/>
            <a:chExt cx="10728960" cy="15195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E8F926-ECC2-F16C-8802-569B3BFF9D6B}"/>
                </a:ext>
              </a:extLst>
            </p:cNvPr>
            <p:cNvSpPr txBox="1"/>
            <p:nvPr/>
          </p:nvSpPr>
          <p:spPr>
            <a:xfrm>
              <a:off x="934720" y="3492500"/>
              <a:ext cx="10525760" cy="146873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GROWTH &amp; REPRODUCTION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shed skin / moult at regular intervals: to cast off outer exoskeleton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lột xác theo chu kỳ định kỳ để cơ thể phát triển kích thước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emerge as a young adult / reach full maturity: to complete metamorphosis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xuất hiện dưới dạng ong non / đạt độ chín sinh học hoàn chỉnh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085D5-72F7-8018-0ACC-EFDF07709668}"/>
                </a:ext>
              </a:extLst>
            </p:cNvPr>
            <p:cNvSpPr/>
            <p:nvPr/>
          </p:nvSpPr>
          <p:spPr>
            <a:xfrm>
              <a:off x="731520" y="3492500"/>
              <a:ext cx="50800" cy="1519535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75043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45FC0-CDC3-8AD3-9936-1B989226BBBF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INTRO &amp;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2D07C-A7D7-5AED-ABB7-D260D350C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5343827-95A8-2FE7-D6B7-0CE44E43DA1B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8C2635-B499-E709-2C96-E6A7907BBEC3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BAND 8.0 INTRO &amp; OVERVIEW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stages in commercial brick manufacturing.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Sơ đồ minh họa các giai đoạn trong quy trình sản xuất gạch thương mại.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Overall, it is a 7-stage linear process, from clay excavation to final delivery.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Tổng thể, đây là quy trình tuyến tính 7 bước, từ đào đất sét đến phân phối thành phẩm.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3A6AA-F7B5-DC6A-9129-EFCFE6B6CB66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004837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6BA7D-BE2E-D149-B2E0-6EA2EA10C31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STAGE 1: DIGGING &amp; FILTERING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A2770-CA3D-EC58-A489-87AEBB632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452B318-32FA-D8CE-80BC-3EA28C565630}"/>
              </a:ext>
            </a:extLst>
          </p:cNvPr>
          <p:cNvGrpSpPr/>
          <p:nvPr/>
        </p:nvGrpSpPr>
        <p:grpSpPr>
          <a:xfrm>
            <a:off x="5524500" y="1397000"/>
            <a:ext cx="5905500" cy="2058144"/>
            <a:chOff x="5524500" y="1397000"/>
            <a:chExt cx="5905500" cy="20581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5DF03F-0242-EDF8-EB94-2CE8454B46F7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0073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EXCAVATION &amp; CRUSHING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Raw clay is excavated from the ground using a large mechanical digger.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sét thô được đào lên từ lòng đất bằng máy xúc cơ học lớn.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clay is filtered through a metal grid and crushed into fine powder by a roller.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sét được lọc qua lưới kim loại và nghiền thành bột mịn bằng máy cán.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475A0B-C9A0-4783-7F74-0343C5EDC4CA}"/>
                </a:ext>
              </a:extLst>
            </p:cNvPr>
            <p:cNvSpPr/>
            <p:nvPr/>
          </p:nvSpPr>
          <p:spPr>
            <a:xfrm>
              <a:off x="5524500" y="1397000"/>
              <a:ext cx="50800" cy="2058144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307005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317BDE-7147-9711-959B-FE3BF4E7B350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STAGE 2: SHAPING &amp; DRYING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99F04-34A7-C3C8-5239-4828FA73F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69CD808-59A3-1E8F-244C-351D98C14411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95C4AA-6DC6-9416-9D81-FD6552FDAFB5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MOULDING &amp; DEHYDRATION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Sand and water are added, and the paste is shaped using a wire cutter or mould.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Cát và nước được thêm vào, và hỗn hợp được tạo hình bằng máy cắt dây hoặc khuôn.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moist bricks are dried in an oven for 24 to 48 hours to remove moisture.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Gạch ướt được sấy trong lò từ 24 đến 48 giờ để loại bỏ hoàn toàn độ ẩm.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01167A-00B9-ECDB-210B-DA4FA0DC8C06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222792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3D885-93FC-9CE6-9B97-3AF98695BFC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STAGE 3: KILN FIRING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FD450-6063-9D39-23A4-2F32D3BA1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1FFA8EC-1BB0-59FC-16A4-93E07C2F2027}"/>
              </a:ext>
            </a:extLst>
          </p:cNvPr>
          <p:cNvGrpSpPr/>
          <p:nvPr/>
        </p:nvGrpSpPr>
        <p:grpSpPr>
          <a:xfrm>
            <a:off x="5524500" y="1397000"/>
            <a:ext cx="5905500" cy="2058144"/>
            <a:chOff x="5524500" y="1397000"/>
            <a:chExt cx="5905500" cy="20581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391B2B-8BE1-72FC-C888-6760E66AB5CD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0073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TWO-TIER TEMPERATURE FIRING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dried bricks are fired in a kiln at moderate heat (200°C to 980°C).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Gạch khô được nung trong lò nung ở nhiệt độ vừa phải (200°C đến 980°C).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Following this, they are subjected to high heat ranging from 870°C to 1300°C.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Tiếp theo, gạch chịu nhiệt độ cao dao động từ 870°C đến 1300°C.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A45C03-31EE-B2ED-D273-FF2A53AE595C}"/>
                </a:ext>
              </a:extLst>
            </p:cNvPr>
            <p:cNvSpPr/>
            <p:nvPr/>
          </p:nvSpPr>
          <p:spPr>
            <a:xfrm>
              <a:off x="5524500" y="1397000"/>
              <a:ext cx="50800" cy="2058144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566964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008C7-B975-CCF2-C4FF-7F2C5E04FB4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STAGE 4: COOLING &amp; PACKAGING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0A6E8-04E7-AB3C-0D44-08C2E016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6E56E84-105C-8F00-F91D-182DC2A4843B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1BCEC1-0C14-7E0E-FC69-DE6EEC79D13F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COOLING &amp; FINAL LOGISTICS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bricks spend 48 to 72 hours in a cooling chamber before packaging.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Gạch trải qua 48 đến 72 giờ trong buồng làm mát trước khi được đóng gói.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Finally, the packaged bricks are loaded onto delivery trucks for transport.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Cuối cùng, gạch đóng gói được xếp lên các xe tải chuyên dụng để vận chuyển.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BAD7AB-F9EA-7D7D-09C3-AEFADA783794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818687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6EB55-8EFB-AF43-18AF-F169DBC6FD56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🧱 09. REAL EXAM #1: BRICK – FULL BAND 8.0 ESSAY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688AF-6AF9-D50D-4AD6-13D454477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73968"/>
            <a:ext cx="4318000" cy="3564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AB7DCD6-F246-70A2-F9B2-FAF5C955015F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1A7653-E5B0-592B-CA64-DBBD548193C7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STRUCTURAL EXCELLENCE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Clear paragraph division: Raw processing (Body 1) vs Thermal logistics (Body 2).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Phân đoạn mạch lạc: Khâu xử lý thô (Body 1) vs Khâu nhiệt và vận chuyển (Body 2).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100% passive voice accuracy without repetitive sequencing linkers.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Độ chính xác 100% về thể bị động và đa dạng hóa tuyệt đối từ nối chỉ bước.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547F53-5E40-0BC2-D8D5-DC7A663E8F91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566951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8C0A5-935F-8193-9BF9-F0EDE6DCDEC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INTRO &amp;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B6F19-247F-3329-C17F-463AF5B14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1B55B70-368E-3DE2-B461-73ADC9321FCC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4E51AA-F7FB-CEB4-ED76-A83021530E8E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BAND 8.0 INTRO &amp; OVERVIEW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diagram illustrates the cyclical development of the honey bee.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Sơ đồ minh họa quá trình phát triển tuần hoàn của con ong mật.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Overall, the natural cycle lasts 34 to 36 days and comprises five distinct phases.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Nhìn chung, chu trình tự nhiên kéo dài 34 đến 36 ngày và gồm năm giai đoạn riêng biệt.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BEE6BF-FF53-AA54-8978-A59FB0E7E870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357167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AC7A5D-EC4E-2BA5-C063-BC83195E04CE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STAGE 1: EGG LAYING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A8886-9FA9-F78B-6BCF-394865660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B278B2C-E7DE-A65C-0D38-19B2C5507790}"/>
              </a:ext>
            </a:extLst>
          </p:cNvPr>
          <p:cNvGrpSpPr/>
          <p:nvPr/>
        </p:nvGrpSpPr>
        <p:grpSpPr>
          <a:xfrm>
            <a:off x="5524500" y="1397000"/>
            <a:ext cx="5905500" cy="2010054"/>
            <a:chOff x="5524500" y="1397000"/>
            <a:chExt cx="5905500" cy="20100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07DD79-65EC-36B0-76AF-35AC8C1611F2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195925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REPRODUCTIVE INITIATION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life cycle begins when an adult female bee lays 1 to 2 eggs every 3 days.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Vòng đời bắt đầu khi ong cái trưởng thành đẻ từ 1 đến 2 quả trứng mỗi 3 ngày.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These eggs are protected inside the hive before hatching.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Những quả trứng này được bảo vệ an toàn bên trong tổ trước khi nở.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05A338-2114-63E0-9B6D-B63E9AE2DBB1}"/>
                </a:ext>
              </a:extLst>
            </p:cNvPr>
            <p:cNvSpPr/>
            <p:nvPr/>
          </p:nvSpPr>
          <p:spPr>
            <a:xfrm>
              <a:off x="5524500" y="1397000"/>
              <a:ext cx="50800" cy="2010054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14822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43840-26E1-7AE6-100B-0FE60D6F69EE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STAGE 2: HATCHING &amp; NYMPH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16B41-B583-8CEB-88ED-C811AA199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FC19D8D-A471-A51A-3129-1C4142F6A35C}"/>
              </a:ext>
            </a:extLst>
          </p:cNvPr>
          <p:cNvGrpSpPr/>
          <p:nvPr/>
        </p:nvGrpSpPr>
        <p:grpSpPr>
          <a:xfrm>
            <a:off x="5524500" y="1397000"/>
            <a:ext cx="5905500" cy="2500573"/>
            <a:chOff x="5524500" y="1397000"/>
            <a:chExt cx="5905500" cy="2500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DC59DC-9D19-2052-1C5D-5B6E4F55CC62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44977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EMBRYONIC HATCHING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Between 9 and 10 days later, each egg hatches into an immature nymph.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Khoảng 9 đến 10 ngày sau, mỗi quả trứng nở thành một con nhộng non chưa trưởng thành.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emerging nymph immediately begins a phase of rapid physical growth.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Con nhộng non vừa xuất hiện lập tức bước vào giai đoạn tăng trưởng thể chất nhanh chóng.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864A99-9E57-E13C-51FD-247E59F5DF3E}"/>
                </a:ext>
              </a:extLst>
            </p:cNvPr>
            <p:cNvSpPr/>
            <p:nvPr/>
          </p:nvSpPr>
          <p:spPr>
            <a:xfrm>
              <a:off x="5524500" y="1397000"/>
              <a:ext cx="50800" cy="2500573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960807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4457CF-66E1-5692-59F3-A9CE581C2186}"/>
              </a:ext>
            </a:extLst>
          </p:cNvPr>
          <p:cNvSpPr txBox="1"/>
          <p:nvPr/>
        </p:nvSpPr>
        <p:spPr>
          <a:xfrm>
            <a:off x="731520" y="330200"/>
            <a:ext cx="107289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STAGE 3: 3 MOULTING INTERVALS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D3D01-BF57-AB24-766A-4BA9603E4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2E840D4-12B1-D3B0-2C88-07E6D495495E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04BED0-1E2B-EA3F-51CD-9B3E4C8A5459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TRIPLE MOULTING PROCESS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nymph sheds its skin 3 times: after 5 days, 7 days, and 9 days.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Nhộng non lột xác 3 lần: lần đầu sau 5 ngày, lần hai sau 7 ngày, và lần cuối sau 9 ngày.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This biological moulting enables continuous expansion of the body.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Quá trình lột xác sinh học này giúp cơ thể nhộng liên tục mở rộng kích thước.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F12696-41E9-D723-2B96-75B444D06168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467555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977F1-EA34-A7F5-227B-F21CD434EF01}"/>
              </a:ext>
            </a:extLst>
          </p:cNvPr>
          <p:cNvSpPr txBox="1"/>
          <p:nvPr/>
        </p:nvSpPr>
        <p:spPr>
          <a:xfrm>
            <a:off x="731520" y="330200"/>
            <a:ext cx="107289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STAGE 4: YOUNG ADULT EMERGENCE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63329-DD01-D05C-2654-42981262D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686D988-84DD-8BB1-EE97-34FD2236B90F}"/>
              </a:ext>
            </a:extLst>
          </p:cNvPr>
          <p:cNvGrpSpPr/>
          <p:nvPr/>
        </p:nvGrpSpPr>
        <p:grpSpPr>
          <a:xfrm>
            <a:off x="5524500" y="1397000"/>
            <a:ext cx="5905500" cy="2010054"/>
            <a:chOff x="5524500" y="1397000"/>
            <a:chExt cx="5905500" cy="20100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0B5440-77AC-FD1F-650E-2B6B68649F1E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195925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METAMORPHIC EMERGENCE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Exactly 30 to 31 days after egg laying, a young adult bee emerges.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Đúng 30 đến 31 ngày sau khi đẻ trứng, một con ong non trưởng thành xuất hiện.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The insect continues to develop wings and physical endurance.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Côn trùng tiếp tục phát triển đôi cánh và thể lực hoàn chỉnh.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76FFD-1231-FA94-F07E-65479F4DD860}"/>
                </a:ext>
              </a:extLst>
            </p:cNvPr>
            <p:cNvSpPr/>
            <p:nvPr/>
          </p:nvSpPr>
          <p:spPr>
            <a:xfrm>
              <a:off x="5524500" y="1397000"/>
              <a:ext cx="50800" cy="2010054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48770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BB37E-D418-A5E1-4C14-5981F76DFF6E}"/>
              </a:ext>
            </a:extLst>
          </p:cNvPr>
          <p:cNvSpPr txBox="1"/>
          <p:nvPr/>
        </p:nvSpPr>
        <p:spPr>
          <a:xfrm>
            <a:off x="731520" y="330200"/>
            <a:ext cx="107289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STAGE 5: MATURITY &amp; CYCLE RESTART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742E3-7C10-1EBC-9B93-557348225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D1DC4B-71F2-7D75-4B5A-929945A2B609}"/>
              </a:ext>
            </a:extLst>
          </p:cNvPr>
          <p:cNvGrpSpPr/>
          <p:nvPr/>
        </p:nvGrpSpPr>
        <p:grpSpPr>
          <a:xfrm>
            <a:off x="5524500" y="1397000"/>
            <a:ext cx="5905500" cy="2279359"/>
            <a:chOff x="5524500" y="1397000"/>
            <a:chExt cx="5905500" cy="227935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D95008F-60E9-7467-F558-0E88C75A18AC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222855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CYCLE REPETITION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It takes 4 additional days for the young bee to reach full maturity.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Mất thêm 4 ngày nữa để con ong non đạt độ chín sinh học hoàn chỉnh.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At this stage, the female begins laying eggs, restarting the natural cycle.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giai đoạn này, ong cái bắt đầu đẻ trứng, kích hoạt lại chu trình tự nhiên từ đầu.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8D1B35-CB51-D661-A1C5-EEF3534D9607}"/>
                </a:ext>
              </a:extLst>
            </p:cNvPr>
            <p:cNvSpPr/>
            <p:nvPr/>
          </p:nvSpPr>
          <p:spPr>
            <a:xfrm>
              <a:off x="5524500" y="1397000"/>
              <a:ext cx="50800" cy="2279359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100714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BB043-85AD-F18B-587E-0B0381E802F9}"/>
              </a:ext>
            </a:extLst>
          </p:cNvPr>
          <p:cNvSpPr txBox="1"/>
          <p:nvPr/>
        </p:nvSpPr>
        <p:spPr>
          <a:xfrm>
            <a:off x="731520" y="330200"/>
            <a:ext cx="107289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🐝 10. REAL EXAM #2: HONEY BEE – FULL BAND 8.0 ESSAY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08918-D3E3-69F7-7298-D38F9EB56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67460"/>
            <a:ext cx="4318000" cy="4577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F7FD1B0-BCAB-A32A-CBD3-920476A2F4C2}"/>
              </a:ext>
            </a:extLst>
          </p:cNvPr>
          <p:cNvGrpSpPr/>
          <p:nvPr/>
        </p:nvGrpSpPr>
        <p:grpSpPr>
          <a:xfrm>
            <a:off x="5524500" y="1397000"/>
            <a:ext cx="5905500" cy="2010054"/>
            <a:chOff x="5524500" y="1397000"/>
            <a:chExt cx="5905500" cy="20100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C699A8-16E9-A746-4DF2-3B4BCAF1B74B}"/>
                </a:ext>
              </a:extLst>
            </p:cNvPr>
            <p:cNvSpPr txBox="1"/>
            <p:nvPr/>
          </p:nvSpPr>
          <p:spPr>
            <a:xfrm>
              <a:off x="5727700" y="1397000"/>
              <a:ext cx="5702300" cy="195925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ACTIVE VOICE SYNTAX HIGHLIGHTS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100% active verbs: lays, hatches, sheds, emerges, and restarts.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100% động từ chủ động: đẻ, nở, lột xác, chui ra và lặp lại chu trình.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Clear developmental grouping between embryonic egg/nymph and mature adult.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Phân đoạn phát triển rõ rệt giữa giai đoạn ấu trùng non và ong trưởng thành.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E64270-A0B3-E278-B989-ADAC82D86969}"/>
                </a:ext>
              </a:extLst>
            </p:cNvPr>
            <p:cNvSpPr/>
            <p:nvPr/>
          </p:nvSpPr>
          <p:spPr>
            <a:xfrm>
              <a:off x="5524500" y="1397000"/>
              <a:ext cx="50800" cy="2010054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462575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31EF0-1778-91C8-E4EE-E875F3995E3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🎉 THANK YOU FOR WATCHING!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A2AB43-3921-EF5C-B1BA-66B238DB2019}"/>
              </a:ext>
            </a:extLst>
          </p:cNvPr>
          <p:cNvGrpSpPr/>
          <p:nvPr/>
        </p:nvGrpSpPr>
        <p:grpSpPr>
          <a:xfrm>
            <a:off x="731520" y="1079500"/>
            <a:ext cx="10728960" cy="900776"/>
            <a:chOff x="731520" y="1079500"/>
            <a:chExt cx="10728960" cy="900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ABE11F2-92AD-0EF8-075D-0D2EAC27AD0B}"/>
                </a:ext>
              </a:extLst>
            </p:cNvPr>
            <p:cNvSpPr txBox="1"/>
            <p:nvPr/>
          </p:nvSpPr>
          <p:spPr>
            <a:xfrm>
              <a:off x="934720" y="10795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👍 LIKE &amp; SHARE THIS VIDEO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If this masterclass helped clarify IELTS Process &amp; Diagrams, please hit Like and Share.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Nếu bài học giúp bạn tự tin xử lý mọi dạng đề Process, hãy bấm Like và Chia sẻ cho bạn bè.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8530A4-0912-C0CD-F749-A731C271535F}"/>
                </a:ext>
              </a:extLst>
            </p:cNvPr>
            <p:cNvSpPr/>
            <p:nvPr/>
          </p:nvSpPr>
          <p:spPr>
            <a:xfrm>
              <a:off x="731520" y="10795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01342A-1888-00B1-C681-EE5486447F32}"/>
              </a:ext>
            </a:extLst>
          </p:cNvPr>
          <p:cNvGrpSpPr/>
          <p:nvPr/>
        </p:nvGrpSpPr>
        <p:grpSpPr>
          <a:xfrm>
            <a:off x="731520" y="2730500"/>
            <a:ext cx="10728960" cy="900776"/>
            <a:chOff x="731520" y="2730500"/>
            <a:chExt cx="10728960" cy="9007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76306D-FE88-5E34-2CCD-DF3C8755E232}"/>
                </a:ext>
              </a:extLst>
            </p:cNvPr>
            <p:cNvSpPr txBox="1"/>
            <p:nvPr/>
          </p:nvSpPr>
          <p:spPr>
            <a:xfrm>
              <a:off x="934720" y="27305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🔔 SUBSCRIBE FOR MORE IELTS 7.5+ MASTERCLASSES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Subscribe and turn on notifications to never miss the next Task 1 and Task 2 lessons.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Đăng ký kênh và bấm chuông thông báo để đón xem các bài giảng chuyên sâu tiếp theo.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B0EEAF-27F9-3353-D3A3-D967AECF3AE3}"/>
                </a:ext>
              </a:extLst>
            </p:cNvPr>
            <p:cNvSpPr/>
            <p:nvPr/>
          </p:nvSpPr>
          <p:spPr>
            <a:xfrm>
              <a:off x="731520" y="27305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46CEC3-6F91-9EDC-AB54-9F382DCE39EA}"/>
              </a:ext>
            </a:extLst>
          </p:cNvPr>
          <p:cNvGrpSpPr/>
          <p:nvPr/>
        </p:nvGrpSpPr>
        <p:grpSpPr>
          <a:xfrm>
            <a:off x="731520" y="4381500"/>
            <a:ext cx="10728960" cy="900776"/>
            <a:chOff x="731520" y="4381500"/>
            <a:chExt cx="10728960" cy="900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965C11-555C-C95B-4A7C-CBBAD036C2FA}"/>
                </a:ext>
              </a:extLst>
            </p:cNvPr>
            <p:cNvSpPr txBox="1"/>
            <p:nvPr/>
          </p:nvSpPr>
          <p:spPr>
            <a:xfrm>
              <a:off x="934720" y="4381500"/>
              <a:ext cx="10525760" cy="84997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00" b="1">
                  <a:solidFill>
                    <a:srgbClr val="0F172A"/>
                  </a:solidFill>
                  <a:latin typeface="Montserrat" panose="00000500000000000000" pitchFamily="2" charset="0"/>
                </a:rPr>
                <a:t>📂 FREE ACCESS TO SCRIPTS &amp; SLIDES</a:t>
              </a:r>
              <a:endParaRPr lang="en-US" sz="140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00">
                  <a:solidFill>
                    <a:srgbClr val="0F172A"/>
                  </a:solidFill>
                  <a:latin typeface="Montserrat" panose="00000500000000000000" pitchFamily="2" charset="0"/>
                </a:rPr>
                <a:t>All PowerPoint slides, written guides, and AI prompts are free on GitHub KnowledgeLibrary.</a:t>
              </a:r>
              <a:endParaRPr lang="vi-VN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150" i="1">
                  <a:solidFill>
                    <a:srgbClr val="64748B"/>
                  </a:solidFill>
                  <a:latin typeface="Montserrat" panose="00000500000000000000" pitchFamily="2" charset="0"/>
                </a:rPr>
                <a:t>Toàn bộ slide trình chiếu, kịch bản thu âm và bài mẫu được chia sẻ miễn phí tại GitHub.</a:t>
              </a:r>
              <a:endParaRPr lang="en-US" sz="115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90C5E1-8761-7389-8828-C2E352D78CC3}"/>
                </a:ext>
              </a:extLst>
            </p:cNvPr>
            <p:cNvSpPr/>
            <p:nvPr/>
          </p:nvSpPr>
          <p:spPr>
            <a:xfrm>
              <a:off x="731520" y="4381500"/>
              <a:ext cx="50800" cy="900776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483449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3843</Words>
  <Application>Microsoft Office PowerPoint</Application>
  <PresentationFormat>Custom</PresentationFormat>
  <Paragraphs>298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Thành Hiệu</dc:creator>
  <cp:lastModifiedBy>Lê Thành Hiệu</cp:lastModifiedBy>
  <cp:revision>1</cp:revision>
  <dcterms:created xsi:type="dcterms:W3CDTF">2026-10-23T15:08:38Z</dcterms:created>
  <dcterms:modified xsi:type="dcterms:W3CDTF">2026-10-23T15:08:38Z</dcterms:modified>
</cp:coreProperties>
</file>