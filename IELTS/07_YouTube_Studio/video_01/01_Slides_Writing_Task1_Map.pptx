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42C2-A4A5-AFEE-8AFE-764C177EC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8F4E-80C4-C2B8-1B47-589A16690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343D0-B956-32C0-20FA-9E4EE461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7852-90BD-57F5-7FA8-CE90720C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6106-2686-960A-1FF9-953292AE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58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EE59-1E60-6FD5-2DA9-BF5A15FA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3D2A-0FAA-4E6F-D49C-0BB2682F5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25A0D-26C6-4838-BA24-06FBD258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CC3A-A9E7-42A2-BF7F-85D8AB75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452EF-B499-A9E8-F053-829877B2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D3DC-02F7-C39A-1811-346B1A1A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DBE54-AE17-4038-0ED2-A99039A62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83D6F-DA4D-055F-C708-A5D7D0CA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1253-9AAE-010B-C3F1-B4127428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4AF5C-3781-9A4D-A255-C0F572A5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0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2C4-8DCC-0EB5-2FF4-799AD165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19E43-3250-BD0A-1A04-C66C91464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D59C4-28AB-2F58-0405-483AB6EC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DB646-7107-74DF-B80B-51452E33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FF6AF-59C6-20CF-F915-7FB13F8D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57AF5-A562-2F0E-F22A-63F9B966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9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AF2B-68B2-63A1-4912-73F7C0B8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FD3B6-3532-5137-6F83-DB83DFE95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BFFE1-F35B-568C-854E-CF1D30DF5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F56EF-BA07-CBE0-4686-1BDC3B572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42BD5-B36D-DBEE-1404-5F34FEBDB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02CD0-B930-0D7F-C389-F53FDA3C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FAD20-ABC4-D1E2-047B-F7DF5298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7391F-1369-7BEB-7612-5B3F2DE3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5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AA18-C171-7387-F671-82507885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358E7-6BE9-2F5B-ED54-B244719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D0331-9283-4CD7-C99A-3B4A1BED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AB4CA-3926-F59C-360F-E0C891EA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2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205E1-EACF-A45D-B19E-942A0C2E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CCECD-5180-04C6-160F-2B726452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6EE9A-82F6-ACE6-76B7-5457196E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63A4-A024-BE79-BEC1-E13FCE21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B0A6-8644-85B8-68B0-6D6DB4F20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534F7-1DC1-1CCC-337E-5BF847066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DA065-EAA2-7B5E-1639-C82AE7B5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998EA-2053-BEF3-CFFA-04E73EA1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02AF5-4B10-C173-B2E2-831FF49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6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751F-7606-32B8-A10B-7B9BC9E1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627CD-D4FB-10B1-88DF-475D04EEB2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BDADE-C2EE-4B1D-9AB4-C2E47590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036-56B7-55CC-C066-10DE2A25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84ED3-90A2-6B58-7C42-CDC353DE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8830-739F-691D-4287-AAAC5BAD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6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83B1-C7B6-1599-0438-9B446EF2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8E41E-5BDE-CC63-E753-140EC43F9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243D-3DA4-48AC-7774-ED4A00EC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EF325-A0AD-1FEC-0BE2-B80A0508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8656-7207-3768-937E-C07B6FED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1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9D32DC-D993-C1AC-A4AD-FB9B7F7E9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9E05A-B24A-AC1F-C610-6392FFF8B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62F91-B672-C86D-EDFF-CECE063E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75E7A-6149-3C65-030C-212759D1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9EB0-7F8C-7622-7C7A-9E57A406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6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4470C-551D-FF7B-11FD-3093D749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6BED7-1A75-0006-5925-6BDD3A3B7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27D8C-3205-8A58-B3A9-33296DA63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8A2A0-35CD-4969-8232-7BDE96B0260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A3679-B4CE-11F9-67AB-3CE6B44E2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F61D9-D46F-D7A0-8F8B-79E82692D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763E-B0DB-4C37-B50F-D91ED3555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0F3AF8-7EB4-80DD-3C61-CE59BF370D3B}"/>
              </a:ext>
            </a:extLst>
          </p:cNvPr>
          <p:cNvSpPr/>
          <p:nvPr/>
        </p:nvSpPr>
        <p:spPr>
          <a:xfrm>
            <a:off x="762000" y="698500"/>
            <a:ext cx="3175000" cy="381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Montserrat" panose="00000500000000000000" pitchFamily="2" charset="0"/>
              </a:rPr>
              <a:t>IELTS WRITING TASK 1 • BAND 7.5+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DF17A-C8EA-82A7-6583-AF53014B0198}"/>
              </a:ext>
            </a:extLst>
          </p:cNvPr>
          <p:cNvSpPr txBox="1"/>
          <p:nvPr/>
        </p:nvSpPr>
        <p:spPr>
          <a:xfrm>
            <a:off x="762000" y="1333500"/>
            <a:ext cx="5969000" cy="30982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600"/>
              </a:spcAft>
            </a:pPr>
            <a:r>
              <a:rPr lang="en-US" sz="4600" b="1">
                <a:solidFill>
                  <a:srgbClr val="0F172A"/>
                </a:solidFill>
                <a:latin typeface="Montserrat" panose="00000500000000000000" pitchFamily="2" charset="0"/>
              </a:rPr>
              <a:t>MAP &amp;
FLOOR PLAN</a:t>
            </a:r>
            <a:endParaRPr lang="en-US" sz="2200" b="1">
              <a:solidFill>
                <a:srgbClr val="DC2626"/>
              </a:solidFill>
              <a:latin typeface="Montserrat" panose="00000500000000000000" pitchFamily="2" charset="0"/>
            </a:endParaRPr>
          </a:p>
          <a:p>
            <a:pPr>
              <a:spcAft>
                <a:spcPts val="400"/>
              </a:spcAft>
            </a:pPr>
            <a:r>
              <a:rPr lang="en-US" sz="2200" b="1">
                <a:solidFill>
                  <a:srgbClr val="DC2626"/>
                </a:solidFill>
                <a:latin typeface="Montserrat" panose="00000500000000000000" pitchFamily="2" charset="0"/>
              </a:rPr>
              <a:t>COMPLETE MASTERCLASS</a:t>
            </a:r>
            <a:endParaRPr lang="en-US" sz="1350">
              <a:solidFill>
                <a:srgbClr val="0F172A"/>
              </a:solidFill>
              <a:latin typeface="Montserrat" panose="00000500000000000000" pitchFamily="2" charset="0"/>
            </a:endParaRPr>
          </a:p>
          <a:p>
            <a:pPr>
              <a:spcAft>
                <a:spcPts val="400"/>
              </a:spcAft>
            </a:pPr>
            <a:r>
              <a:rPr lang="en-US" sz="1350">
                <a:solidFill>
                  <a:srgbClr val="0F172A"/>
                </a:solidFill>
                <a:latin typeface="Montserrat" panose="00000500000000000000" pitchFamily="2" charset="0"/>
              </a:rPr>
              <a:t>Full Vocabulary, 4 Key Grammar Structures &amp; 2 Real Cambridge Walkthroughs</a:t>
            </a:r>
            <a:endParaRPr lang="en-US" sz="1200" i="1">
              <a:solidFill>
                <a:srgbClr val="64748B"/>
              </a:solidFill>
              <a:latin typeface="Montserrat" panose="00000500000000000000" pitchFamily="2" charset="0"/>
            </a:endParaRPr>
          </a:p>
          <a:p>
            <a:pPr>
              <a:spcAft>
                <a:spcPts val="400"/>
              </a:spcAft>
            </a:pPr>
            <a:r>
              <a:rPr lang="en-US" sz="1200" i="1">
                <a:solidFill>
                  <a:srgbClr val="64748B"/>
                </a:solidFill>
                <a:latin typeface="Montserrat" panose="00000500000000000000" pitchFamily="2" charset="0"/>
              </a:rPr>
              <a:t>Trọn bộ từ vựng, 4 cấu trúc ngữ pháp ăn điểm &amp; Giải chi tiết 2 đề thi thật Cambridge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1E7DD-7669-752A-F9FA-DC4C094B2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2960977"/>
            <a:ext cx="1667206" cy="872545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</p:spTree>
    <p:extLst>
      <p:ext uri="{BB962C8B-B14F-4D97-AF65-F5344CB8AC3E}">
        <p14:creationId xmlns:p14="http://schemas.microsoft.com/office/powerpoint/2010/main" val="1913549726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56B2E-5980-5CA8-112E-7E2A286229D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1: PAST TO PAST (1930 - 2010)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8C0F5-6797-145B-FC63-F7BF82F40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7B3ABC-7B13-30B6-00A3-E8CB8A189BD0}"/>
              </a:ext>
            </a:extLst>
          </p:cNvPr>
          <p:cNvGrpSpPr/>
          <p:nvPr/>
        </p:nvGrpSpPr>
        <p:grpSpPr>
          <a:xfrm>
            <a:off x="5461000" y="1651000"/>
            <a:ext cx="5969000" cy="2993465"/>
            <a:chOff x="5461000" y="1651000"/>
            <a:chExt cx="5969000" cy="29934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7D7095-4130-1089-1D98-0449AAC69B8C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94266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KEY CHARACTERISTICS &amp; TENSE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Comparing two distinct historical timeframes (e.g., 1930 vs. 2010).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So sánh hai mốc thời gian hoàn toàn trong quá khứ.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Exclusively use Past Simple and Past Perfect passive forms.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100% thì Quá khứ đơn và Quá khứ hoàn thành ở thể bị động.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was constructed / were demolished / had been converted into.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Các động từ phổ biến: được xây dựng / bị phá bỏ / đã được chuyển đổi thành.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564E6A-634D-FC4E-B62F-6B5537729E09}"/>
                </a:ext>
              </a:extLst>
            </p:cNvPr>
            <p:cNvSpPr/>
            <p:nvPr/>
          </p:nvSpPr>
          <p:spPr>
            <a:xfrm>
              <a:off x="5461000" y="1651000"/>
              <a:ext cx="50800" cy="2993465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199533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0DE9-BE8E-83A5-F999-F192EDB9977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1: MODEL SENTENCES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224EA7-D40D-A021-649D-3CDB52FAB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AE47D3E-8535-A680-68E7-C6C119F392DF}"/>
              </a:ext>
            </a:extLst>
          </p:cNvPr>
          <p:cNvGrpSpPr/>
          <p:nvPr/>
        </p:nvGrpSpPr>
        <p:grpSpPr>
          <a:xfrm>
            <a:off x="5461000" y="1651000"/>
            <a:ext cx="5969000" cy="2355470"/>
            <a:chOff x="5461000" y="1651000"/>
            <a:chExt cx="5969000" cy="23554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5367A1-BD7C-79FA-FD54-B9105F8EA89D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30467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farmland in the north-east was cleared before a new estate was built.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nông nghiệp phía đông bắc đã được giải tỏa trước khi khu nhà ở mới được xây dựng.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local shops adjacent to the post office were demolished to make way for houses.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Các cửa hàng sát cạnh bưu điện bị phá bỏ để nhường chỗ cho nhà ở.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0AEF82-86F4-50B6-33BC-B9611C957D22}"/>
                </a:ext>
              </a:extLst>
            </p:cNvPr>
            <p:cNvSpPr/>
            <p:nvPr/>
          </p:nvSpPr>
          <p:spPr>
            <a:xfrm>
              <a:off x="5461000" y="1651000"/>
              <a:ext cx="50800" cy="235547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26653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AE0AA5-F4C3-776F-20FB-3ED4CCB132AF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2: PAST TO PRESENT (20 YRS AGO - TODAY)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2138D-7F1F-01D2-5A42-5E2E7007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2DB8A8-1B0E-B881-3C4E-D84AC3F6918F}"/>
              </a:ext>
            </a:extLst>
          </p:cNvPr>
          <p:cNvGrpSpPr/>
          <p:nvPr/>
        </p:nvGrpSpPr>
        <p:grpSpPr>
          <a:xfrm>
            <a:off x="5461000" y="1651000"/>
            <a:ext cx="5969000" cy="2483710"/>
            <a:chOff x="5461000" y="1651000"/>
            <a:chExt cx="5969000" cy="24837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EFBE62-0645-BD5B-F5E6-6CDB4A6DF675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43291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KEY CHARACTERISTICS &amp; TENSE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Comparing a past baseline against the present day.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So sánh một mốc quá khứ với thời điểm hiện nay.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Mandatory use of Present Perfect passive: has/have been + V3/ed.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Bắt buộc dùng thì Hiện tại hoàn thành ở thể bị động.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has been modernized / have been removed / has given way to.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Đã được hiện đại hóa / đã bị dọn đi / đã nhường chỗ cho.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E9E02B-5FA4-D039-E3B4-3DEBEBDF37FC}"/>
                </a:ext>
              </a:extLst>
            </p:cNvPr>
            <p:cNvSpPr/>
            <p:nvPr/>
          </p:nvSpPr>
          <p:spPr>
            <a:xfrm>
              <a:off x="5461000" y="1651000"/>
              <a:ext cx="50800" cy="248371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09856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7336B-581F-7BB3-9DAE-2E2276970FD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2: MODEL SENTENCES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A256D-C3A7-C8F8-EF5C-E2DEE35CC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89606C2-2347-52E2-FD56-F9956464229C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0E93D4-3F21-3033-A8D3-8BCDD42601AB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central tables and chairs have been completely removed for open space.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Bàn ghế ở trung tâm đã được dọn đi hoàn toàn để tạo không gian mở.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enquiry desk has given way to a modern café and self-service kiosks.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Bàn thông tin cũ đã nhường chỗ cho một quán café và máy tự phục vụ.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0384C2-406F-BC49-C261-20D86AB9AC54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82612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8215E-25AA-A818-C190-38A20153418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3: PRESENT TO FUTURE (NOW - 2035)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6CED0-D875-7E3D-9B52-503C282C2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28684"/>
            <a:ext cx="4318000" cy="42546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1560150-2C16-F74A-D877-2F772EA98106}"/>
              </a:ext>
            </a:extLst>
          </p:cNvPr>
          <p:cNvGrpSpPr/>
          <p:nvPr/>
        </p:nvGrpSpPr>
        <p:grpSpPr>
          <a:xfrm>
            <a:off x="5461000" y="1651000"/>
            <a:ext cx="5969000" cy="2204788"/>
            <a:chOff x="5461000" y="1651000"/>
            <a:chExt cx="5969000" cy="22047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6610954-0FE4-655C-FC0C-A7ED0FAB9F2C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15398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KEY CHARACTERISTICS &amp; TENSE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Future development and zoning proposals (e.g., Now vs. 2035).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Bản đồ quy hoạch và đề xuất phát triển trong tương lai.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Avoid repetitive 'will be'; use academic projection patterns.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Tránh lặp từ 'will be'; sử dụng cấu trúc dự báo học thuật.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is planned to be built / is projected to be converted.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Được lên kế hoạch xây dựng / được dự kiến chuyển đổi thành.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9DE462-7210-8DEE-0928-D2703617927F}"/>
                </a:ext>
              </a:extLst>
            </p:cNvPr>
            <p:cNvSpPr/>
            <p:nvPr/>
          </p:nvSpPr>
          <p:spPr>
            <a:xfrm>
              <a:off x="5461000" y="1651000"/>
              <a:ext cx="50800" cy="2204788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956413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E7E1D-684E-CAFF-4E73-7F3628FAD9A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3: ACADEMIC PROJECTIONS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B01A1-F9AB-EEB5-D6F3-FAE6BE402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28684"/>
            <a:ext cx="4318000" cy="42546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7D274D-03D2-2F63-956C-FF717E1FF281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A67736-F39C-BBAC-6285-04DC3BC3610B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FUTURE PROJECTION STRUCTURES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It is anticipated that the industrial area will be relocated to the outskirts.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Dự kiến khu công nghiệp sẽ được di dời ra vùng ngoại ô.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vacant land is projected to be transformed into a sports complex.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Khu đất trống được dự kiến chuyển đổi thành khu phức hợp thể thao.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1B63F3-F89A-E231-C399-5A0CA1241FE2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51840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77208-7D8C-3FC5-94F4-8B5380F916D2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4: STATIC MAP (NO TIME ELEMENT)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FD028-A514-5774-57E0-E9E123A89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28684"/>
            <a:ext cx="4318000" cy="42546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06C5C92-E4CC-C5F0-9662-D8EE0DEB3139}"/>
              </a:ext>
            </a:extLst>
          </p:cNvPr>
          <p:cNvGrpSpPr/>
          <p:nvPr/>
        </p:nvGrpSpPr>
        <p:grpSpPr>
          <a:xfrm>
            <a:off x="5461000" y="1651000"/>
            <a:ext cx="5969000" cy="2483710"/>
            <a:chOff x="5461000" y="1651000"/>
            <a:chExt cx="5969000" cy="24837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6639B4-9A8C-306C-76D6-4501CD77C5A7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43291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KEY CHARACTERISTICS &amp; TENSE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Comparing two proposed locations (Site 1 vs Site 2) with zero timeline.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So sánh hai vị trí đề xuất không có yếu tố mốc thời gian.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Strictly use 100% Present Simple for spatial description.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100% thì Hiện tại đơn để miêu tả vị trí không gian.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is located in / lies to the north / stands adjacent to.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Tọa lạc tại / nằm về phía bắc / đứng sát cạnh.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01F0C5-DA6C-06BA-65F8-31C4EF5A50A9}"/>
                </a:ext>
              </a:extLst>
            </p:cNvPr>
            <p:cNvSpPr/>
            <p:nvPr/>
          </p:nvSpPr>
          <p:spPr>
            <a:xfrm>
              <a:off x="5461000" y="1651000"/>
              <a:ext cx="50800" cy="248371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53131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6B7E1-B28D-BDD1-0119-986E2BDE9882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🗺️ 01. TASK TYPE 4: MODEL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751AB-743B-807D-51C2-456A04A7F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28684"/>
            <a:ext cx="4318000" cy="425463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5C4FE0A-B0EE-68C4-6A09-836393EE12E1}"/>
              </a:ext>
            </a:extLst>
          </p:cNvPr>
          <p:cNvGrpSpPr/>
          <p:nvPr/>
        </p:nvGrpSpPr>
        <p:grpSpPr>
          <a:xfrm>
            <a:off x="5461000" y="1651000"/>
            <a:ext cx="5969000" cy="2355470"/>
            <a:chOff x="5461000" y="1651000"/>
            <a:chExt cx="5969000" cy="23554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99172D-8ABF-F247-5D36-07A381687354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30467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SPATIAL COMPARISON SENTENCES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Site 1 is situated close to the residential zone, offering great accessibility.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Vị trí 1 nằm gần khu dân cư, mang lại khả năng tiếp cận thuận tiện.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contrast, Site 2 lies adjacent to the bypass road for freight transport.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Ngược lại, vị trí 2 nằm cạnh đường tránh, thuận tiện cho xe vận tải hàng hóa.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DC69D2-E42F-F5D3-D79A-661840AF0058}"/>
                </a:ext>
              </a:extLst>
            </p:cNvPr>
            <p:cNvSpPr/>
            <p:nvPr/>
          </p:nvSpPr>
          <p:spPr>
            <a:xfrm>
              <a:off x="5461000" y="1651000"/>
              <a:ext cx="50800" cy="235547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676691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878577-B960-CE60-ACCF-014C97BA04B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🎯 02. BAND 7.5+ CRITERIA: TA &amp; CC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6DB131-142B-A5AE-6102-47377A3AE273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B738A7-D12F-2661-27C8-86EE2568396E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TASK ACHIEVEMENT (25%)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Must include an Overview identifying the two most prominent macro-trends.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Bắt buộc có đoạn Overview nêu bật 2 xu hướng chuyển dịch lớn nhất.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Crucial: Must describe unchanged features alongside newly built ones.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Rất quan trọng: Phải miêu tả cả các công trình giữ nguyên không đổi.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5E92D3-FFC9-6D60-8F13-BF905097C368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78A784-B92E-DAC0-AB1F-2FE77C42A169}"/>
              </a:ext>
            </a:extLst>
          </p:cNvPr>
          <p:cNvGrpSpPr/>
          <p:nvPr/>
        </p:nvGrpSpPr>
        <p:grpSpPr>
          <a:xfrm>
            <a:off x="731520" y="3154292"/>
            <a:ext cx="10728960" cy="1566792"/>
            <a:chOff x="731520" y="3154292"/>
            <a:chExt cx="10728960" cy="15667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69A937-053D-6BB0-EA32-5523A9BEA162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COHERENCE AND COHESION (25%)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Organize body paragraphs following a logical spatial sequence (North to South).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Sắp xếp thân bài theo trật tự không gian logic (từ Bắc xuống Nam).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Never jump erratically between unrelated coordinates across the map.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Không nhảy cóc lộn xộn giữa các góc bản đồ làm người đọc mất phương hướng.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0F139D-850C-4A6A-D940-64A9F38688E4}"/>
                </a:ext>
              </a:extLst>
            </p:cNvPr>
            <p:cNvSpPr/>
            <p:nvPr/>
          </p:nvSpPr>
          <p:spPr>
            <a:xfrm>
              <a:off x="731520" y="3154292"/>
              <a:ext cx="50800" cy="1566792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29499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9D612-3F2B-7B58-E8A6-1313CCECE45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🎯 02. BAND 7.5+ CRITERIA: LR &amp; GRA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763B9B-15D0-FDF6-F632-DC5EC8BCB305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2214992-8780-E83F-07F6-E987710601E0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LEXICAL RESOURCE (25%)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Utilize 5 distinct verb categories and nominalization structures.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Sử dụng linh hoạt 5 nhóm động từ biến đổi và cấu trúc danh từ hóa.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Ensure 100% accuracy with directional prepositions: IN vs TO the north.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Chính xác tuyệt đối các giới từ chỉ phương hướng: IN vs TO the north.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DF9240-4E48-6664-E206-09F15C971C6C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7A2EE9-2E8B-B478-3AC0-F08D06484649}"/>
              </a:ext>
            </a:extLst>
          </p:cNvPr>
          <p:cNvGrpSpPr/>
          <p:nvPr/>
        </p:nvGrpSpPr>
        <p:grpSpPr>
          <a:xfrm>
            <a:off x="731520" y="3154292"/>
            <a:ext cx="10728960" cy="1566792"/>
            <a:chOff x="731520" y="3154292"/>
            <a:chExt cx="10728960" cy="15667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AFF403-B437-AA03-FA7E-CE1C08E8018E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GRAMMATICAL RANGE AND ACCURACY (25%)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Over 80% of sentences must be correctly formed in the passive voice.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Hơn 80% số câu trong bài phải chia ở thể bị động chuẩn xác.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Integrate participle clauses and spatial inversions for advanced complexity.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Kết hợp mệnh đề phân từ rút gọn và đảo ngữ vị trí để ghi điểm ngữ pháp cao.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D98FF3-C645-1D7A-A88D-09080E2E08B1}"/>
                </a:ext>
              </a:extLst>
            </p:cNvPr>
            <p:cNvSpPr/>
            <p:nvPr/>
          </p:nvSpPr>
          <p:spPr>
            <a:xfrm>
              <a:off x="731520" y="3154292"/>
              <a:ext cx="50800" cy="1566792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44839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55A32-6372-716A-CC15-D4F50470231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ESSAY STRUCTURE: 4-PARAGRAPH STANDARD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02F05D-F613-2EE7-EDAA-B7C7FF4EEE19}"/>
              </a:ext>
            </a:extLst>
          </p:cNvPr>
          <p:cNvGrpSpPr/>
          <p:nvPr/>
        </p:nvGrpSpPr>
        <p:grpSpPr>
          <a:xfrm>
            <a:off x="731520" y="1270000"/>
            <a:ext cx="10728960" cy="928156"/>
            <a:chOff x="731520" y="1270000"/>
            <a:chExt cx="10728960" cy="9281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5439EB1-557A-B93B-2ED0-F12971CC6D2A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35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THE FIXED 4-PARAGRAPH BLUEPRINT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Introduction (1 sentence) ➔ Overview (2 sentences) ➔ Body 1 ➔ Body 2.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Mở bài (1 câu) ➔ Tổng quan (2 câu) ➔ Thân bài 1 (3-4 câu) ➔ Thân bài 2 (3-4 câu).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1165AB-2AA7-2D88-2C8B-6980749BE298}"/>
                </a:ext>
              </a:extLst>
            </p:cNvPr>
            <p:cNvSpPr/>
            <p:nvPr/>
          </p:nvSpPr>
          <p:spPr>
            <a:xfrm>
              <a:off x="731520" y="1270000"/>
              <a:ext cx="50800" cy="928156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1A30791-E1DE-3469-D9D4-75108D8AB1E8}"/>
              </a:ext>
            </a:extLst>
          </p:cNvPr>
          <p:cNvGrpSpPr/>
          <p:nvPr/>
        </p:nvGrpSpPr>
        <p:grpSpPr>
          <a:xfrm>
            <a:off x="731520" y="2515656"/>
            <a:ext cx="10728960" cy="928797"/>
            <a:chOff x="731520" y="2515656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9E264B-CF8A-5BE0-5E7D-274FA942E49A}"/>
                </a:ext>
              </a:extLst>
            </p:cNvPr>
            <p:cNvSpPr txBox="1"/>
            <p:nvPr/>
          </p:nvSpPr>
          <p:spPr>
            <a:xfrm>
              <a:off x="934720" y="2515656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GOLDEN RULE: NO CONCLUSION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Never write a Conclusion paragraph in IELTS Task 1; all summaries belong in the Overview.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Tuyệt đối không viết Kết bài cho Task 1; mọi nhận định tổng quan phải nằm ở đoạn Overview.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6786B6-C905-95C1-B458-B0E8FB15E0F3}"/>
                </a:ext>
              </a:extLst>
            </p:cNvPr>
            <p:cNvSpPr/>
            <p:nvPr/>
          </p:nvSpPr>
          <p:spPr>
            <a:xfrm>
              <a:off x="731520" y="2515656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90427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1A32E1-5102-A4BE-69A9-6D9A523F2C80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BODY GROUPING: NORTH - SOUTH SPLIT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F52B16-BA26-0654-0F23-369BF213EB98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784A00-2504-F262-B797-463F33E168AA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WHEN TO APPLY THIS STRATEGY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Best suited when a river, railway, or main road bisects the landscape.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Phù hợp nhất khi có dòng sông, đường sắt hoặc trục lộ lớn cắt ngang bản đồ.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73F2FD-B522-A138-CC10-A2A80CD3C6D4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B81EAE-1739-A0AA-2306-2EE7B3B54C24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C7134B-BC19-A30A-E275-08BDCC2737C2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PARAGRAPH ALLOCATION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Body 1 covers the northern half; Body 2 details the southern half and unchanged items.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1 tả nửa phía Bắc; Body 2 tả nửa phía Nam cùng các công trình giữ nguyên.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2F8C21-9C03-FD75-921D-086D66698A47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178341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2741B-DC35-EF12-A1F0-1AA338CEC6A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📐 03. BODY GROUPING: CENTER &amp; FUNCTION SPLIT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F2A929-B115-AB53-9C06-21C112E4E383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F22E2E-F727-F339-3A04-C33B90975877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CENTER VS PERIPHERY (FLOOR PLANS)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Body 1 details main entrance &amp; central hall; Body 2 details perimeter rooms.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1 tả lối vào &amp; sảnh trung tâm; Body 2 tả các phòng chức năng xung quanh.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76FA20-FC68-17A9-B77A-12A2CD4DA0CF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80E3E3D-4795-F14F-818D-31361136080E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6D4216-9B76-2D69-11FA-41CA4099ED76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FUNCTIONAL CATEGORIZATION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Body 1 groups residential &amp; transport; Body 2 groups commercial &amp; green amenities.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Body 1 gom khu dân cư &amp; giao thông; Body 2 gom tiện ích thương mại &amp; thiên nhiên.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18CD27-87D4-05E2-6D54-C513ED4A9C8A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991517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8E696-0C6E-8FB9-99E6-C740E59B13C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400" b="1">
                <a:solidFill>
                  <a:srgbClr val="DB2777"/>
                </a:solidFill>
                <a:latin typeface="Montserrat" panose="00000500000000000000" pitchFamily="2" charset="0"/>
              </a:rPr>
              <a:t>✍️ 04. INTRODUCTION FORMULA (1 SENTENCE)</a:t>
            </a:r>
            <a:endParaRPr lang="en-US" sz="2400" b="1">
              <a:solidFill>
                <a:srgbClr val="DB2777"/>
              </a:solidFill>
              <a:latin typeface="Montserrat" panose="000005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C40F25-63C0-294C-D9B8-E51F259F3105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A49BD3-5810-B290-BE59-C2E4CBE86F6A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PARAPHRASE TEMPLATE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map illustrates how [Place] developed over a [X]-year period from [Year] to [Year].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Bản đồ minh họa nơi chốn đã phát triển qua khoảng thời gian X năm.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2E02FC-6CDF-9CA5-4B54-EF92E27715C2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61795E0-69F8-A6FF-B143-291CEF4F43FD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C4F165-3151-1561-CA2D-B3D8BCEC6F43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AUTHENTIC MODEL SENTENCE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two maps illustrate how Stokeford developed over an 80-year period from 1930 to 2010.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Hai bản đồ minh họa cách làng Stokeford phát triển trong 80 năm từ 1930 đến 2010.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A61F2A9-DC1A-9360-A77D-BF5C77718A82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395467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46844-B627-042C-18D6-BDB8CCCB3FB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✍️ 04. OVERVIEW FORMULA (2 SENTENCES)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66E874-2CFA-7268-9E3E-720324055DFE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A2DA7C-9022-6F2E-F082-E374D88CA189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THE 2-SENTENCE OVERVIEW BLUEPRINT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Sentence 1: Overall, [Place] underwent a transformation from a rural to a residential area.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Câu 1: Nhìn chung, ngôi làng trải qua sự chuyển dịch từ nông thôn thành khu dân cư.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Sentence 2: The most notable change was the complete clearance of farmland for housing.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Câu 2: Thay đổi đáng chú ý nhất là việc xóa bỏ đất nông nghiệp để xây nhà ở.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A187E8-AB36-DBEA-224F-46CB88198C10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44022AB-3220-BBC0-168A-6F5DBC62E53D}"/>
              </a:ext>
            </a:extLst>
          </p:cNvPr>
          <p:cNvGrpSpPr/>
          <p:nvPr/>
        </p:nvGrpSpPr>
        <p:grpSpPr>
          <a:xfrm>
            <a:off x="731520" y="3154292"/>
            <a:ext cx="10728960" cy="928797"/>
            <a:chOff x="731520" y="3154292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221112-FC0C-3710-7A1B-7BBB32F83238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CRITICAL GUIDELINE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Never include minor statistics or specific room names in the Overview.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Không đưa số liệu chi tiết hay tên riêng vụn vặt vào đoạn Overview.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A7A9EA-2CC5-8F05-1326-4256B10D83DB}"/>
                </a:ext>
              </a:extLst>
            </p:cNvPr>
            <p:cNvSpPr/>
            <p:nvPr/>
          </p:nvSpPr>
          <p:spPr>
            <a:xfrm>
              <a:off x="731520" y="3154292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29637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3491A-FBC1-CD24-2720-BCD4AA873FD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8 COMPASS DIRECTIONS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68B016-74DC-99EA-608D-3D5BED0D9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48D6D6E-F8FF-1AC4-5279-943CD684B59D}"/>
              </a:ext>
            </a:extLst>
          </p:cNvPr>
          <p:cNvGrpSpPr/>
          <p:nvPr/>
        </p:nvGrpSpPr>
        <p:grpSpPr>
          <a:xfrm>
            <a:off x="5461000" y="1778000"/>
            <a:ext cx="5969000" cy="2076547"/>
            <a:chOff x="5461000" y="1778000"/>
            <a:chExt cx="5969000" cy="20765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0B1D31-1BCD-5259-F721-D2F08682036B}"/>
                </a:ext>
              </a:extLst>
            </p:cNvPr>
            <p:cNvSpPr txBox="1"/>
            <p:nvPr/>
          </p:nvSpPr>
          <p:spPr>
            <a:xfrm>
              <a:off x="5664200" y="1778000"/>
              <a:ext cx="5765800" cy="202574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CARDINAL &amp; INTERCARDINAL POINTS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North, South, East, West combined with NE, NW, SE, and SW.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4 hướng chính (Bắc, Nam, Đông, Tây) kết hợp 4 hướng phụ (ĐB, TB, ĐN, TN).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Essential spatial orientation anchors for any outdoor exam prompt.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Hệ quy chiếu phương hướng bắt buộc cho mọi đề thi bản đồ ngoài trời.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CA55F6-4030-0BA1-152F-4651B80FFB59}"/>
                </a:ext>
              </a:extLst>
            </p:cNvPr>
            <p:cNvSpPr/>
            <p:nvPr/>
          </p:nvSpPr>
          <p:spPr>
            <a:xfrm>
              <a:off x="5461000" y="1778000"/>
              <a:ext cx="50800" cy="207654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49132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A523D-FE03-0AC8-13A3-3FD2B2BB8986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ADVANCED SPATIAL COLLOCATIONS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0601B-59BE-12E0-A043-235176B59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B360A80-F25A-F7D7-1479-11D7B61ADFB9}"/>
              </a:ext>
            </a:extLst>
          </p:cNvPr>
          <p:cNvGrpSpPr/>
          <p:nvPr/>
        </p:nvGrpSpPr>
        <p:grpSpPr>
          <a:xfrm>
            <a:off x="5461000" y="1651000"/>
            <a:ext cx="5969000" cy="2204788"/>
            <a:chOff x="5461000" y="1651000"/>
            <a:chExt cx="5969000" cy="22047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41E974-12C3-1F12-4963-0126F3378986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15398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HIGH-SCORING POSITIONING PHRASES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the north-eastern part of the village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khu vực phía đông bắc của ngôi làng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situated along the eastern boundary of the town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nằm dọc theo ranh giới phía đông của thị trấn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occupying the south-western quadrant of the area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chiếm trọn góc phần tư phía tây nam của khu vực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EC0E6D-E44B-4EBE-7BF3-528743A87837}"/>
                </a:ext>
              </a:extLst>
            </p:cNvPr>
            <p:cNvSpPr/>
            <p:nvPr/>
          </p:nvSpPr>
          <p:spPr>
            <a:xfrm>
              <a:off x="5461000" y="1651000"/>
              <a:ext cx="50800" cy="2204788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34866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D450C7-6074-53D0-E198-8D8CD17375DE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GOLDEN RULE: PREPOSITION 'IN'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65738-0972-A29E-3DC2-90F4661A9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6E9BBA4-BDA4-D798-0790-3ABD6283B563}"/>
              </a:ext>
            </a:extLst>
          </p:cNvPr>
          <p:cNvGrpSpPr/>
          <p:nvPr/>
        </p:nvGrpSpPr>
        <p:grpSpPr>
          <a:xfrm>
            <a:off x="5461000" y="1651000"/>
            <a:ext cx="5969000" cy="2076547"/>
            <a:chOff x="5461000" y="1651000"/>
            <a:chExt cx="5969000" cy="20765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D10024-8998-B3CE-C7F6-915B3806E189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2574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WITHIN BOUNDARIES ➔ USE 'IN'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Used when a feature is situated INSIDE the territory of the town.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Dùng khi công trình nằm BÊN TRONG ranh giới của khu vực.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 new hospital was constructed in the north of the town.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Một bệnh viện mới được xây dựng ở phía bắc của thị trấn (nằm trong thị trấn).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F6CD07-34CB-21CC-6A3B-BF18A7CAB2D0}"/>
                </a:ext>
              </a:extLst>
            </p:cNvPr>
            <p:cNvSpPr/>
            <p:nvPr/>
          </p:nvSpPr>
          <p:spPr>
            <a:xfrm>
              <a:off x="5461000" y="1651000"/>
              <a:ext cx="50800" cy="207654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850916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28C08-5056-69AC-D92B-1A20DD31B3E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GOLDEN RULE: PREPOSITION 'TO'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ABAC2-89ED-7D2C-A02F-8DB4F9D07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38A81A3-F559-F50E-D660-55758409B307}"/>
              </a:ext>
            </a:extLst>
          </p:cNvPr>
          <p:cNvGrpSpPr/>
          <p:nvPr/>
        </p:nvGrpSpPr>
        <p:grpSpPr>
          <a:xfrm>
            <a:off x="5461000" y="1651000"/>
            <a:ext cx="5969000" cy="1845715"/>
            <a:chOff x="5461000" y="1651000"/>
            <a:chExt cx="5969000" cy="18457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5DBF96B-2011-84E9-5379-E68E36EDA534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179491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EXTERNAL &amp; SEPARATE ➔ USE 'TO'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Used when a feature lies OUTSIDE and detached from the town border.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Dùng khi công trình nằm TÁCH RỜI, BÊN NGOÀI ranh giới khu vực.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 dense forest lies to the north of the town.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Một khu rừng rậm nằm về phía bắc của thị trấn (nằm bên ngoài thị trấn).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5DF8CD-5B86-4923-2762-382FBF3CC72B}"/>
                </a:ext>
              </a:extLst>
            </p:cNvPr>
            <p:cNvSpPr/>
            <p:nvPr/>
          </p:nvSpPr>
          <p:spPr>
            <a:xfrm>
              <a:off x="5461000" y="1651000"/>
              <a:ext cx="50800" cy="1845715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9240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01757-E84B-4653-568E-98557050331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PROXIMITY: ADJACENT TO / NEXT 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50F0A-69F1-050C-7B6B-B41762BB3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91B412F-3B43-A74A-B22E-2413C370A3C9}"/>
              </a:ext>
            </a:extLst>
          </p:cNvPr>
          <p:cNvGrpSpPr/>
          <p:nvPr/>
        </p:nvGrpSpPr>
        <p:grpSpPr>
          <a:xfrm>
            <a:off x="5461000" y="1651000"/>
            <a:ext cx="5969000" cy="1566792"/>
            <a:chOff x="5461000" y="1651000"/>
            <a:chExt cx="5969000" cy="15667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C6193C-F120-2A44-90C6-49D350342EF5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IMMEDIATE ADJACENCY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Use 'adjacent to' as an academic replacement for 'next to'.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Dùng 'adjacent to' thay cho 'next to' để tăng tính học thuật.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local shops adjacent to the post office were demolished.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Các cửa hàng sát cạnh bưu điện đã bị phá dỡ.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0448A7-02D4-30EF-120D-4A9D6E880D3E}"/>
                </a:ext>
              </a:extLst>
            </p:cNvPr>
            <p:cNvSpPr/>
            <p:nvPr/>
          </p:nvSpPr>
          <p:spPr>
            <a:xfrm>
              <a:off x="5461000" y="1651000"/>
              <a:ext cx="50800" cy="1566792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71320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667D6-10A4-5AB7-5702-9E6727AD30FC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🧭 05. OPPOSITION: OPPOSITE / ACROSS FROM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87E03-C92B-A6F6-DE12-B859B0636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" y="1365250"/>
            <a:ext cx="4318001" cy="4381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DE33CE2-C516-6F1F-8D8C-747CB4FFA8E3}"/>
              </a:ext>
            </a:extLst>
          </p:cNvPr>
          <p:cNvGrpSpPr/>
          <p:nvPr/>
        </p:nvGrpSpPr>
        <p:grpSpPr>
          <a:xfrm>
            <a:off x="5461000" y="1651000"/>
            <a:ext cx="5969000" cy="2076547"/>
            <a:chOff x="5461000" y="1651000"/>
            <a:chExt cx="5969000" cy="20765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C05DB3-37B8-ED82-2C52-F7B38895368D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2574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FACING ACROSS A DIVIDER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Used when two landmarks face each other across a road or waterway.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Dùng khi hai địa điểm nằm đối diện nhau qua một con đường hoặc dòng sông.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 modern café was constructed opposite the library entrance.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Một quán café hiện đại được xây dựng đối diện lối vào thư viện.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78682C-B9F0-FCF8-303B-20FC143D70E3}"/>
                </a:ext>
              </a:extLst>
            </p:cNvPr>
            <p:cNvSpPr/>
            <p:nvPr/>
          </p:nvSpPr>
          <p:spPr>
            <a:xfrm>
              <a:off x="5461000" y="1651000"/>
              <a:ext cx="50800" cy="207654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407840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6D6DC-BE67-B677-4FAA-1128C97F5599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🏢 06. FLOOR PLAN: ENTRANCE &amp; CENTER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8F4D4-0E84-7D1C-BD2E-CD056997F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92AF9FC-1E5B-DC3E-8368-1326D6922E70}"/>
              </a:ext>
            </a:extLst>
          </p:cNvPr>
          <p:cNvGrpSpPr/>
          <p:nvPr/>
        </p:nvGrpSpPr>
        <p:grpSpPr>
          <a:xfrm>
            <a:off x="5461000" y="1397000"/>
            <a:ext cx="5969000" cy="928797"/>
            <a:chOff x="5461000" y="1397000"/>
            <a:chExt cx="5969000" cy="9287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3C4E16-197A-9329-500E-56AC914AAE5F}"/>
                </a:ext>
              </a:extLst>
            </p:cNvPr>
            <p:cNvSpPr txBox="1"/>
            <p:nvPr/>
          </p:nvSpPr>
          <p:spPr>
            <a:xfrm>
              <a:off x="5664200" y="1397000"/>
              <a:ext cx="576580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MAIN ENTRANCE AS STARTING ANCHOR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To the immediate left / right of the entrance.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Ngay sát bên trái / bên phải của lối vào chính.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BA32E7-85DF-03AC-269E-5702BC553324}"/>
                </a:ext>
              </a:extLst>
            </p:cNvPr>
            <p:cNvSpPr/>
            <p:nvPr/>
          </p:nvSpPr>
          <p:spPr>
            <a:xfrm>
              <a:off x="5461000" y="1397000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BB54C4-72C6-04C0-E97D-7372F9CF740E}"/>
              </a:ext>
            </a:extLst>
          </p:cNvPr>
          <p:cNvGrpSpPr/>
          <p:nvPr/>
        </p:nvGrpSpPr>
        <p:grpSpPr>
          <a:xfrm>
            <a:off x="5461000" y="2579797"/>
            <a:ext cx="5969000" cy="928797"/>
            <a:chOff x="5461000" y="2579797"/>
            <a:chExt cx="5969000" cy="9287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A8B8B2-5C18-4E34-2EDD-20F78E9E0397}"/>
                </a:ext>
              </a:extLst>
            </p:cNvPr>
            <p:cNvSpPr txBox="1"/>
            <p:nvPr/>
          </p:nvSpPr>
          <p:spPr>
            <a:xfrm>
              <a:off x="5664200" y="2579797"/>
              <a:ext cx="576580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CENTRAL OPEN AREA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the center / middle / heart of the library floor plan.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chính giữa / trung tâm của mặt bằng thư viện.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1F0734-807F-1A0F-3414-DE6A6B805D34}"/>
                </a:ext>
              </a:extLst>
            </p:cNvPr>
            <p:cNvSpPr/>
            <p:nvPr/>
          </p:nvSpPr>
          <p:spPr>
            <a:xfrm>
              <a:off x="5461000" y="2579797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62910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BC8FFA-7086-AB54-E606-BBD479706C30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🏢 06. FLOOR PLAN: WALLS &amp; CORNERS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F0018-DBD2-12FF-EA0C-51B2BB148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22B560D-5518-96DB-A72C-59257E931FBD}"/>
              </a:ext>
            </a:extLst>
          </p:cNvPr>
          <p:cNvGrpSpPr/>
          <p:nvPr/>
        </p:nvGrpSpPr>
        <p:grpSpPr>
          <a:xfrm>
            <a:off x="5461000" y="1397000"/>
            <a:ext cx="5969000" cy="928797"/>
            <a:chOff x="5461000" y="1397000"/>
            <a:chExt cx="5969000" cy="9287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50B9A5-3465-8C0C-9C67-10CBB943232C}"/>
                </a:ext>
              </a:extLst>
            </p:cNvPr>
            <p:cNvSpPr txBox="1"/>
            <p:nvPr/>
          </p:nvSpPr>
          <p:spPr>
            <a:xfrm>
              <a:off x="5664200" y="1397000"/>
              <a:ext cx="576580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ALONG PERIMETER WALLS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Along the left-hand / right-hand wall of the facility.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Dọc theo bức tường bên trái / bên phải của tòa nhà.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22B329-C298-1B6E-7BC3-0257B1DB33E6}"/>
                </a:ext>
              </a:extLst>
            </p:cNvPr>
            <p:cNvSpPr/>
            <p:nvPr/>
          </p:nvSpPr>
          <p:spPr>
            <a:xfrm>
              <a:off x="5461000" y="1397000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9024A0-3268-580C-F518-94E08D8C399B}"/>
              </a:ext>
            </a:extLst>
          </p:cNvPr>
          <p:cNvGrpSpPr/>
          <p:nvPr/>
        </p:nvGrpSpPr>
        <p:grpSpPr>
          <a:xfrm>
            <a:off x="5461000" y="2579797"/>
            <a:ext cx="5969000" cy="928797"/>
            <a:chOff x="5461000" y="2579797"/>
            <a:chExt cx="5969000" cy="9287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7E820C-A70F-5EA2-E33A-B185DF4708E9}"/>
                </a:ext>
              </a:extLst>
            </p:cNvPr>
            <p:cNvSpPr txBox="1"/>
            <p:nvPr/>
          </p:nvSpPr>
          <p:spPr>
            <a:xfrm>
              <a:off x="5664200" y="2579797"/>
              <a:ext cx="576580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CORNER &amp; REAR ZONES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the top-left / top-right corner; at the back of the room.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góc trên bên trái / phải; phía cuối căn phòng.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CD4427-2697-895D-6C80-52B3C3CA3D63}"/>
                </a:ext>
              </a:extLst>
            </p:cNvPr>
            <p:cNvSpPr/>
            <p:nvPr/>
          </p:nvSpPr>
          <p:spPr>
            <a:xfrm>
              <a:off x="5461000" y="2579797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31600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BE9C54-4D05-FA74-46C8-3F34E6D4B95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🔄 07. VERB GROUP 1: CONSTRUCTION &amp; ADDITION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997383-B592-2CC7-399A-2511190A9DC2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10EBD8E-8CDD-7945-31C2-035118CD24E1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PASSIVE VERBS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constructed / erected / built / established / added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được xây dựng / dựng lên / thiết lập / thêm vào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 lecture room was erected in the top-right corner.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Một phòng thuyết trình được dựng lên ở góc trên bên phải.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D9AFA2-505E-62FC-25C3-ED3740450873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F84F0ED-D2A9-A25B-C4FE-C0FE499CA877}"/>
              </a:ext>
            </a:extLst>
          </p:cNvPr>
          <p:cNvGrpSpPr/>
          <p:nvPr/>
        </p:nvGrpSpPr>
        <p:grpSpPr>
          <a:xfrm>
            <a:off x="731520" y="3154292"/>
            <a:ext cx="10728960" cy="928797"/>
            <a:chOff x="731520" y="3154292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574719-3D68-F68C-0816-120B1C857EFC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NOMINALIZATION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construction / erection / addition of a facility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sự xây dựng / dựng lên / thêm vào của một công trình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7A9803-D61D-DDF2-4A28-AEFB7E8342CB}"/>
                </a:ext>
              </a:extLst>
            </p:cNvPr>
            <p:cNvSpPr/>
            <p:nvPr/>
          </p:nvSpPr>
          <p:spPr>
            <a:xfrm>
              <a:off x="731520" y="3154292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55430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7034E9-C966-8E13-B523-075125414DD1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🔄 07. VERB GROUP 2: DEMOLITION &amp; REMOVAL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7957E2-3BA1-24CF-6A96-5DBCFB708505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B4578D3-29C9-287F-5207-4823F0BF2708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CATEGORY-SPECIFIC VERBS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demolished / knocked down (buildings &amp; structures)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bị phá dỡ / san phẳng (công trình xây dựng)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cleared / cut down (trees &amp; farmland); be removed (furniture)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bị giải tỏa / đốn hạ (cây cối, đất đai); bị dời đi (bàn ghế, đồ đạc)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10DF13-47FD-0C34-C1BE-F6BA9E38A67C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B0127D0-2FE3-58AC-0A72-F0871EA3B2BB}"/>
              </a:ext>
            </a:extLst>
          </p:cNvPr>
          <p:cNvGrpSpPr/>
          <p:nvPr/>
        </p:nvGrpSpPr>
        <p:grpSpPr>
          <a:xfrm>
            <a:off x="731520" y="3154292"/>
            <a:ext cx="10728960" cy="928797"/>
            <a:chOff x="731520" y="3154292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87E40A-41AB-22F9-A481-664E7866F43B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NOMINALIZATION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demolition of old shops / the clearance of farmland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sự phá dỡ các cửa hàng cũ / sự giải tỏa đất nông nghiệp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772506-C9C2-EBFE-22BD-31E97EB90569}"/>
                </a:ext>
              </a:extLst>
            </p:cNvPr>
            <p:cNvSpPr/>
            <p:nvPr/>
          </p:nvSpPr>
          <p:spPr>
            <a:xfrm>
              <a:off x="731520" y="3154292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074109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17355-E853-B4C6-91FF-AE88AE0852D8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🔄 07. VERB GROUP 3: REPLACEMENT &amp; CONVERSION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969FCB-5D98-0DD0-EE51-44D25DE71837}"/>
              </a:ext>
            </a:extLst>
          </p:cNvPr>
          <p:cNvGrpSpPr/>
          <p:nvPr/>
        </p:nvGrpSpPr>
        <p:grpSpPr>
          <a:xfrm>
            <a:off x="731520" y="1270000"/>
            <a:ext cx="10728960" cy="1566792"/>
            <a:chOff x="731520" y="1270000"/>
            <a:chExt cx="10728960" cy="15667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4200A2B-A986-5E70-5523-3726AE502D82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151599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CORE TRANSFORMATION STRUCTURES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converted into / be transformed into (functional change)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được chuyển đổi thành (thay đổi công năng)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replaced by / gave way to / made way for (substitution)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bị thay thế bởi / nhường chỗ cho (thay thế công trình)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FB5957-8F27-2C45-9B2F-DBAEC1704E04}"/>
                </a:ext>
              </a:extLst>
            </p:cNvPr>
            <p:cNvSpPr/>
            <p:nvPr/>
          </p:nvSpPr>
          <p:spPr>
            <a:xfrm>
              <a:off x="731520" y="1270000"/>
              <a:ext cx="50800" cy="1566792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B95C8CC-09E0-B8E8-8EAB-90445035734A}"/>
              </a:ext>
            </a:extLst>
          </p:cNvPr>
          <p:cNvGrpSpPr/>
          <p:nvPr/>
        </p:nvGrpSpPr>
        <p:grpSpPr>
          <a:xfrm>
            <a:off x="731520" y="3154292"/>
            <a:ext cx="10728960" cy="928797"/>
            <a:chOff x="731520" y="3154292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2438CC-56F0-59D2-15A6-B4FA9A090F75}"/>
                </a:ext>
              </a:extLst>
            </p:cNvPr>
            <p:cNvSpPr txBox="1"/>
            <p:nvPr/>
          </p:nvSpPr>
          <p:spPr>
            <a:xfrm>
              <a:off x="934720" y="3154292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MODEL APPLICATIONS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large house was converted into a retirement home.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Ngôi nhà lớn được chuyển đổi thành nhà dưỡng lão.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8C37C2-B740-1D8F-17DB-D4BFDD12EE06}"/>
                </a:ext>
              </a:extLst>
            </p:cNvPr>
            <p:cNvSpPr/>
            <p:nvPr/>
          </p:nvSpPr>
          <p:spPr>
            <a:xfrm>
              <a:off x="731520" y="3154292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65629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3905E-D695-874C-3EB8-0057A68AA695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EA580C"/>
                </a:solidFill>
                <a:latin typeface="Montserrat" panose="00000500000000000000" pitchFamily="2" charset="0"/>
              </a:rPr>
              <a:t>🔄 07. VERB GROUPS 4 &amp; 5: RESIZING &amp; UNCHANGED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0CD1BC-5E94-9DD3-0407-898DCCCB3964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231B4EE-2E8B-8620-CB3D-BB1C0DFCE168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GROUP 4: EXPANSION &amp; REDUCTION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be expanded / extended / enlarged / reduced in size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được mở rộng / cơi nới / thu hẹp diện tích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C36F71-A7BB-40E8-9460-C46B78403A44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4DF4F02-8886-FFF9-73D2-4CFDF49EE309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D83229-7085-06FC-3AEC-59DDD1B94034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GROUP 5: REMAINING UNCHANGED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remained unchanged / stayed intact / stood unmodified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giữ nguyên không đổi / nguyên vẹn suốt giai đoạn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CAB626-C8C3-4429-51C7-9DF0A9B16CD5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EA580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299018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650325-CABC-0CEC-E28D-A2513B1FC56E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💡 08. ADVANCED GRAMMAR #1: PARTICIPLE CLAUSES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EB663-8104-6CF0-1140-1B9CC67A2445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E04AC5D-F149-F86C-694F-C65C272F1E88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PARTICIPLE CLAUSE MECHANISM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Located / Situated + [Location], [Main Subject] was + [Past Participle].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Đặt cụm phân từ chỉ vị trí lên đầu câu tạo nhịp điệu phong phú.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3A78C4-A39F-FBA6-D943-9A1FF7654160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1D3C24-F300-D924-DA64-178C0637DAFE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6EE018-2659-11DE-F4FA-7ABA6452BD70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MODEL SENTENCE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Located to the east of the primary road, the local school was significantly extended.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Nằm ở phía đông trục đường chính, ngôi trường địa phương đã được mở rộng đáng kể.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A48BCC-CBF1-8460-7833-9DEBC81662CB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889658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0367C7-E9D7-ADA3-C924-B9BA5C0CFB03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💡 08. ADVANCED GRAMMAR #2: SPATIAL INVERSION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E9DF79-D87C-AD21-D7B6-7CD23A31559C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DF6D44E-B0BE-18FC-46D4-F4CE1B31D629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PREPOSITIONAL INVERSION RULES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[Prepositional Phrase of Place] + stands / lies / sat + [Subject].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Đảo cụm giới từ chỉ vị trí lên đầu câu (không dùng trợ động từ).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18DB2A-D027-3F60-4B2B-B6AD21324150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099E6DB-873B-09BC-D3E9-B4620690EA51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E25A79-1ED9-A359-6830-3688FE381E0E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MODEL SENTENCE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the top-right corner of the library now stands a newly constructed lecture room.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góc trên bên phải thư viện giờ đây hiện diện một phòng thuyết trình mới xây.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69F0F7-9928-CE59-C15D-D0DB833B66A2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55486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2FD6-CAF1-9B95-0EAF-33C813824C94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💡 08. ADVANCED GRAMMAR #3: AT THE EXPENSE OF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356C6C-5C4F-02EB-6855-696469B3B18C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85D478-8B5C-9B26-9830-8EA7E45B5BA1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TRADE-OFF RELATIONSHIPS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Expresses that the expansion of one feature came at the sacrifice of another.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Diễn tả sự phát triển của công trình này đánh đổi bằng sự thu hẹp của công trình khác.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C73CB9-1A01-F284-25D2-550AF87B4297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35F29E-A6C8-FDB5-A0CE-F1F1F49F8EF8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7E113C-3028-4D41-0E30-E31BB0C85F66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MODEL SENTENCE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retirement home was expanded at the expense of the surrounding gardens.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Nhà dưỡng lão được mở rộng trên phần đất vốn là khu vườn bao quanh.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437C8E-7C91-89CB-EFDA-82F7D161B5AC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39531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0D9286-3083-2150-96A2-3DEC568FC68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B2777"/>
                </a:solidFill>
                <a:latin typeface="Montserrat" panose="00000500000000000000" pitchFamily="2" charset="0"/>
              </a:rPr>
              <a:t>💡 08. ADVANCED GRAMMAR #4: NOMINALIZATION WITNESSED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310740-40CA-5F17-E0EB-49884E3EB7EE}"/>
              </a:ext>
            </a:extLst>
          </p:cNvPr>
          <p:cNvGrpSpPr/>
          <p:nvPr/>
        </p:nvGrpSpPr>
        <p:grpSpPr>
          <a:xfrm>
            <a:off x="731520" y="1270000"/>
            <a:ext cx="10728960" cy="928797"/>
            <a:chOff x="731520" y="1270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6AB2B9-521F-D907-5C57-661FA5F1CAD1}"/>
                </a:ext>
              </a:extLst>
            </p:cNvPr>
            <p:cNvSpPr txBox="1"/>
            <p:nvPr/>
          </p:nvSpPr>
          <p:spPr>
            <a:xfrm>
              <a:off x="934720" y="1270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PERSONIFIED LOCATION SUBJECT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[Place / Time] + witnessed / saw + the [Noun Phrase of Change].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Lấy địa điểm hoặc thời gian làm chủ ngữ cho động từ witnessed / saw.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4FC6E8-BA75-8665-FF51-B6D1219DF3EE}"/>
                </a:ext>
              </a:extLst>
            </p:cNvPr>
            <p:cNvSpPr/>
            <p:nvPr/>
          </p:nvSpPr>
          <p:spPr>
            <a:xfrm>
              <a:off x="731520" y="1270000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901C26-B862-111E-228E-E01E94583570}"/>
              </a:ext>
            </a:extLst>
          </p:cNvPr>
          <p:cNvGrpSpPr/>
          <p:nvPr/>
        </p:nvGrpSpPr>
        <p:grpSpPr>
          <a:xfrm>
            <a:off x="731520" y="2516297"/>
            <a:ext cx="10728960" cy="928797"/>
            <a:chOff x="731520" y="25162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73837D-92A3-6938-C778-9DB50D3E59B3}"/>
                </a:ext>
              </a:extLst>
            </p:cNvPr>
            <p:cNvSpPr txBox="1"/>
            <p:nvPr/>
          </p:nvSpPr>
          <p:spPr>
            <a:xfrm>
              <a:off x="934720" y="25162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MODEL SENTENCE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bottom-right corner witnessed the conversion of the enquiry desk into a café.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Góc dưới bên phải đã chứng kiến sự chuyển đổi của bàn thông tin thành một quán café.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B1CDB1-B8A3-2A9A-BC5B-720F30680281}"/>
                </a:ext>
              </a:extLst>
            </p:cNvPr>
            <p:cNvSpPr/>
            <p:nvPr/>
          </p:nvSpPr>
          <p:spPr>
            <a:xfrm>
              <a:off x="731520" y="2516297"/>
              <a:ext cx="50800" cy="928797"/>
            </a:xfrm>
            <a:prstGeom prst="rect">
              <a:avLst/>
            </a:prstGeom>
            <a:solidFill>
              <a:srgbClr val="DB2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2199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EE032-62E4-FA09-89DB-78238E1F789D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8AEE6-5302-1A4E-46DE-D09103809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615E594-CE92-4846-4CF8-3DDCC1C7702E}"/>
              </a:ext>
            </a:extLst>
          </p:cNvPr>
          <p:cNvGrpSpPr/>
          <p:nvPr/>
        </p:nvGrpSpPr>
        <p:grpSpPr>
          <a:xfrm>
            <a:off x="5461000" y="1651000"/>
            <a:ext cx="5969000" cy="2355470"/>
            <a:chOff x="5461000" y="1651000"/>
            <a:chExt cx="5969000" cy="23554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794F54-F541-5A84-F3BA-05782BF58990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30467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1-SENTENCE INTRODUCTION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two maps illustrate how Stokeford developed over an 80-year period from 1930 to 2010.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Hai bản đồ minh họa cách làng Stokeford phát triển trong 80 năm từ 1930 đến 2010.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 concise, accurate paraphrase avoiding repetitive prompt vocabulary.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Paraphrase ngắn gọn, chuẩn xác, tránh lặp lại từ ngữ của đề bài.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FA5E01-16C6-923E-E4FE-550A10C9BCE9}"/>
                </a:ext>
              </a:extLst>
            </p:cNvPr>
            <p:cNvSpPr/>
            <p:nvPr/>
          </p:nvSpPr>
          <p:spPr>
            <a:xfrm>
              <a:off x="5461000" y="1651000"/>
              <a:ext cx="50800" cy="235547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900336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20CBB-3102-7DB7-73EB-23D816B652F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8F895-E9CE-C429-E111-6A1B03414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66C9F96-C788-72B2-44F4-8736258F3819}"/>
              </a:ext>
            </a:extLst>
          </p:cNvPr>
          <p:cNvGrpSpPr/>
          <p:nvPr/>
        </p:nvGrpSpPr>
        <p:grpSpPr>
          <a:xfrm>
            <a:off x="5461000" y="1651000"/>
            <a:ext cx="5969000" cy="2586302"/>
            <a:chOff x="5461000" y="1651000"/>
            <a:chExt cx="5969000" cy="258630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B6AE46-F43D-C085-9813-E8168E7679B4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53550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2-SENTENCE MACRO OVERVIEW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Overall, the village underwent a transformation from a rural into a residential area.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Tổng thể, ngôi làng trải qua sự chuyển dịch từ vùng nông thôn thành khu dân cư.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most notable changes include the complete clearance of farmland for new housing.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Thay đổi đáng kể nhất bao gồm việc xóa sổ hoàn toàn đất nông nghiệp để xây nhà ở.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6CB3D3-0739-02FD-A57A-E35CD0B6C9B7}"/>
                </a:ext>
              </a:extLst>
            </p:cNvPr>
            <p:cNvSpPr/>
            <p:nvPr/>
          </p:nvSpPr>
          <p:spPr>
            <a:xfrm>
              <a:off x="5461000" y="1651000"/>
              <a:ext cx="50800" cy="2586302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116091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50DC8-12B2-B280-36EE-ED064CA4B676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BODY 1 (UNCHANGED)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73D63-A607-CCDB-436A-B490A84E2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DC17876-7563-507D-2C80-E4BA77E8D411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64D9E8-D4BE-FFE6-318D-830FE41A887E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NORTHERN UNCHANGED FEATURES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River Stoke and the bridge in the north remained completely unchanged.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Dòng sông Stoke và cây cầu ở phía bắc hoàn toàn giữ nguyên không đổi.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post office in the village center also stayed intact throughout the period.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Bưu điện ở trung tâm làng cũng giữ nguyên vẹn trong suốt giai đoạn.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D9D832-9FF3-40E9-F000-85A8D530CC57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08305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41FDD-0D60-D56B-FDD4-324CFFD75894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BODY 1 (CHANGED)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21BD1-669D-7078-C905-AF330EAF4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955295F-C43C-4066-6D90-E8505BED8205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9A6898F-1406-1498-F8CC-8D9386398493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NORTHERN DEVELOPMENTS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Farmland in the north-east was cleared to make way for new residential housing.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nông nghiệp phía đông bắc bị giải tỏa để nhường chỗ cho nhà ở mới.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shops adjacent to the post office were replaced by residential dwellings.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Dãy cửa hàng cạnh bưu điện bị thay thế bởi các căn nhà ở.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6F9F29-D123-5EA0-2A04-9A37B978DC1E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773586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BE54B6-E1CD-9E5C-B7B2-F904930EFDF7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BODY 2 (SOUTH)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C256D-EE68-24B7-FF8D-AB5D40E07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B353308-CDEE-3C6A-6620-7D86C6FC9AAD}"/>
              </a:ext>
            </a:extLst>
          </p:cNvPr>
          <p:cNvGrpSpPr/>
          <p:nvPr/>
        </p:nvGrpSpPr>
        <p:grpSpPr>
          <a:xfrm>
            <a:off x="5461000" y="1651000"/>
            <a:ext cx="5969000" cy="2355470"/>
            <a:chOff x="5461000" y="1651000"/>
            <a:chExt cx="5969000" cy="23554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D165CD-5C8C-95B6-605B-B09E77310DCC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30467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SCHOOL &amp; RETIREMENT HOME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primary school to the east of the road was significantly extended.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Trường tiểu học ở phía đông trục đường đã được mở rộng đáng kể.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large house was converted into a retirement home at the expense of gardens.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Ngôi nhà lớn được chuyển đổi thành nhà dưỡng lão, thu hẹp diện tích khu vườn.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4CE74D-7767-29DB-EA7B-070AF9F9EE79}"/>
                </a:ext>
              </a:extLst>
            </p:cNvPr>
            <p:cNvSpPr/>
            <p:nvPr/>
          </p:nvSpPr>
          <p:spPr>
            <a:xfrm>
              <a:off x="5461000" y="1651000"/>
              <a:ext cx="50800" cy="2355470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653373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49CC6-26CE-43A0-BA03-D14C9DF468A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2626"/>
                </a:solidFill>
                <a:latin typeface="Montserrat" panose="00000500000000000000" pitchFamily="2" charset="0"/>
              </a:rPr>
              <a:t>🏡 09. REAL EXAM #1: STOKEFORD – BODY 2 (SOUTH-WEST)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78B6C-19B8-2E37-FE0B-0872310BB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426071"/>
            <a:ext cx="4318000" cy="22598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1DFB8D4-0D3B-3405-D274-075389B519D1}"/>
              </a:ext>
            </a:extLst>
          </p:cNvPr>
          <p:cNvGrpSpPr/>
          <p:nvPr/>
        </p:nvGrpSpPr>
        <p:grpSpPr>
          <a:xfrm>
            <a:off x="5461000" y="1651000"/>
            <a:ext cx="5969000" cy="2586302"/>
            <a:chOff x="5461000" y="1651000"/>
            <a:chExt cx="5969000" cy="258630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3383F5-2383-1A96-30F4-9BF78F72E4EB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53550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SOUTH-WESTERN RESIDENTIAL EXPANSION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Farmland in the south-west gave way to an extensive modern housing network.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Đất nông nghiệp ở phía tây nam nhường chỗ cho mạng lưới nhà ở hiện đại.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Additional side roads were constructed to connect the newly built houses.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Các con đường nhánh bổ sung được xây dựng để kết nối các ngôi nhà mới.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C6F216-78B0-0752-9CBA-E3C6D768C81F}"/>
                </a:ext>
              </a:extLst>
            </p:cNvPr>
            <p:cNvSpPr/>
            <p:nvPr/>
          </p:nvSpPr>
          <p:spPr>
            <a:xfrm>
              <a:off x="5461000" y="1651000"/>
              <a:ext cx="50800" cy="2586302"/>
            </a:xfrm>
            <a:prstGeom prst="rect">
              <a:avLst/>
            </a:prstGeom>
            <a:solidFill>
              <a:srgbClr val="DC2626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06562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9E815-587C-76FE-373D-0EF9E0B3E2CB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📚 10. REAL EXAM #2: LIBRARY –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BA15E-A743-0901-250E-57698D674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41351D-5929-D795-FCCD-C41579C63E6A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3FFCC2-9A88-6623-3279-EA8D8B0B2768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MACRO MODERNIZATION OVERVIEW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library has been significantly modernized with expanded digital amenities.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Thư viện đã được hiện đại hóa đáng kể với các tiện ích kỹ thuật số.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central tables and chairs have been completely removed to create open space.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Bàn ghế ở trung tâm đã được dọn đi hoàn toàn để tạo không gian mở.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656FAC-4E86-F7D9-1880-66681FB50273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11885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2FC76-1B2C-A24A-39C9-770195C9AF02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📚 10. REAL EXAM #2: LIBRARY – BODY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944F4-FCF4-050A-72DD-5B85DB90F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6854438-932B-B67A-D11C-611A2ECDDDA7}"/>
              </a:ext>
            </a:extLst>
          </p:cNvPr>
          <p:cNvGrpSpPr/>
          <p:nvPr/>
        </p:nvGrpSpPr>
        <p:grpSpPr>
          <a:xfrm>
            <a:off x="5461000" y="1651000"/>
            <a:ext cx="5969000" cy="1845715"/>
            <a:chOff x="5461000" y="1651000"/>
            <a:chExt cx="5969000" cy="18457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E39192-CB4D-3694-B0F2-E0EE617A7F1E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179491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ENTRANCE &amp; CENTRAL DESK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main entrance has remained in its original location.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Lối vào chính vẫn giữ nguyên ở vị trí ban đầu.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enquiry desk has given way to a café and modern self-service machines.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Bàn thông tin cũ đã nhường chỗ cho một quán café và máy tự phục vụ.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C17B38-692F-DA35-7CD6-6FC9C114713C}"/>
                </a:ext>
              </a:extLst>
            </p:cNvPr>
            <p:cNvSpPr/>
            <p:nvPr/>
          </p:nvSpPr>
          <p:spPr>
            <a:xfrm>
              <a:off x="5461000" y="1651000"/>
              <a:ext cx="50800" cy="1845715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014460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2EA8A-6999-602C-31D2-1AA251A8779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📚 10. REAL EXAM #2: LIBRARY – BODY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69EA5-A7AF-40DB-F0F4-58A84DED8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5AEFC53-786F-276A-C4BD-4C6BE51BE3AD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45E1CF-5DBA-58E1-CC19-BD96FBBB6EFC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CORNER &amp; FUNCTION ROOMS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room in the top-left corner was enlarged into a storytelling area.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Phòng ở góc trên bên trái được mở rộng thành khu vực kể chuyện.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The former children's book section has been converted into a lecture room.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Khu vực sách thiếu nhi cũ được chuyển đổi thành phòng thuyết trình.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03E15F-08D4-DC4C-1A62-57E49895EF1E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352972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3230D-A947-836F-39D2-5451D545EB0A}"/>
              </a:ext>
            </a:extLst>
          </p:cNvPr>
          <p:cNvSpPr txBox="1"/>
          <p:nvPr/>
        </p:nvSpPr>
        <p:spPr>
          <a:xfrm>
            <a:off x="731520" y="330200"/>
            <a:ext cx="107289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7C3AED"/>
                </a:solidFill>
                <a:latin typeface="Montserrat" panose="00000500000000000000" pitchFamily="2" charset="0"/>
              </a:rPr>
              <a:t>📚 10. REAL EXAM #2: LIBRARY – INVERSION FINALE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01F71-2555-6332-AE3C-4D5DEF8F9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103093"/>
            <a:ext cx="4318000" cy="490581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C2964AB-50A0-50B9-728B-DE1D916CB070}"/>
              </a:ext>
            </a:extLst>
          </p:cNvPr>
          <p:cNvGrpSpPr/>
          <p:nvPr/>
        </p:nvGrpSpPr>
        <p:grpSpPr>
          <a:xfrm>
            <a:off x="5461000" y="1651000"/>
            <a:ext cx="5969000" cy="2124637"/>
            <a:chOff x="5461000" y="1651000"/>
            <a:chExt cx="5969000" cy="21246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DE8BDA-48C3-88CD-5BB8-08285428BE17}"/>
                </a:ext>
              </a:extLst>
            </p:cNvPr>
            <p:cNvSpPr txBox="1"/>
            <p:nvPr/>
          </p:nvSpPr>
          <p:spPr>
            <a:xfrm>
              <a:off x="5664200" y="1651000"/>
              <a:ext cx="5765800" cy="207383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SPATIAL INVERSION HIGHLIGHT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In the top-right corner now stands a newly constructed lecture room.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Ở góc trên bên phải giờ đây hiện diện một phòng thuyết trình mới xây.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Positioned along the right-hand wall are updated self-service kiosks.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Nằm dọc theo bức tường bên phải là các trạm máy tự phục vụ hiện đại.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FB5E13-9D8A-132E-0096-F98216F5DB66}"/>
                </a:ext>
              </a:extLst>
            </p:cNvPr>
            <p:cNvSpPr/>
            <p:nvPr/>
          </p:nvSpPr>
          <p:spPr>
            <a:xfrm>
              <a:off x="5461000" y="1651000"/>
              <a:ext cx="50800" cy="212463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610461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6B336-790C-DF83-D446-71A22E80E03D}"/>
              </a:ext>
            </a:extLst>
          </p:cNvPr>
          <p:cNvSpPr txBox="1"/>
          <p:nvPr/>
        </p:nvSpPr>
        <p:spPr>
          <a:xfrm>
            <a:off x="731520" y="444500"/>
            <a:ext cx="1072896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7C3AED"/>
                </a:solidFill>
                <a:latin typeface="Montserrat" panose="00000500000000000000" pitchFamily="2" charset="0"/>
              </a:rPr>
              <a:t>🎉 THANK YOU FOR WATCHING!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358A65-565F-CE1A-755E-1B06F6B408F9}"/>
              </a:ext>
            </a:extLst>
          </p:cNvPr>
          <p:cNvGrpSpPr/>
          <p:nvPr/>
        </p:nvGrpSpPr>
        <p:grpSpPr>
          <a:xfrm>
            <a:off x="731520" y="1397000"/>
            <a:ext cx="10728960" cy="928797"/>
            <a:chOff x="731520" y="1397000"/>
            <a:chExt cx="10728960" cy="9287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83CC6C-37D6-8469-BDE2-EF7E310C2480}"/>
                </a:ext>
              </a:extLst>
            </p:cNvPr>
            <p:cNvSpPr txBox="1"/>
            <p:nvPr/>
          </p:nvSpPr>
          <p:spPr>
            <a:xfrm>
              <a:off x="934720" y="1397000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👍 LIKE &amp; SHARE THIS VIDEO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If this masterclass helped clarify IELTS Map &amp; Floor Plan for you, please hit Like and Share.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Nếu bài học hữu ích cho quá trình luyện thi của bạn, hãy bấm Like và Chia sẻ cho bạn bè cùng học.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390DB33-B745-ED2B-A71A-4C60C19D3EE7}"/>
                </a:ext>
              </a:extLst>
            </p:cNvPr>
            <p:cNvSpPr/>
            <p:nvPr/>
          </p:nvSpPr>
          <p:spPr>
            <a:xfrm>
              <a:off x="731520" y="1397000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C216B20-1D3F-93E0-93C5-5EE1D899C5FB}"/>
              </a:ext>
            </a:extLst>
          </p:cNvPr>
          <p:cNvGrpSpPr/>
          <p:nvPr/>
        </p:nvGrpSpPr>
        <p:grpSpPr>
          <a:xfrm>
            <a:off x="731520" y="2579797"/>
            <a:ext cx="10728960" cy="928797"/>
            <a:chOff x="731520" y="2579797"/>
            <a:chExt cx="10728960" cy="9287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BB6BBC-8946-2952-91A2-579104064748}"/>
                </a:ext>
              </a:extLst>
            </p:cNvPr>
            <p:cNvSpPr txBox="1"/>
            <p:nvPr/>
          </p:nvSpPr>
          <p:spPr>
            <a:xfrm>
              <a:off x="934720" y="2579797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🔔 SUBSCRIBE FOR MORE IELTS 7.5+ LESSONS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Subscribe and turn on notifications to never miss the next Writing &amp; Speaking masterclasses.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Đăng ký kênh và bấm chuông thông báo để đón xem các bài giảng chuyên sâu tiếp theo.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F6F607-F611-E636-246B-91426E2349B4}"/>
                </a:ext>
              </a:extLst>
            </p:cNvPr>
            <p:cNvSpPr/>
            <p:nvPr/>
          </p:nvSpPr>
          <p:spPr>
            <a:xfrm>
              <a:off x="731520" y="2579797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EE318E-5BF5-C0C0-D353-B73B59B83F3A}"/>
              </a:ext>
            </a:extLst>
          </p:cNvPr>
          <p:cNvGrpSpPr/>
          <p:nvPr/>
        </p:nvGrpSpPr>
        <p:grpSpPr>
          <a:xfrm>
            <a:off x="731520" y="3762594"/>
            <a:ext cx="10728960" cy="928797"/>
            <a:chOff x="731520" y="3762594"/>
            <a:chExt cx="10728960" cy="9287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783928-56F1-39F1-8C53-C5E3F2501C20}"/>
                </a:ext>
              </a:extLst>
            </p:cNvPr>
            <p:cNvSpPr txBox="1"/>
            <p:nvPr/>
          </p:nvSpPr>
          <p:spPr>
            <a:xfrm>
              <a:off x="934720" y="3762594"/>
              <a:ext cx="10525760" cy="87799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200"/>
                </a:spcAft>
              </a:pPr>
              <a:r>
                <a:rPr lang="en-US" sz="1750" b="1">
                  <a:solidFill>
                    <a:srgbClr val="0F172A"/>
                  </a:solidFill>
                  <a:latin typeface="Montserrat" panose="00000500000000000000" pitchFamily="2" charset="0"/>
                </a:rPr>
                <a:t>📂 FREE ACCESS TO SCRIPTS &amp; SLIDES</a:t>
              </a:r>
              <a:endParaRPr lang="en-US" sz="1450">
                <a:solidFill>
                  <a:srgbClr val="0F172A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sz="1450">
                  <a:solidFill>
                    <a:srgbClr val="0F172A"/>
                  </a:solidFill>
                  <a:latin typeface="Montserrat" panose="00000500000000000000" pitchFamily="2" charset="0"/>
                </a:rPr>
                <a:t>All slide decks, scripts, and model essays are available for free on GitHub KnowledgeLibrary.</a:t>
              </a:r>
              <a:endParaRPr lang="vi-VN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  <a:p>
              <a:pPr>
                <a:lnSpc>
                  <a:spcPct val="125000"/>
                </a:lnSpc>
              </a:pPr>
              <a:r>
                <a:rPr lang="vi-VN" sz="1200" i="1">
                  <a:solidFill>
                    <a:srgbClr val="64748B"/>
                  </a:solidFill>
                  <a:latin typeface="Montserrat" panose="00000500000000000000" pitchFamily="2" charset="0"/>
                </a:rPr>
                <a:t>Toàn bộ tài liệu, slide trình chiếu và bài mẫu được lưu trữ miễn phí tại GitHub KnowledgeLibrary.</a:t>
              </a:r>
              <a:endParaRPr lang="en-US" sz="1200" i="1">
                <a:solidFill>
                  <a:srgbClr val="6474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B529E-DBE9-D50B-BE21-09ADF9B8B8DD}"/>
                </a:ext>
              </a:extLst>
            </p:cNvPr>
            <p:cNvSpPr/>
            <p:nvPr/>
          </p:nvSpPr>
          <p:spPr>
            <a:xfrm>
              <a:off x="731520" y="3762594"/>
              <a:ext cx="50800" cy="928797"/>
            </a:xfrm>
            <a:prstGeom prst="rect">
              <a:avLst/>
            </a:prstGeom>
            <a:solidFill>
              <a:srgbClr val="7C3AE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080575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3589</Words>
  <Application>Microsoft Office PowerPoint</Application>
  <PresentationFormat>Custom</PresentationFormat>
  <Paragraphs>304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Thành Hiệu</dc:creator>
  <cp:lastModifiedBy>Lê Thành Hiệu</cp:lastModifiedBy>
  <cp:revision>1</cp:revision>
  <dcterms:created xsi:type="dcterms:W3CDTF">2026-10-22T16:53:07Z</dcterms:created>
  <dcterms:modified xsi:type="dcterms:W3CDTF">2026-10-22T16:53:07Z</dcterms:modified>
</cp:coreProperties>
</file>