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65421-9728-C1D1-999A-8569253B64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D59C06-E809-F531-3273-76903374DE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81B16E-981F-30F7-C794-DD274A896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071D9-59E2-4875-A3A0-EE82DC8A3733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F5B4A5-495A-3053-F994-3163D7B8E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DBE278-0298-828A-C1D7-8C72CAA33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7B0A-3569-4304-B20A-0C343A15B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863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DF8E9-E307-98C0-F057-AD8C40734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51791-0843-AA68-336C-B8D557F2E7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7819DB-B323-3508-C5DC-3CD62858F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071D9-59E2-4875-A3A0-EE82DC8A3733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54ECE3-31BC-ABCF-12D1-968518566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D6563E-93D7-EEF7-7D7A-B28E1BB3C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7B0A-3569-4304-B20A-0C343A15B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334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87525-7317-4DB7-4028-A56FD2E49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7EBFD8-0309-65FD-B1D9-C4A335DB2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27B2D-FEFD-1A0C-8CCC-B892F9511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071D9-59E2-4875-A3A0-EE82DC8A3733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3F5E0-98AB-50F2-8220-0CA1DC0B8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803A4D-84DF-22DA-0AC5-7D212D0A5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7B0A-3569-4304-B20A-0C343A15B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965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990DD-891A-4B98-4786-FC0F60939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E84C9-FDCD-4FFA-BE2A-4C7E6280A6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250222-FEC6-A13D-09CB-228D6A5985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8F54F3-3EA8-1BF6-DC42-C541E609D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071D9-59E2-4875-A3A0-EE82DC8A3733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417F47-B06E-6951-55DA-D93BC3E75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50381-FB15-F4EA-3CCC-58B138D34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7B0A-3569-4304-B20A-0C343A15B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0866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0C612-ED24-EAEE-4F45-41D00C9E5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D0416F-04B7-46EB-EF85-149FC39A4B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8B64E5-0E8E-FFDB-3C0D-8E913F9CB7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A99180-C7EF-831F-6534-14E46FF994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AF54EB-A7E6-D9E2-749A-5C43F8A64A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E5E245-6C21-703A-ED02-80F7A7704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071D9-59E2-4875-A3A0-EE82DC8A3733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606646-7556-3DDB-B6A2-29C076604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75B75A-46FD-CBE4-54D4-8A10144E2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7B0A-3569-4304-B20A-0C343A15B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082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355CF-8DC1-63D2-F136-497F3C979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D314C3-2112-847D-62E5-F65DCDB76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071D9-59E2-4875-A3A0-EE82DC8A3733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93EEE1-B5D9-E84F-EF0A-90D5E337E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2C6C69-747B-724C-C7C5-6C5BB22C6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7B0A-3569-4304-B20A-0C343A15B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462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E2CEDF-7464-E59E-03E0-A13802055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071D9-59E2-4875-A3A0-EE82DC8A3733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115275-25ED-C979-A971-29C384472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72E834-EBFE-A655-E448-C295D9ADF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7B0A-3569-4304-B20A-0C343A15B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706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2B82E-6A56-92B2-80CD-431E15D8A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6A5C7-019A-6016-08B5-96A9AA7750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1409AC-E00E-D72E-72E1-1F3D8C1630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E97EE2-3E2E-8F28-83DF-CD3A45BA2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071D9-59E2-4875-A3A0-EE82DC8A3733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989FB1-68FB-3DCA-9DBE-2982D3E86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1DF694-4099-DFB2-F01F-C0087F15A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7B0A-3569-4304-B20A-0C343A15B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301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BE02D-53AC-E43F-B53D-F1A4218F6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A1C66E-600E-7E2A-8CDE-2D706CF1D4E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531DA5-ADF6-AD62-2D6C-2E460A13D0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40FC6D-FE51-5595-1CB0-254232782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071D9-59E2-4875-A3A0-EE82DC8A3733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16FE3-59BE-485C-AFD5-ED3AB254D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42B50B-DFCB-BD9F-6896-9B025E97E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7B0A-3569-4304-B20A-0C343A15B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52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E0FE1-8F8A-2B33-C2F0-14FA835FA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20A523-4F51-2270-F153-28E86A46FF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F360BA-51FB-928B-B44F-44A203D45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071D9-59E2-4875-A3A0-EE82DC8A3733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D1D2B-C1B1-6387-F40B-5DB09A4A8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15001F-F8EB-D799-550A-814AAB357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7B0A-3569-4304-B20A-0C343A15B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29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34FE7A-47C1-E316-82A4-06B32F9556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C7907C-A5AB-042D-3BF1-EC6660DFD4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84724-06B6-A055-B5FA-A5B41BE2A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071D9-59E2-4875-A3A0-EE82DC8A3733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9F5DBD-0B09-888E-92DA-63FEF96BB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2649BF-F6A4-C11D-DB5D-5FB99ACFE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E7B0A-3569-4304-B20A-0C343A15B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04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6782B7-3F12-9C16-D3AA-35ECFCB3A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CFF9B-11A6-3CCA-3601-B6D4261C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2F733A-97B3-62EE-6953-665679E5A2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2071D9-59E2-4875-A3A0-EE82DC8A3733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E9F85-D72E-398D-F9DC-567DDB5C91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47278-70FA-88D2-4EBD-6E0B11ACFF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FE7B0A-3569-4304-B20A-0C343A15B7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181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4EDB06B-E952-6DF3-610C-E08A1B26335E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C2626"/>
                </a:solidFill>
                <a:latin typeface="Montserrat" panose="00000500000000000000" pitchFamily="2" charset="0"/>
              </a:rPr>
              <a:t>🗺️ 01. DẠNG BÀI 1: QUÁ KHỨ ➔ QUÁ KHỨ (1930 - 2010)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0D6088-1E02-F57D-DD4E-EEC30FB7EC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2426071"/>
            <a:ext cx="4318000" cy="225985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9A622F00-7DD2-2E67-A695-BC56A54424FF}"/>
              </a:ext>
            </a:extLst>
          </p:cNvPr>
          <p:cNvGrpSpPr/>
          <p:nvPr/>
        </p:nvGrpSpPr>
        <p:grpSpPr>
          <a:xfrm>
            <a:off x="5461000" y="1778000"/>
            <a:ext cx="5969000" cy="2802579"/>
            <a:chOff x="5461000" y="1778000"/>
            <a:chExt cx="5969000" cy="280257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F17689A-A2AD-5948-C0D4-D4953BD1A161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275177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vi-VN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ĐẶC TRƯNG VÀ THÌ CHỦ ĐẠO</a:t>
              </a:r>
              <a:r>
                <a:rPr lang="vi-VN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So sánh hai mốc thời gian trong quá khứ.
Sử dụng 100% thì Quá khứ đơn (Past Simple) và Quá khứ hoàn thành.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was constructed / were demolished / had been converted into.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CC14365-1886-CDD9-9C70-CD0D3806D6EE}"/>
                </a:ext>
              </a:extLst>
            </p:cNvPr>
            <p:cNvSpPr/>
            <p:nvPr/>
          </p:nvSpPr>
          <p:spPr>
            <a:xfrm>
              <a:off x="5461000" y="1778000"/>
              <a:ext cx="57150" cy="2802579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33806989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711D48-DB37-6E99-7F2A-3CED2C7AAA06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C2626"/>
                </a:solidFill>
                <a:latin typeface="Montserrat" panose="00000500000000000000" pitchFamily="2" charset="0"/>
              </a:rPr>
              <a:t>🗺️ 01. DẠNG BÀI 1: CÂU VĂN THỰC CHIẾN MẪU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B5BD32-8711-0D05-8504-9BBA29C95A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2426071"/>
            <a:ext cx="4318000" cy="225985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F50E1BE3-646F-9FB4-B79F-EBE9578877B7}"/>
              </a:ext>
            </a:extLst>
          </p:cNvPr>
          <p:cNvGrpSpPr/>
          <p:nvPr/>
        </p:nvGrpSpPr>
        <p:grpSpPr>
          <a:xfrm>
            <a:off x="5461000" y="1778000"/>
            <a:ext cx="5969000" cy="3180118"/>
            <a:chOff x="5461000" y="1778000"/>
            <a:chExt cx="5969000" cy="318011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A53F42F-80AF-EE13-662F-4ABE2855B11A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312931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CÂU MÔ TẢ THAY ĐỔI THEO THỜI GIAN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The farmland in the north-east was cleared before a new residential estate was constructed.
The local shops adjacent to the post office were demolished to make way for houses.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C5852BC-911F-1B45-C208-75DA340D2052}"/>
                </a:ext>
              </a:extLst>
            </p:cNvPr>
            <p:cNvSpPr/>
            <p:nvPr/>
          </p:nvSpPr>
          <p:spPr>
            <a:xfrm>
              <a:off x="5461000" y="1778000"/>
              <a:ext cx="57150" cy="3180118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79339602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316DDF-F547-5018-E801-3F601F9CF3F8}"/>
              </a:ext>
            </a:extLst>
          </p:cNvPr>
          <p:cNvSpPr txBox="1"/>
          <p:nvPr/>
        </p:nvSpPr>
        <p:spPr>
          <a:xfrm>
            <a:off x="731520" y="355600"/>
            <a:ext cx="10728960" cy="86177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C2626"/>
                </a:solidFill>
                <a:latin typeface="Montserrat" panose="00000500000000000000" pitchFamily="2" charset="0"/>
              </a:rPr>
              <a:t>🗺️ 01. </a:t>
            </a:r>
            <a:r>
              <a:rPr lang="vi-VN" sz="2800" b="1">
                <a:solidFill>
                  <a:srgbClr val="DC2626"/>
                </a:solidFill>
                <a:latin typeface="Montserrat" panose="00000500000000000000" pitchFamily="2" charset="0"/>
              </a:rPr>
              <a:t>DẠNG BÀI 2: QUÁ KHỨ ➔ HIỆN TẠI (20 NĂM TRƯỚC - NAY)</a:t>
            </a:r>
            <a:endParaRPr lang="en-US" sz="2800" b="1">
              <a:solidFill>
                <a:srgbClr val="DC2626"/>
              </a:solidFill>
              <a:latin typeface="Montserrat" panose="00000500000000000000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0C82E0-5794-8373-C9EA-96A1F090AB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206500"/>
            <a:ext cx="4135967" cy="46990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372FEB68-C3C2-F375-E7B8-5542D9165B11}"/>
              </a:ext>
            </a:extLst>
          </p:cNvPr>
          <p:cNvGrpSpPr/>
          <p:nvPr/>
        </p:nvGrpSpPr>
        <p:grpSpPr>
          <a:xfrm>
            <a:off x="5461000" y="1778000"/>
            <a:ext cx="5969000" cy="3202688"/>
            <a:chOff x="5461000" y="1778000"/>
            <a:chExt cx="5969000" cy="320268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40BD38E-10AE-42FF-EAC1-2C16A432C86E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315188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vi-VN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ĐẶC TRƯNG VÀ THÌ CHỦ ĐẠO</a:t>
              </a:r>
              <a:r>
                <a:rPr lang="vi-VN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So sánh một mốc quá khứ với thời điểm hiện nay.
Bắt buộc dùng thì Hiện tại hoàn thành (Present Perfect).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has been modernized / have been removed / has given way to.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CF075F-A90A-631C-0250-2CE189558975}"/>
                </a:ext>
              </a:extLst>
            </p:cNvPr>
            <p:cNvSpPr/>
            <p:nvPr/>
          </p:nvSpPr>
          <p:spPr>
            <a:xfrm>
              <a:off x="5461000" y="1778000"/>
              <a:ext cx="57150" cy="3202688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22503138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BFC9F8-068A-D28F-B0E1-2AF38E3EC230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C2626"/>
                </a:solidFill>
                <a:latin typeface="Montserrat" panose="00000500000000000000" pitchFamily="2" charset="0"/>
              </a:rPr>
              <a:t>🗺️ 01. DẠNG BÀI 2: CÂU VĂN THỰC CHIẾN MẪU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160811-06C1-A322-8A74-D1FB147B35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206500"/>
            <a:ext cx="4135967" cy="46990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480611BC-BA84-3A42-4EC6-25711E206B5D}"/>
              </a:ext>
            </a:extLst>
          </p:cNvPr>
          <p:cNvGrpSpPr/>
          <p:nvPr/>
        </p:nvGrpSpPr>
        <p:grpSpPr>
          <a:xfrm>
            <a:off x="5461000" y="1778000"/>
            <a:ext cx="5969000" cy="2780009"/>
            <a:chOff x="5461000" y="1778000"/>
            <a:chExt cx="5969000" cy="278000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E8C2DBD-507E-1BCB-19FF-C78A6A14A5AC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272920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CÂU MÔ TẢ VỚI HIỆN TẠI HOÀN THÀNH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The central tables and chairs have been completely removed to create open space.
The former enquiry desk has given way to a modern café and self-service machines.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1365250-FDDD-572C-43FF-E39FF6B6EDAE}"/>
                </a:ext>
              </a:extLst>
            </p:cNvPr>
            <p:cNvSpPr/>
            <p:nvPr/>
          </p:nvSpPr>
          <p:spPr>
            <a:xfrm>
              <a:off x="5461000" y="1778000"/>
              <a:ext cx="57150" cy="2780009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64783863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B561B0-F7EC-CA45-A950-768B83AC76AB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C2626"/>
                </a:solidFill>
                <a:latin typeface="Montserrat" panose="00000500000000000000" pitchFamily="2" charset="0"/>
              </a:rPr>
              <a:t>🗺️ 01. </a:t>
            </a:r>
            <a:r>
              <a:rPr lang="vi-VN" sz="2800" b="1">
                <a:solidFill>
                  <a:srgbClr val="DC2626"/>
                </a:solidFill>
                <a:latin typeface="Montserrat" panose="00000500000000000000" pitchFamily="2" charset="0"/>
              </a:rPr>
              <a:t>DẠNG BÀI 3: HIỆN TẠI ➔ TƯƠNG LAI (NOW - 2035)</a:t>
            </a:r>
            <a:endParaRPr lang="en-US" sz="2800" b="1">
              <a:solidFill>
                <a:srgbClr val="DC2626"/>
              </a:solidFill>
              <a:latin typeface="Montserrat" panose="00000500000000000000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E0B66F-567C-F442-3783-5B4BAC5655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428684"/>
            <a:ext cx="4318000" cy="4254633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C615E182-AC3F-5A97-5383-96823842E78D}"/>
              </a:ext>
            </a:extLst>
          </p:cNvPr>
          <p:cNvGrpSpPr/>
          <p:nvPr/>
        </p:nvGrpSpPr>
        <p:grpSpPr>
          <a:xfrm>
            <a:off x="5461000" y="1778000"/>
            <a:ext cx="5969000" cy="3202688"/>
            <a:chOff x="5461000" y="1778000"/>
            <a:chExt cx="5969000" cy="320268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CEA47A6-9C30-13B5-AE2A-A9CDC6B848A0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315188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vi-VN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ĐẶC TRƯNG VÀ THÌ CHỦ ĐẠO</a:t>
              </a:r>
              <a:r>
                <a:rPr lang="vi-VN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Bản đồ quy hoạch phát triển trong tương lai.
Tuyệt đối tránh lạm dụng 'will + V' một cách đơn điệu.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is planned to be built / is projected to be converted.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091F1A8-D6D7-01CF-12DF-1EBA6557B5FF}"/>
                </a:ext>
              </a:extLst>
            </p:cNvPr>
            <p:cNvSpPr/>
            <p:nvPr/>
          </p:nvSpPr>
          <p:spPr>
            <a:xfrm>
              <a:off x="5461000" y="1778000"/>
              <a:ext cx="57150" cy="3202688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14212793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66778E-B929-EEE1-C71B-168A924B0B9F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C2626"/>
                </a:solidFill>
                <a:latin typeface="Montserrat" panose="00000500000000000000" pitchFamily="2" charset="0"/>
              </a:rPr>
              <a:t>🗺️ 01. DẠNG BÀI 3: CẤU TRÚC DỰ ĐOÁN HỌC THUẬT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E5B590-15F2-F726-E420-5CCF1E2DD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428684"/>
            <a:ext cx="4318000" cy="4254633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BF29EBBD-13B8-A79E-88D2-02FEB98E4A39}"/>
              </a:ext>
            </a:extLst>
          </p:cNvPr>
          <p:cNvGrpSpPr/>
          <p:nvPr/>
        </p:nvGrpSpPr>
        <p:grpSpPr>
          <a:xfrm>
            <a:off x="5461000" y="1778000"/>
            <a:ext cx="5969000" cy="3180118"/>
            <a:chOff x="5461000" y="1778000"/>
            <a:chExt cx="5969000" cy="318011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FCC9361-3E4E-C58A-CDB1-386AEDE44A77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312931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vi-VN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CẤU TRÚC BỊ ĐỘNG DỰ ĐOÁN TƯƠNG LAI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It is anticipated that the industrial area will be relocated to the outskirts.
The vacant land is proposed to be transformed into a community sports complex.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7AEF419-3FCC-96D5-18E7-9D0D58FB5D15}"/>
                </a:ext>
              </a:extLst>
            </p:cNvPr>
            <p:cNvSpPr/>
            <p:nvPr/>
          </p:nvSpPr>
          <p:spPr>
            <a:xfrm>
              <a:off x="5461000" y="1778000"/>
              <a:ext cx="57150" cy="3180118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06554070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3226B9-AFFA-5831-E30D-21F70255F19B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C2626"/>
                </a:solidFill>
                <a:latin typeface="Montserrat" panose="00000500000000000000" pitchFamily="2" charset="0"/>
              </a:rPr>
              <a:t>🗺️ 01. DẠNG BÀI 4: STATIC MAP (SO SÁNH 2 ĐỊA ĐIỂM)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0B79F3-C020-3EE9-D290-848A38852C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428684"/>
            <a:ext cx="4318000" cy="4254633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AC4A7584-E078-8257-2042-6A59CF3FE833}"/>
              </a:ext>
            </a:extLst>
          </p:cNvPr>
          <p:cNvGrpSpPr/>
          <p:nvPr/>
        </p:nvGrpSpPr>
        <p:grpSpPr>
          <a:xfrm>
            <a:off x="5461000" y="1778000"/>
            <a:ext cx="5969000" cy="3202688"/>
            <a:chOff x="5461000" y="1778000"/>
            <a:chExt cx="5969000" cy="320268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5CD9AEC-1C2F-73AB-E689-24F41DF4CCCD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315188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vi-VN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ĐẶC TRƯNG VÀ THÌ CHỦ ĐẠO</a:t>
              </a:r>
              <a:r>
                <a:rPr lang="vi-VN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Bản đồ so sánh vị trí đề xuất (Site 1 vs Site 2) không có yếu tố thời gian.
Sử dụng 100% thì Hiện tại đơn (Present Simple) để miêu tả vị trí.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is located in / lies to the north / stands adjacent to.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580D695-6DD5-4668-98AB-A35ED0ED5055}"/>
                </a:ext>
              </a:extLst>
            </p:cNvPr>
            <p:cNvSpPr/>
            <p:nvPr/>
          </p:nvSpPr>
          <p:spPr>
            <a:xfrm>
              <a:off x="5461000" y="1778000"/>
              <a:ext cx="57150" cy="3202688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40284823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CB3926-A89D-565B-0902-A6606F64E364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C2626"/>
                </a:solidFill>
                <a:latin typeface="Montserrat" panose="00000500000000000000" pitchFamily="2" charset="0"/>
              </a:rPr>
              <a:t>🗺️ 01. DẠNG BÀI 4: CÂU VĂN THỰC CHIẾN MẪU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14912B-496D-01A1-7563-82CBEA6C0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428684"/>
            <a:ext cx="4318000" cy="4254633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C2E832E6-22CE-982D-C911-20C24F123B9B}"/>
              </a:ext>
            </a:extLst>
          </p:cNvPr>
          <p:cNvGrpSpPr/>
          <p:nvPr/>
        </p:nvGrpSpPr>
        <p:grpSpPr>
          <a:xfrm>
            <a:off x="5461000" y="1778000"/>
            <a:ext cx="5969000" cy="2699987"/>
            <a:chOff x="5461000" y="1778000"/>
            <a:chExt cx="5969000" cy="269998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40F124A-0A84-C712-4A0F-837F21D12B6F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264918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SO SÁNH HAI VỊ TRÍ ĐỀ XUẤT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Site 1 is situated close to the residential zone, offering great accessibility.
In contrast, Site 2 lies adjacent to the bypass road, providing convenient freight transport.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2DA7152-E816-6931-CC9E-1932985EA987}"/>
                </a:ext>
              </a:extLst>
            </p:cNvPr>
            <p:cNvSpPr/>
            <p:nvPr/>
          </p:nvSpPr>
          <p:spPr>
            <a:xfrm>
              <a:off x="5461000" y="1778000"/>
              <a:ext cx="57150" cy="2699987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27611442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BA0147-A40E-0E0E-7E40-B199642F5383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7C3AED"/>
                </a:solidFill>
                <a:latin typeface="Montserrat" panose="00000500000000000000" pitchFamily="2" charset="0"/>
              </a:rPr>
              <a:t>🎯 02. TIÊU CHÍ CHẤM ĐIỂM (NỘI DUNG &amp; BỐ CỤC)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55CA0C4-A7C5-0BF1-5115-3B8F0579665C}"/>
              </a:ext>
            </a:extLst>
          </p:cNvPr>
          <p:cNvGrpSpPr/>
          <p:nvPr/>
        </p:nvGrpSpPr>
        <p:grpSpPr>
          <a:xfrm>
            <a:off x="731520" y="1524000"/>
            <a:ext cx="10728960" cy="1899768"/>
            <a:chOff x="731520" y="1524000"/>
            <a:chExt cx="10728960" cy="189976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A868C99-D7DB-8986-65A9-2C5B692FDE76}"/>
                </a:ext>
              </a:extLst>
            </p:cNvPr>
            <p:cNvSpPr txBox="1"/>
            <p:nvPr/>
          </p:nvSpPr>
          <p:spPr>
            <a:xfrm>
              <a:off x="960120" y="1524000"/>
              <a:ext cx="10500360" cy="184896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TASK ACHIEVEMENT (HOÀN THÀNH NHIỆM VỤ)</a:t>
              </a:r>
              <a:r>
                <a:rPr lang="vi-VN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Bắt buộc có đoạn Overview tổng thể nêu bật 2 xu hướng chuyển dịch lớn nhất.
Mô tả trọn vẹn cả những chi tiết thay đổi lẫn các công trình giữ nguyên.</a:t>
              </a:r>
              <a:endParaRPr lang="en-US" sz="2000" b="1" i="1">
                <a:solidFill>
                  <a:srgbClr val="0F172A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7139C86-087D-8F57-858E-A9E82E50698F}"/>
                </a:ext>
              </a:extLst>
            </p:cNvPr>
            <p:cNvSpPr/>
            <p:nvPr/>
          </p:nvSpPr>
          <p:spPr>
            <a:xfrm>
              <a:off x="731520" y="1524000"/>
              <a:ext cx="57150" cy="1899768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E078BA1-FF07-2673-892F-AADAC2BFFDBD}"/>
              </a:ext>
            </a:extLst>
          </p:cNvPr>
          <p:cNvGrpSpPr/>
          <p:nvPr/>
        </p:nvGrpSpPr>
        <p:grpSpPr>
          <a:xfrm>
            <a:off x="731520" y="3868268"/>
            <a:ext cx="10728960" cy="1899768"/>
            <a:chOff x="731520" y="3868268"/>
            <a:chExt cx="10728960" cy="189976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BB39165-9BE1-7A7A-8C78-E9D1BC91738D}"/>
                </a:ext>
              </a:extLst>
            </p:cNvPr>
            <p:cNvSpPr txBox="1"/>
            <p:nvPr/>
          </p:nvSpPr>
          <p:spPr>
            <a:xfrm>
              <a:off x="960120" y="3868268"/>
              <a:ext cx="10500360" cy="184896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COHERENCE AND COHESION (MẠCH LẠC &amp; LIÊN KẾT)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Chia đoạn theo trật tự không gian logic: Bắc ➔ Nam hoặc Ngoài ➔ Trong.</a:t>
              </a:r>
              <a:r>
                <a:rPr lang="vi-VN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Tuyệt đối không nhảy cóc các vị trí lộn xộn khiến người đọc mất phương hướng.</a:t>
              </a:r>
              <a:endParaRPr lang="en-US" sz="2000" b="1" i="1">
                <a:solidFill>
                  <a:srgbClr val="0F172A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7258856-AEE6-AD2D-5469-C69631A3A2A9}"/>
                </a:ext>
              </a:extLst>
            </p:cNvPr>
            <p:cNvSpPr/>
            <p:nvPr/>
          </p:nvSpPr>
          <p:spPr>
            <a:xfrm>
              <a:off x="731520" y="3868268"/>
              <a:ext cx="57150" cy="1899768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7475351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084617-A0B4-5D75-05F9-EFE6CB18D270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7C3AED"/>
                </a:solidFill>
                <a:latin typeface="Montserrat" panose="00000500000000000000" pitchFamily="2" charset="0"/>
              </a:rPr>
              <a:t>🎯 02. TIÊU CHÍ CHẤM ĐIỂM (TỪ VỰNG &amp; NGỮ PHÁP)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6EBE5E7-A25A-97E6-88A9-DC1494DBB4FE}"/>
              </a:ext>
            </a:extLst>
          </p:cNvPr>
          <p:cNvGrpSpPr/>
          <p:nvPr/>
        </p:nvGrpSpPr>
        <p:grpSpPr>
          <a:xfrm>
            <a:off x="731520" y="1524000"/>
            <a:ext cx="10728960" cy="1499658"/>
            <a:chOff x="731520" y="1524000"/>
            <a:chExt cx="10728960" cy="149965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2A54B3E-14A3-7B2A-99A3-F785278E452E}"/>
                </a:ext>
              </a:extLst>
            </p:cNvPr>
            <p:cNvSpPr txBox="1"/>
            <p:nvPr/>
          </p:nvSpPr>
          <p:spPr>
            <a:xfrm>
              <a:off x="960120" y="1524000"/>
              <a:ext cx="10500360" cy="144885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LEXICAL RESOURCE (VỐN TỪ VỰNG HỌC THUẬT)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Vận dụng linh hoạt 5 nhóm động từ thay đổi và cấu trúc danh từ hóa.
Chính xác tuyệt đối các giới từ phương hướng: IN the north vs TO the north.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B71A689-040C-D19C-6494-C66DD98946D4}"/>
                </a:ext>
              </a:extLst>
            </p:cNvPr>
            <p:cNvSpPr/>
            <p:nvPr/>
          </p:nvSpPr>
          <p:spPr>
            <a:xfrm>
              <a:off x="731520" y="1524000"/>
              <a:ext cx="57150" cy="1499658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7D2E5D8-5828-3D7A-08D0-631E7274BD06}"/>
              </a:ext>
            </a:extLst>
          </p:cNvPr>
          <p:cNvGrpSpPr/>
          <p:nvPr/>
        </p:nvGrpSpPr>
        <p:grpSpPr>
          <a:xfrm>
            <a:off x="731520" y="3468158"/>
            <a:ext cx="10728960" cy="1899768"/>
            <a:chOff x="731520" y="3468158"/>
            <a:chExt cx="10728960" cy="189976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AD8EF8E-7665-23DA-D2B4-62E676E94B08}"/>
                </a:ext>
              </a:extLst>
            </p:cNvPr>
            <p:cNvSpPr txBox="1"/>
            <p:nvPr/>
          </p:nvSpPr>
          <p:spPr>
            <a:xfrm>
              <a:off x="960120" y="3468158"/>
              <a:ext cx="10500360" cy="184896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GRAMMATICAL RANGE AND ACCURACY (NGỮ PHÁP CHÍNH XÁC)</a:t>
              </a:r>
              <a:r>
                <a:rPr lang="vi-VN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Hơn 80% câu mô tả cần sử dụng thể bị động chuẩn xác.
Kết hợp linh hoạt mệnh đề phân từ rút gọn và đảo ngữ cụm giới từ chỉ nơi chốn.</a:t>
              </a:r>
              <a:endParaRPr lang="en-US" sz="2000" b="1" i="1">
                <a:solidFill>
                  <a:srgbClr val="0F172A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294F094-CB98-4740-973A-2AD0A902DCF1}"/>
                </a:ext>
              </a:extLst>
            </p:cNvPr>
            <p:cNvSpPr/>
            <p:nvPr/>
          </p:nvSpPr>
          <p:spPr>
            <a:xfrm>
              <a:off x="731520" y="3468158"/>
              <a:ext cx="57150" cy="1899768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4666920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D4C266-5715-BCE4-C53A-5470805E4E3D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EA580C"/>
                </a:solidFill>
                <a:latin typeface="Montserrat" panose="00000500000000000000" pitchFamily="2" charset="0"/>
              </a:rPr>
              <a:t>📐 03. CẤU TRÚC 4 ĐOẠN CHUẨN MỰC BAND 7.5+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BF4C82C-9E9B-B608-55AF-FFDB42639272}"/>
              </a:ext>
            </a:extLst>
          </p:cNvPr>
          <p:cNvGrpSpPr/>
          <p:nvPr/>
        </p:nvGrpSpPr>
        <p:grpSpPr>
          <a:xfrm>
            <a:off x="731520" y="1524000"/>
            <a:ext cx="10728960" cy="2505062"/>
            <a:chOff x="731520" y="1524000"/>
            <a:chExt cx="10728960" cy="2505062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7CFF7FA-7CC9-7852-53AB-476D8ACF652B}"/>
                </a:ext>
              </a:extLst>
            </p:cNvPr>
            <p:cNvSpPr txBox="1"/>
            <p:nvPr/>
          </p:nvSpPr>
          <p:spPr>
            <a:xfrm>
              <a:off x="960120" y="1524000"/>
              <a:ext cx="10500360" cy="245426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BỐ CỤC 4 ĐOẠN KHÔNG ĐỔI</a:t>
              </a:r>
              <a:r>
                <a:rPr lang="fr-FR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1. Introduction: 1 câu paraphrase lại đề bài.
2. Overview: 2 câu tóm tắt bức tranh toàn cảnh.
3. Body 1: Mô tả chi tiết phân khu 1 (3 - 4 câu).
4. Body 2: Mô tả chi tiết phân khu 2 (3 - 4 câu).</a:t>
              </a:r>
              <a:endParaRPr lang="en-US" sz="2000" b="1" i="1">
                <a:solidFill>
                  <a:srgbClr val="0F172A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42BB237-426D-1366-6F7E-25A83028D75B}"/>
                </a:ext>
              </a:extLst>
            </p:cNvPr>
            <p:cNvSpPr/>
            <p:nvPr/>
          </p:nvSpPr>
          <p:spPr>
            <a:xfrm>
              <a:off x="731520" y="1524000"/>
              <a:ext cx="57150" cy="2505062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A76B81D-CDEF-B660-4E66-16229974D3AF}"/>
              </a:ext>
            </a:extLst>
          </p:cNvPr>
          <p:cNvGrpSpPr/>
          <p:nvPr/>
        </p:nvGrpSpPr>
        <p:grpSpPr>
          <a:xfrm>
            <a:off x="731520" y="4473562"/>
            <a:ext cx="10728960" cy="1499658"/>
            <a:chOff x="731520" y="4473562"/>
            <a:chExt cx="10728960" cy="14996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76054A3-A75D-C89C-1B54-469E2E97BDBA}"/>
                </a:ext>
              </a:extLst>
            </p:cNvPr>
            <p:cNvSpPr txBox="1"/>
            <p:nvPr/>
          </p:nvSpPr>
          <p:spPr>
            <a:xfrm>
              <a:off x="960120" y="4473562"/>
              <a:ext cx="10500360" cy="144885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QUY TẮC BẤT DI BẤT DỊCH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Tuyệt đối KHÔNG viết đoạn Kết bài (Conclusion) cho IELTS Writing Task 1.
Mọi nhận định tổng quan phải nằm trọn trong đoạn Overview.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B13243C-0C2D-F690-2488-35A301941948}"/>
                </a:ext>
              </a:extLst>
            </p:cNvPr>
            <p:cNvSpPr/>
            <p:nvPr/>
          </p:nvSpPr>
          <p:spPr>
            <a:xfrm>
              <a:off x="731520" y="4473562"/>
              <a:ext cx="57150" cy="1499658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04233601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0EA3BB-04B8-F6F0-4A8F-A6C6A624513C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EA580C"/>
                </a:solidFill>
                <a:latin typeface="Montserrat" panose="00000500000000000000" pitchFamily="2" charset="0"/>
              </a:rPr>
              <a:t>📐 03. CHIẾN LƯỢC CHIA BODY: KHÔNG GIAN BẮC - NAM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4CB3608-9F0B-3D32-E679-2B5F52934A41}"/>
              </a:ext>
            </a:extLst>
          </p:cNvPr>
          <p:cNvGrpSpPr/>
          <p:nvPr/>
        </p:nvGrpSpPr>
        <p:grpSpPr>
          <a:xfrm>
            <a:off x="731520" y="1524000"/>
            <a:ext cx="10728960" cy="1499658"/>
            <a:chOff x="731520" y="1524000"/>
            <a:chExt cx="10728960" cy="149965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54A25C1-B1F7-85DB-ED2A-88BA3A6597DA}"/>
                </a:ext>
              </a:extLst>
            </p:cNvPr>
            <p:cNvSpPr txBox="1"/>
            <p:nvPr/>
          </p:nvSpPr>
          <p:spPr>
            <a:xfrm>
              <a:off x="960120" y="1524000"/>
              <a:ext cx="10500360" cy="144885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vi-VN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KHI NÀO ÁP DỤNG CHIẾN LƯỢC NÀY?</a:t>
              </a:r>
              <a:r>
                <a:rPr lang="vi-VN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Áp dụng tối ưu khi có con sông hoặc trục đường lớn cắt ngang qua bản đồ.
Tạo ranh giới tự nhiên giúp bài viết rõ ràng, mạch lạc.</a:t>
              </a:r>
              <a:endParaRPr lang="en-US" sz="2000" b="1" i="1">
                <a:solidFill>
                  <a:srgbClr val="0F172A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3BB80D7-5F5F-B1EC-E345-257AF553A859}"/>
                </a:ext>
              </a:extLst>
            </p:cNvPr>
            <p:cNvSpPr/>
            <p:nvPr/>
          </p:nvSpPr>
          <p:spPr>
            <a:xfrm>
              <a:off x="731520" y="1524000"/>
              <a:ext cx="57150" cy="1499658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6DD18E4-2A03-BEFB-D3D0-DC9A1B0781A8}"/>
              </a:ext>
            </a:extLst>
          </p:cNvPr>
          <p:cNvGrpSpPr/>
          <p:nvPr/>
        </p:nvGrpSpPr>
        <p:grpSpPr>
          <a:xfrm>
            <a:off x="731520" y="3468158"/>
            <a:ext cx="10728960" cy="1498569"/>
            <a:chOff x="731520" y="3468158"/>
            <a:chExt cx="10728960" cy="149856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1501520-D72D-49F7-DE88-8947C351E301}"/>
                </a:ext>
              </a:extLst>
            </p:cNvPr>
            <p:cNvSpPr txBox="1"/>
            <p:nvPr/>
          </p:nvSpPr>
          <p:spPr>
            <a:xfrm>
              <a:off x="960120" y="3468158"/>
              <a:ext cx="10500360" cy="144776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PHÂN BỔ NỘI DUNG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Body 1 ➔ Mô tả toàn bộ khu vực nửa phía Bắc của ranh giới.
Body 2 ➔ Mô tả toàn bộ khu vực nửa phía Nam của ranh giới.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9A2C89-C53B-7DE5-690F-A79772256951}"/>
                </a:ext>
              </a:extLst>
            </p:cNvPr>
            <p:cNvSpPr/>
            <p:nvPr/>
          </p:nvSpPr>
          <p:spPr>
            <a:xfrm>
              <a:off x="731520" y="3468158"/>
              <a:ext cx="57150" cy="1498569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93498880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B4F907-2FAB-ABC2-CE4C-342C02D38D24}"/>
              </a:ext>
            </a:extLst>
          </p:cNvPr>
          <p:cNvSpPr txBox="1"/>
          <p:nvPr/>
        </p:nvSpPr>
        <p:spPr>
          <a:xfrm>
            <a:off x="731520" y="355600"/>
            <a:ext cx="10728960" cy="86177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EA580C"/>
                </a:solidFill>
                <a:latin typeface="Montserrat" panose="00000500000000000000" pitchFamily="2" charset="0"/>
              </a:rPr>
              <a:t>📐 03. </a:t>
            </a:r>
            <a:r>
              <a:rPr lang="vi-VN" sz="2800" b="1">
                <a:solidFill>
                  <a:srgbClr val="EA580C"/>
                </a:solidFill>
                <a:latin typeface="Montserrat" panose="00000500000000000000" pitchFamily="2" charset="0"/>
              </a:rPr>
              <a:t>CHIẾN LƯỢC CHIA BODY: TRUNG TÂM &amp; CHỨC NĂNG</a:t>
            </a:r>
            <a:endParaRPr lang="en-US" sz="2800" b="1">
              <a:solidFill>
                <a:srgbClr val="EA580C"/>
              </a:solidFill>
              <a:latin typeface="Montserrat" panose="00000500000000000000" pitchFamily="2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39F6022-E834-1EA6-A0AC-187631027CB5}"/>
              </a:ext>
            </a:extLst>
          </p:cNvPr>
          <p:cNvGrpSpPr/>
          <p:nvPr/>
        </p:nvGrpSpPr>
        <p:grpSpPr>
          <a:xfrm>
            <a:off x="731520" y="1524000"/>
            <a:ext cx="10728960" cy="1499658"/>
            <a:chOff x="731520" y="1524000"/>
            <a:chExt cx="10728960" cy="149965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F2CF672-7A15-052F-7BCA-FD75C5A1823F}"/>
                </a:ext>
              </a:extLst>
            </p:cNvPr>
            <p:cNvSpPr txBox="1"/>
            <p:nvPr/>
          </p:nvSpPr>
          <p:spPr>
            <a:xfrm>
              <a:off x="960120" y="1524000"/>
              <a:ext cx="10500360" cy="144885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vi-VN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CHIẾN LƯỢC TRUNG TÂM VÀ NGOẠI VI (SƠ ĐỒ TRONG NHÀ)</a:t>
              </a:r>
              <a:r>
                <a:rPr lang="vi-VN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Body 1: Miêu tả lối vào chính và sảnh trung tâm căn phòng.
Body 2: Miêu tả các phòng chức năng ở các góc và dọc tường hai bên.</a:t>
              </a:r>
              <a:endParaRPr lang="en-US" sz="2000" b="1" i="1">
                <a:solidFill>
                  <a:srgbClr val="0F172A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86EC176-1048-BB43-51AF-BF2914B7B20A}"/>
                </a:ext>
              </a:extLst>
            </p:cNvPr>
            <p:cNvSpPr/>
            <p:nvPr/>
          </p:nvSpPr>
          <p:spPr>
            <a:xfrm>
              <a:off x="731520" y="1524000"/>
              <a:ext cx="57150" cy="1499658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473E3DF-8070-5C56-395E-ABBBBA44126A}"/>
              </a:ext>
            </a:extLst>
          </p:cNvPr>
          <p:cNvGrpSpPr/>
          <p:nvPr/>
        </p:nvGrpSpPr>
        <p:grpSpPr>
          <a:xfrm>
            <a:off x="731520" y="3468158"/>
            <a:ext cx="10728960" cy="1499658"/>
            <a:chOff x="731520" y="3468158"/>
            <a:chExt cx="10728960" cy="14996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9627A98-9C2E-6C74-0427-8BA27742580A}"/>
                </a:ext>
              </a:extLst>
            </p:cNvPr>
            <p:cNvSpPr txBox="1"/>
            <p:nvPr/>
          </p:nvSpPr>
          <p:spPr>
            <a:xfrm>
              <a:off x="960120" y="3468158"/>
              <a:ext cx="10500360" cy="144885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vi-VN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CHIẾN LƯỢC NHÓM CHỨC NĂNG CÔNG TRÌNH</a:t>
              </a:r>
              <a:r>
                <a:rPr lang="vi-VN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Body 1: Tập trung vào hạ tầng giao thông và nhà ở dân cư.
Body 2: Tập trung vào tiện ích công cộng và thiên nhiên.</a:t>
              </a:r>
              <a:endParaRPr lang="en-US" sz="2000" b="1" i="1">
                <a:solidFill>
                  <a:srgbClr val="0F172A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A34F998-8AAE-1592-8D76-F8860CC809C8}"/>
                </a:ext>
              </a:extLst>
            </p:cNvPr>
            <p:cNvSpPr/>
            <p:nvPr/>
          </p:nvSpPr>
          <p:spPr>
            <a:xfrm>
              <a:off x="731520" y="3468158"/>
              <a:ext cx="57150" cy="1499658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64448483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6423B3-FDE9-3FD3-D8FD-84134BA78929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B2777"/>
                </a:solidFill>
                <a:latin typeface="Montserrat" panose="00000500000000000000" pitchFamily="2" charset="0"/>
              </a:rPr>
              <a:t>✍️ 04. KHUNG CÂU MỞ BÀI (INTRODUCTION)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E523C23-59B4-14BE-7F5A-EED8569AE601}"/>
              </a:ext>
            </a:extLst>
          </p:cNvPr>
          <p:cNvGrpSpPr/>
          <p:nvPr/>
        </p:nvGrpSpPr>
        <p:grpSpPr>
          <a:xfrm>
            <a:off x="731520" y="1524000"/>
            <a:ext cx="10728960" cy="2299877"/>
            <a:chOff x="731520" y="1524000"/>
            <a:chExt cx="10728960" cy="229987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11B768B-1B9D-680A-57A7-DCC8127A8F25}"/>
                </a:ext>
              </a:extLst>
            </p:cNvPr>
            <p:cNvSpPr txBox="1"/>
            <p:nvPr/>
          </p:nvSpPr>
          <p:spPr>
            <a:xfrm>
              <a:off x="960120" y="1524000"/>
              <a:ext cx="10500360" cy="224907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CÔNG THỨC PARAPHRASE 1 CÂU DUY NHẤT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The map shows / illustrates / depicts + how [Place] changed / developed over a period of [X] years.
The floor plans compare the layout of [Building] with its current configuration.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A52EBB0-2F60-B2E1-102C-7426FD903DA4}"/>
                </a:ext>
              </a:extLst>
            </p:cNvPr>
            <p:cNvSpPr/>
            <p:nvPr/>
          </p:nvSpPr>
          <p:spPr>
            <a:xfrm>
              <a:off x="731520" y="1524000"/>
              <a:ext cx="57150" cy="2299877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6B82E8E-EE34-BA34-30CE-0B8620FE9232}"/>
              </a:ext>
            </a:extLst>
          </p:cNvPr>
          <p:cNvGrpSpPr/>
          <p:nvPr/>
        </p:nvGrpSpPr>
        <p:grpSpPr>
          <a:xfrm>
            <a:off x="731520" y="4268377"/>
            <a:ext cx="10728960" cy="1422714"/>
            <a:chOff x="731520" y="4268377"/>
            <a:chExt cx="10728960" cy="142271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581A826-4E40-6423-3044-260731174B40}"/>
                </a:ext>
              </a:extLst>
            </p:cNvPr>
            <p:cNvSpPr txBox="1"/>
            <p:nvPr/>
          </p:nvSpPr>
          <p:spPr>
            <a:xfrm>
              <a:off x="960120" y="4268377"/>
              <a:ext cx="10500360" cy="1371914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10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VÍ DỤ MẪU THỰC CHIẾN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The two maps illustrate how Stokeford developed over an 80-year period from 1930 to 2010.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F698A24-542E-20DB-3E4A-0476B057DF21}"/>
                </a:ext>
              </a:extLst>
            </p:cNvPr>
            <p:cNvSpPr/>
            <p:nvPr/>
          </p:nvSpPr>
          <p:spPr>
            <a:xfrm>
              <a:off x="731520" y="4268377"/>
              <a:ext cx="57150" cy="1422714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1207890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1C97B0E-3F63-B612-AB9A-C5FD89B87FE8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B2777"/>
                </a:solidFill>
                <a:latin typeface="Montserrat" panose="00000500000000000000" pitchFamily="2" charset="0"/>
              </a:rPr>
              <a:t>✍️ 04. KHUNG CÂU TỔNG QUAN (OVERVIEW)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86A8EA0-857F-9E63-8D22-64DD94430EF8}"/>
              </a:ext>
            </a:extLst>
          </p:cNvPr>
          <p:cNvGrpSpPr/>
          <p:nvPr/>
        </p:nvGrpSpPr>
        <p:grpSpPr>
          <a:xfrm>
            <a:off x="731520" y="1524000"/>
            <a:ext cx="10728960" cy="2299877"/>
            <a:chOff x="731520" y="1524000"/>
            <a:chExt cx="10728960" cy="229987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7FE5837-9E8D-C44F-B46E-EBC44925827F}"/>
                </a:ext>
              </a:extLst>
            </p:cNvPr>
            <p:cNvSpPr txBox="1"/>
            <p:nvPr/>
          </p:nvSpPr>
          <p:spPr>
            <a:xfrm>
              <a:off x="960120" y="1524000"/>
              <a:ext cx="10500360" cy="224907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CÔNG THỨC 2 CÂU BỨC TRANH TOÀN CẢNH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Câu 1 (Xu hướng lớn): Overall, [Place] underwent significant modernization / transformation.
Câu 2 (Chi tiết ấn tượng): The most notable changes include the complete clearance of farmland for new housing.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64BF2BC-CB8C-1044-F917-C1F5F5A2CF8D}"/>
                </a:ext>
              </a:extLst>
            </p:cNvPr>
            <p:cNvSpPr/>
            <p:nvPr/>
          </p:nvSpPr>
          <p:spPr>
            <a:xfrm>
              <a:off x="731520" y="1524000"/>
              <a:ext cx="57150" cy="2299877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502A067-D754-B151-9C35-779F5BC5D0A3}"/>
              </a:ext>
            </a:extLst>
          </p:cNvPr>
          <p:cNvGrpSpPr/>
          <p:nvPr/>
        </p:nvGrpSpPr>
        <p:grpSpPr>
          <a:xfrm>
            <a:off x="731520" y="4268377"/>
            <a:ext cx="10728960" cy="1499658"/>
            <a:chOff x="731520" y="4268377"/>
            <a:chExt cx="10728960" cy="14996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AC1ED66-40D3-991F-9D21-926740AA8573}"/>
                </a:ext>
              </a:extLst>
            </p:cNvPr>
            <p:cNvSpPr txBox="1"/>
            <p:nvPr/>
          </p:nvSpPr>
          <p:spPr>
            <a:xfrm>
              <a:off x="960120" y="4268377"/>
              <a:ext cx="10500360" cy="144885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vi-VN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LƯU Ý CỐT LÕI</a:t>
              </a:r>
              <a:r>
                <a:rPr lang="vi-VN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Không đưa số liệu chi tiết hay tên riêng vụn vặt vào Overview.
Tập trung vào sự biến chuyển lớn nhất mà mắt người nhìn thấy đầu tiên.</a:t>
              </a:r>
              <a:endParaRPr lang="en-US" sz="2000" b="1" i="1">
                <a:solidFill>
                  <a:srgbClr val="0F172A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E595D8F-FCC9-C295-1630-397FC08D81B1}"/>
                </a:ext>
              </a:extLst>
            </p:cNvPr>
            <p:cNvSpPr/>
            <p:nvPr/>
          </p:nvSpPr>
          <p:spPr>
            <a:xfrm>
              <a:off x="731520" y="4268377"/>
              <a:ext cx="57150" cy="1499658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41201999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148C0FB-046C-6AAC-D759-3B10CAB52E18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C2626"/>
                </a:solidFill>
                <a:latin typeface="Montserrat" panose="00000500000000000000" pitchFamily="2" charset="0"/>
              </a:rPr>
              <a:t>🧭 05. 8 </a:t>
            </a:r>
            <a:r>
              <a:rPr lang="vi-VN" sz="2800" b="1">
                <a:solidFill>
                  <a:srgbClr val="DC2626"/>
                </a:solidFill>
                <a:latin typeface="Montserrat" panose="00000500000000000000" pitchFamily="2" charset="0"/>
              </a:rPr>
              <a:t>HƯỚNG LA BÀN HÀNG HẢI CHUẨN XÁC</a:t>
            </a:r>
            <a:endParaRPr lang="en-US" sz="2800" b="1">
              <a:solidFill>
                <a:srgbClr val="DC2626"/>
              </a:solidFill>
              <a:latin typeface="Montserrat" panose="00000500000000000000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8377A1-0E12-646B-BB4A-264271B1AD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19" y="1365250"/>
            <a:ext cx="4318001" cy="43815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311F92B-347E-8AE9-BAAC-183FCB4E4B46}"/>
              </a:ext>
            </a:extLst>
          </p:cNvPr>
          <p:cNvGrpSpPr/>
          <p:nvPr/>
        </p:nvGrpSpPr>
        <p:grpSpPr>
          <a:xfrm>
            <a:off x="5461000" y="1905000"/>
            <a:ext cx="5969000" cy="3202688"/>
            <a:chOff x="5461000" y="1905000"/>
            <a:chExt cx="5969000" cy="320268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3979A97-DA04-BF11-76B8-C03B6EAA7FF1}"/>
                </a:ext>
              </a:extLst>
            </p:cNvPr>
            <p:cNvSpPr txBox="1"/>
            <p:nvPr/>
          </p:nvSpPr>
          <p:spPr>
            <a:xfrm>
              <a:off x="5689600" y="1905000"/>
              <a:ext cx="5740400" cy="315188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vi-VN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4 HƯỚNG CHÍNH &amp; 4 HƯỚNG PHỤ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North (Bắc) - South (Nam) - East (Đông) - West (Tây).
North-East (Đông Bắc) - North-West (Tây Bắc).
South-East (Đông Nam) - South-West (Tây Nam).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166253A-D2F9-041E-E990-BD141757BB5F}"/>
                </a:ext>
              </a:extLst>
            </p:cNvPr>
            <p:cNvSpPr/>
            <p:nvPr/>
          </p:nvSpPr>
          <p:spPr>
            <a:xfrm>
              <a:off x="5461000" y="1905000"/>
              <a:ext cx="57150" cy="3202688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74871200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7BB41F-88AA-57B4-CD3D-697A6437D7C4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C2626"/>
                </a:solidFill>
                <a:latin typeface="Montserrat" panose="00000500000000000000" pitchFamily="2" charset="0"/>
              </a:rPr>
              <a:t>🧭 05. </a:t>
            </a:r>
            <a:r>
              <a:rPr lang="vi-VN" sz="2800" b="1">
                <a:solidFill>
                  <a:srgbClr val="DC2626"/>
                </a:solidFill>
                <a:latin typeface="Montserrat" panose="00000500000000000000" pitchFamily="2" charset="0"/>
              </a:rPr>
              <a:t>CÁC CỤM TỪ CHỈ VỊ TRÍ PHƯƠNG HƯỚNG</a:t>
            </a:r>
            <a:endParaRPr lang="en-US" sz="2800" b="1">
              <a:solidFill>
                <a:srgbClr val="DC2626"/>
              </a:solidFill>
              <a:latin typeface="Montserrat" panose="00000500000000000000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12CBDB-4615-96BC-FB3D-1B912DD90A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19" y="1365250"/>
            <a:ext cx="4318001" cy="43815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189E26BB-21DE-045A-A86B-4D7218278D08}"/>
              </a:ext>
            </a:extLst>
          </p:cNvPr>
          <p:cNvGrpSpPr/>
          <p:nvPr/>
        </p:nvGrpSpPr>
        <p:grpSpPr>
          <a:xfrm>
            <a:off x="5461000" y="1778000"/>
            <a:ext cx="5969000" cy="2802579"/>
            <a:chOff x="5461000" y="1778000"/>
            <a:chExt cx="5969000" cy="280257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7844FF1-DD0A-0634-FD3E-ECC3A7F334C2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275177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CỤM TỪ MIÊU TẢ HỌC THUẬT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in the north-eastern part of the village
situated along the eastern boundary of the town
occupying the south-western quadrant of the area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EC7755E-B73E-D1C7-74F3-04B0B80D326D}"/>
                </a:ext>
              </a:extLst>
            </p:cNvPr>
            <p:cNvSpPr/>
            <p:nvPr/>
          </p:nvSpPr>
          <p:spPr>
            <a:xfrm>
              <a:off x="5461000" y="1778000"/>
              <a:ext cx="57150" cy="2802579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2266252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44BBAB-3B43-0487-E623-B9D4CA9667DA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C2626"/>
                </a:solidFill>
                <a:latin typeface="Montserrat" panose="00000500000000000000" pitchFamily="2" charset="0"/>
              </a:rPr>
              <a:t>🧭 05. QUY TẮC VÀNG: GIỚI TỪ 'IN'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4FB5FE-7B90-4AFD-A002-A60C0C703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19" y="1365250"/>
            <a:ext cx="4318001" cy="43815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A6ACE96F-4F64-3E5E-54EA-3A8CEF5A90D3}"/>
              </a:ext>
            </a:extLst>
          </p:cNvPr>
          <p:cNvGrpSpPr/>
          <p:nvPr/>
        </p:nvGrpSpPr>
        <p:grpSpPr>
          <a:xfrm>
            <a:off x="5461000" y="1778000"/>
            <a:ext cx="5969000" cy="3682820"/>
            <a:chOff x="5461000" y="1778000"/>
            <a:chExt cx="5969000" cy="36828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413A545-C511-0759-8F66-09C6BBD65B1D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363202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GIỚI TỪ 'IN' ➔ NẰM TRONG RANH GIỚI</a:t>
              </a:r>
              <a:r>
                <a:rPr lang="vi-VN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Dùng khi đối tượng nằm BÊN TRONG ranh giới khu vực.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A new hospital was constructed in the north of the town.
The library is located in the center of the campus.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737DC80-25DC-59A1-A8CF-CD250F99E7FA}"/>
                </a:ext>
              </a:extLst>
            </p:cNvPr>
            <p:cNvSpPr/>
            <p:nvPr/>
          </p:nvSpPr>
          <p:spPr>
            <a:xfrm>
              <a:off x="5461000" y="1778000"/>
              <a:ext cx="57150" cy="3682820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36352334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7B6AC9-DDFF-FBE5-52BD-D8AA43EF6EFF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C2626"/>
                </a:solidFill>
                <a:latin typeface="Montserrat" panose="00000500000000000000" pitchFamily="2" charset="0"/>
              </a:rPr>
              <a:t>🧭 05. QUY TẮC VÀNG: GIỚI TỪ 'TO'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B12655-3E2C-149D-491F-1E443E6C8B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19" y="1365250"/>
            <a:ext cx="4318001" cy="43815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023B65E-F902-8692-DA0D-9050B4ABC333}"/>
              </a:ext>
            </a:extLst>
          </p:cNvPr>
          <p:cNvGrpSpPr/>
          <p:nvPr/>
        </p:nvGrpSpPr>
        <p:grpSpPr>
          <a:xfrm>
            <a:off x="5461000" y="1778000"/>
            <a:ext cx="5969000" cy="3682820"/>
            <a:chOff x="5461000" y="1778000"/>
            <a:chExt cx="5969000" cy="36828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6DCD779-1E6B-6C4A-0634-0B79531D39EF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363202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GIỚI TỪ 'TO' ➔ NẰM TÁCH BIỆT BÊN NGOÀI</a:t>
              </a:r>
              <a:r>
                <a:rPr lang="vi-VN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Dùng khi đối tượng nằm TÁCH RỜI, BÊN NGOÀI ranh giới khu vực.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A dense forest lies to the north of the town.
To the east of the river stands a modern railway station.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46E16D4-2977-92D0-2B7A-4126AC0EB893}"/>
                </a:ext>
              </a:extLst>
            </p:cNvPr>
            <p:cNvSpPr/>
            <p:nvPr/>
          </p:nvSpPr>
          <p:spPr>
            <a:xfrm>
              <a:off x="5461000" y="1778000"/>
              <a:ext cx="57150" cy="3682820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33668488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675435-76F3-1BA3-C311-5BB668A996CF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C2626"/>
                </a:solidFill>
                <a:latin typeface="Montserrat" panose="00000500000000000000" pitchFamily="2" charset="0"/>
              </a:rPr>
              <a:t>🧭 05. VỊ TRÍ TIẾP GIÁP: ADJACENT TO / NEXT TO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BCAC37-7CA0-0812-733D-0BD25D47E6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19" y="1365250"/>
            <a:ext cx="4318001" cy="43815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FE180BA5-00FD-6348-4904-72E318335D0A}"/>
              </a:ext>
            </a:extLst>
          </p:cNvPr>
          <p:cNvGrpSpPr/>
          <p:nvPr/>
        </p:nvGrpSpPr>
        <p:grpSpPr>
          <a:xfrm>
            <a:off x="5461000" y="1778000"/>
            <a:ext cx="5969000" cy="3682820"/>
            <a:chOff x="5461000" y="1778000"/>
            <a:chExt cx="5969000" cy="36828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4D39833-2E39-9F54-34EC-428AC7F0A579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363202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ADJACENT TO / NEXT TO (SÁT CẠNH NHAU)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Dùng khi hai công trình nằm liền kề hoặc sát vách nhau.
The local shops adjacent to the post office were demolished.
A car park was added adjacent to the primary school.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CD0FBE6-8DCD-7982-8A35-25AC0A334EB7}"/>
                </a:ext>
              </a:extLst>
            </p:cNvPr>
            <p:cNvSpPr/>
            <p:nvPr/>
          </p:nvSpPr>
          <p:spPr>
            <a:xfrm>
              <a:off x="5461000" y="1778000"/>
              <a:ext cx="57150" cy="3682820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098354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1E4D78-361D-1E5B-7E2E-1D0A8F1BEAF0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C2626"/>
                </a:solidFill>
                <a:latin typeface="Montserrat" panose="00000500000000000000" pitchFamily="2" charset="0"/>
              </a:rPr>
              <a:t>🧭 05. VỊ TRÍ ĐỐI DIỆN: OPPOSITE / ACROSS FROM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C9974E-759B-8281-4031-4AF26EBEA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19" y="1365250"/>
            <a:ext cx="4318001" cy="43815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75A49661-749F-3021-40F3-7B9D2054BE91}"/>
              </a:ext>
            </a:extLst>
          </p:cNvPr>
          <p:cNvGrpSpPr/>
          <p:nvPr/>
        </p:nvGrpSpPr>
        <p:grpSpPr>
          <a:xfrm>
            <a:off x="5461000" y="1778000"/>
            <a:ext cx="5969000" cy="3682820"/>
            <a:chOff x="5461000" y="1778000"/>
            <a:chExt cx="5969000" cy="36828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3CFB009-B370-203D-66BF-16A61D7FA6B2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363202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OPPOSITE / ACROSS FROM (ĐỐI DIỆN NHAU)</a:t>
              </a:r>
              <a:r>
                <a:rPr lang="vi-VN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Dùng khi hai địa điểm nằm đối diện nhau qua một con đường/dòng sông.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A modern café was constructed opposite the library entrance.
The new supermarket stands directly across from the train station.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FF97169-98FB-ED00-38BA-643787BB0A14}"/>
                </a:ext>
              </a:extLst>
            </p:cNvPr>
            <p:cNvSpPr/>
            <p:nvPr/>
          </p:nvSpPr>
          <p:spPr>
            <a:xfrm>
              <a:off x="5461000" y="1778000"/>
              <a:ext cx="57150" cy="3682820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199644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8F1C1-707E-BDE9-3044-F361A1B949E5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7C3AED"/>
                </a:solidFill>
                <a:latin typeface="Montserrat" panose="00000500000000000000" pitchFamily="2" charset="0"/>
              </a:rPr>
              <a:t>🏢 06. </a:t>
            </a:r>
            <a:r>
              <a:rPr lang="vi-VN" sz="2800" b="1">
                <a:solidFill>
                  <a:srgbClr val="7C3AED"/>
                </a:solidFill>
                <a:latin typeface="Montserrat" panose="00000500000000000000" pitchFamily="2" charset="0"/>
              </a:rPr>
              <a:t>SƠ ĐỒ TRONG NHÀ: LỐI VÀO &amp; TRUNG TÂM</a:t>
            </a:r>
            <a:endParaRPr lang="en-US" sz="2800" b="1">
              <a:solidFill>
                <a:srgbClr val="7C3AED"/>
              </a:solidFill>
              <a:latin typeface="Montserrat" panose="00000500000000000000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75E23F-B05A-3AED-8D64-FCB865E9A1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206500"/>
            <a:ext cx="4135967" cy="46990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9D8515E-E2B6-3C59-8A2D-1B4EEF4FEA2C}"/>
              </a:ext>
            </a:extLst>
          </p:cNvPr>
          <p:cNvGrpSpPr/>
          <p:nvPr/>
        </p:nvGrpSpPr>
        <p:grpSpPr>
          <a:xfrm>
            <a:off x="5461000" y="1524000"/>
            <a:ext cx="5969000" cy="2780009"/>
            <a:chOff x="5461000" y="1524000"/>
            <a:chExt cx="5969000" cy="278000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8155B4E-CE2F-2BED-7058-9979D87A7ACD}"/>
                </a:ext>
              </a:extLst>
            </p:cNvPr>
            <p:cNvSpPr txBox="1"/>
            <p:nvPr/>
          </p:nvSpPr>
          <p:spPr>
            <a:xfrm>
              <a:off x="5689600" y="1524000"/>
              <a:ext cx="5740400" cy="272920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LỐI VÀO CHÍNH LÀM MỐC XUẤT PHÁT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To the immediate left / right of the entrance
Just inside the main entrance on either side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5190966-0437-2AFB-7E1D-91EC8060E4D3}"/>
                </a:ext>
              </a:extLst>
            </p:cNvPr>
            <p:cNvSpPr/>
            <p:nvPr/>
          </p:nvSpPr>
          <p:spPr>
            <a:xfrm>
              <a:off x="5461000" y="1524000"/>
              <a:ext cx="57150" cy="2780009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1BBADD70-4875-4C1B-6907-EA6D7FDEFB15}"/>
              </a:ext>
            </a:extLst>
          </p:cNvPr>
          <p:cNvGrpSpPr/>
          <p:nvPr/>
        </p:nvGrpSpPr>
        <p:grpSpPr>
          <a:xfrm>
            <a:off x="5461000" y="4685009"/>
            <a:ext cx="5969000" cy="1499658"/>
            <a:chOff x="5461000" y="4685009"/>
            <a:chExt cx="5969000" cy="149965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7B07E40-055D-143B-8F01-370D24FB10AA}"/>
                </a:ext>
              </a:extLst>
            </p:cNvPr>
            <p:cNvSpPr txBox="1"/>
            <p:nvPr/>
          </p:nvSpPr>
          <p:spPr>
            <a:xfrm>
              <a:off x="5689600" y="4685009"/>
              <a:ext cx="5740400" cy="144885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KHU VỰC TRUNG TÂM CĂN PHÒNG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In the center / middle / heart of the library
Occupying the central open space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C12CB62-290C-D3F7-E57D-48B48BA5DDB1}"/>
                </a:ext>
              </a:extLst>
            </p:cNvPr>
            <p:cNvSpPr/>
            <p:nvPr/>
          </p:nvSpPr>
          <p:spPr>
            <a:xfrm>
              <a:off x="5461000" y="4685009"/>
              <a:ext cx="57150" cy="1499658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88320621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0C0CBE-B185-0D59-B9EC-A2B6807CF3B7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7C3AED"/>
                </a:solidFill>
                <a:latin typeface="Montserrat" panose="00000500000000000000" pitchFamily="2" charset="0"/>
              </a:rPr>
              <a:t>🏢 06. </a:t>
            </a:r>
            <a:r>
              <a:rPr lang="vi-VN" sz="2800" b="1">
                <a:solidFill>
                  <a:srgbClr val="7C3AED"/>
                </a:solidFill>
                <a:latin typeface="Montserrat" panose="00000500000000000000" pitchFamily="2" charset="0"/>
              </a:rPr>
              <a:t>SƠ ĐỒ TRONG NHÀ: TƯỜNG BAO &amp; CÁC GÓC</a:t>
            </a:r>
            <a:endParaRPr lang="en-US" sz="2800" b="1">
              <a:solidFill>
                <a:srgbClr val="7C3AED"/>
              </a:solidFill>
              <a:latin typeface="Montserrat" panose="00000500000000000000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C5B19E-52D7-9394-9D17-397645E2FF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206500"/>
            <a:ext cx="4135967" cy="46990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2C9C2F3-E34B-D37D-C101-FE2ED650DAB4}"/>
              </a:ext>
            </a:extLst>
          </p:cNvPr>
          <p:cNvGrpSpPr/>
          <p:nvPr/>
        </p:nvGrpSpPr>
        <p:grpSpPr>
          <a:xfrm>
            <a:off x="5461000" y="1524000"/>
            <a:ext cx="5969000" cy="2379899"/>
            <a:chOff x="5461000" y="1524000"/>
            <a:chExt cx="5969000" cy="237989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5FFFF1F-770E-A2D3-9C5E-B5395F554143}"/>
                </a:ext>
              </a:extLst>
            </p:cNvPr>
            <p:cNvSpPr txBox="1"/>
            <p:nvPr/>
          </p:nvSpPr>
          <p:spPr>
            <a:xfrm>
              <a:off x="5689600" y="1524000"/>
              <a:ext cx="5740400" cy="23290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vi-VN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DỌC THEO CÁC BỨC TƯỜNG HAI BÊN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Along the left-hand / right-hand wall
Positioned against the western boundary of the room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4C25176-2498-2EA7-37EC-F6F39B187414}"/>
                </a:ext>
              </a:extLst>
            </p:cNvPr>
            <p:cNvSpPr/>
            <p:nvPr/>
          </p:nvSpPr>
          <p:spPr>
            <a:xfrm>
              <a:off x="5461000" y="1524000"/>
              <a:ext cx="57150" cy="2379899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21D90A-95E7-9D1E-4292-EED28B23B555}"/>
              </a:ext>
            </a:extLst>
          </p:cNvPr>
          <p:cNvGrpSpPr/>
          <p:nvPr/>
        </p:nvGrpSpPr>
        <p:grpSpPr>
          <a:xfrm>
            <a:off x="5461000" y="4284899"/>
            <a:ext cx="5969000" cy="1899768"/>
            <a:chOff x="5461000" y="4284899"/>
            <a:chExt cx="5969000" cy="18997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188672B-4C14-DBD7-CAA0-7C7A64930A6A}"/>
                </a:ext>
              </a:extLst>
            </p:cNvPr>
            <p:cNvSpPr txBox="1"/>
            <p:nvPr/>
          </p:nvSpPr>
          <p:spPr>
            <a:xfrm>
              <a:off x="5689600" y="4284899"/>
              <a:ext cx="5740400" cy="184896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HAI GÓC VÀ PHÍA CUỐI PHÒNG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In the top-left / top-right corner of the room
At the back / far end of the floor plan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762B66A-8D0E-AA23-3E6E-F1657139FAD0}"/>
                </a:ext>
              </a:extLst>
            </p:cNvPr>
            <p:cNvSpPr/>
            <p:nvPr/>
          </p:nvSpPr>
          <p:spPr>
            <a:xfrm>
              <a:off x="5461000" y="4284899"/>
              <a:ext cx="57150" cy="1899768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16817825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B4B0F5-7B2C-1B45-346D-278C21080F76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EA580C"/>
                </a:solidFill>
                <a:latin typeface="Montserrat" panose="00000500000000000000" pitchFamily="2" charset="0"/>
              </a:rPr>
              <a:t>🔄 07. ĐỘNG TỪ NHÓM 1: XÂY MỚI HOẶC THÊM VÀO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74A762B-CA74-FCE1-1F6A-F9E08ED2D84C}"/>
              </a:ext>
            </a:extLst>
          </p:cNvPr>
          <p:cNvGrpSpPr/>
          <p:nvPr/>
        </p:nvGrpSpPr>
        <p:grpSpPr>
          <a:xfrm>
            <a:off x="731520" y="1524000"/>
            <a:ext cx="10728960" cy="1499658"/>
            <a:chOff x="731520" y="1524000"/>
            <a:chExt cx="10728960" cy="149965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36E042-B881-0864-C544-EFCA8A310864}"/>
                </a:ext>
              </a:extLst>
            </p:cNvPr>
            <p:cNvSpPr txBox="1"/>
            <p:nvPr/>
          </p:nvSpPr>
          <p:spPr>
            <a:xfrm>
              <a:off x="960120" y="1524000"/>
              <a:ext cx="10500360" cy="144885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CÁC ĐỘNG TỪ THỂ BỊ ĐỘNG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be constructed / erected / built / established / added
A lecture room was erected in the top-right corner.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856ACA9-1817-D42E-3D73-24AD38789EE8}"/>
                </a:ext>
              </a:extLst>
            </p:cNvPr>
            <p:cNvSpPr/>
            <p:nvPr/>
          </p:nvSpPr>
          <p:spPr>
            <a:xfrm>
              <a:off x="731520" y="1524000"/>
              <a:ext cx="57150" cy="1499658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18DEF66-33F2-2F10-41E6-9CACB8E195C9}"/>
              </a:ext>
            </a:extLst>
          </p:cNvPr>
          <p:cNvGrpSpPr/>
          <p:nvPr/>
        </p:nvGrpSpPr>
        <p:grpSpPr>
          <a:xfrm>
            <a:off x="731520" y="3468158"/>
            <a:ext cx="10728960" cy="1499658"/>
            <a:chOff x="731520" y="3468158"/>
            <a:chExt cx="10728960" cy="14996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513EA5B-68DF-2A2F-26F9-9F336A5A930B}"/>
                </a:ext>
              </a:extLst>
            </p:cNvPr>
            <p:cNvSpPr txBox="1"/>
            <p:nvPr/>
          </p:nvSpPr>
          <p:spPr>
            <a:xfrm>
              <a:off x="960120" y="3468158"/>
              <a:ext cx="10500360" cy="144885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vi-VN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CẤU TRÚC DANH TỪ HÓA TƯƠNG ỨNG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the construction / erection / addition of [Facility]
The period witnessed the construction of a new residential estate.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EAE2A1B-1C97-782F-1B97-03E9FEA99285}"/>
                </a:ext>
              </a:extLst>
            </p:cNvPr>
            <p:cNvSpPr/>
            <p:nvPr/>
          </p:nvSpPr>
          <p:spPr>
            <a:xfrm>
              <a:off x="731520" y="3468158"/>
              <a:ext cx="57150" cy="1499658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5882268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EF40919-C3D2-3BD3-F985-38B8A6873682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EA580C"/>
                </a:solidFill>
                <a:latin typeface="Montserrat" panose="00000500000000000000" pitchFamily="2" charset="0"/>
              </a:rPr>
              <a:t>🔄 07. ĐỘNG TỪ NHÓM 2: PHÁ BỎ HOẶC DỌN TRỐNG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D77E23D-AAAC-7DC8-916B-679B0772C8FF}"/>
              </a:ext>
            </a:extLst>
          </p:cNvPr>
          <p:cNvGrpSpPr/>
          <p:nvPr/>
        </p:nvGrpSpPr>
        <p:grpSpPr>
          <a:xfrm>
            <a:off x="731520" y="1524000"/>
            <a:ext cx="10728960" cy="2002360"/>
            <a:chOff x="731520" y="1524000"/>
            <a:chExt cx="10728960" cy="2002360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74EA492-1876-9992-4F2B-8A44FE9E11FA}"/>
                </a:ext>
              </a:extLst>
            </p:cNvPr>
            <p:cNvSpPr txBox="1"/>
            <p:nvPr/>
          </p:nvSpPr>
          <p:spPr>
            <a:xfrm>
              <a:off x="960120" y="1524000"/>
              <a:ext cx="10500360" cy="195156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vi-VN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PHÂN BIỆT THEO TỪNG LOẠI ĐỐI TƯỢNG</a:t>
              </a:r>
              <a:r>
                <a:rPr lang="vi-VN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be demolished / knocked down (công trình kiến trúc, nhà cửa)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be cleared / cut down (cây cối, đất nông nghiệp)
be removed (bàn ghế, trang thiết bị nội thất)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D3BC887-1231-D6D6-D2AB-2828F4C84BF6}"/>
                </a:ext>
              </a:extLst>
            </p:cNvPr>
            <p:cNvSpPr/>
            <p:nvPr/>
          </p:nvSpPr>
          <p:spPr>
            <a:xfrm>
              <a:off x="731520" y="1524000"/>
              <a:ext cx="57150" cy="2002360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B80275B-CB6B-0F4E-E11D-F815E53FD3A5}"/>
              </a:ext>
            </a:extLst>
          </p:cNvPr>
          <p:cNvGrpSpPr/>
          <p:nvPr/>
        </p:nvGrpSpPr>
        <p:grpSpPr>
          <a:xfrm>
            <a:off x="731520" y="3970860"/>
            <a:ext cx="10728960" cy="1422714"/>
            <a:chOff x="731520" y="3970860"/>
            <a:chExt cx="10728960" cy="142271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34AA156-A83D-1140-2B6E-79D742FC0BBF}"/>
                </a:ext>
              </a:extLst>
            </p:cNvPr>
            <p:cNvSpPr txBox="1"/>
            <p:nvPr/>
          </p:nvSpPr>
          <p:spPr>
            <a:xfrm>
              <a:off x="960120" y="3970860"/>
              <a:ext cx="10500360" cy="1371914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1000"/>
                </a:spcAft>
              </a:pPr>
              <a:r>
                <a:rPr lang="vi-VN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DANH TỪ HÓA TƯƠNG ỨNG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the demolition of the old shops / the clearance of farmland / the removal of tables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07B184A-4F58-4E33-B3CF-BEBEC0F14009}"/>
                </a:ext>
              </a:extLst>
            </p:cNvPr>
            <p:cNvSpPr/>
            <p:nvPr/>
          </p:nvSpPr>
          <p:spPr>
            <a:xfrm>
              <a:off x="731520" y="3970860"/>
              <a:ext cx="57150" cy="1422714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69657464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B68EB1-9C22-DDBA-6A98-38694FE4305A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EA580C"/>
                </a:solidFill>
                <a:latin typeface="Montserrat" panose="00000500000000000000" pitchFamily="2" charset="0"/>
              </a:rPr>
              <a:t>🔄 07. ĐỘNG TỪ NHÓM 3: THAY THẾ VÀ CHUYỂN ĐỔI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15A48CE-5905-7692-667D-9E2662A9273B}"/>
              </a:ext>
            </a:extLst>
          </p:cNvPr>
          <p:cNvGrpSpPr/>
          <p:nvPr/>
        </p:nvGrpSpPr>
        <p:grpSpPr>
          <a:xfrm>
            <a:off x="731520" y="1524000"/>
            <a:ext cx="10728960" cy="2002360"/>
            <a:chOff x="731520" y="1524000"/>
            <a:chExt cx="10728960" cy="2002360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5A59BA7-331F-6B8A-9D45-87754500EA8C}"/>
                </a:ext>
              </a:extLst>
            </p:cNvPr>
            <p:cNvSpPr txBox="1"/>
            <p:nvPr/>
          </p:nvSpPr>
          <p:spPr>
            <a:xfrm>
              <a:off x="960120" y="1524000"/>
              <a:ext cx="10500360" cy="195156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CÁC CẤU TRÚC THAY THẾ PHỔ BIẾN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be converted into / transformed into (biến đổi công năng)
be replaced by / superseded by (bị thay thế bởi cái mới)
gave way to / made way for (nhường chỗ cho)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2CF8115-9A81-594E-ABAF-392372198B74}"/>
                </a:ext>
              </a:extLst>
            </p:cNvPr>
            <p:cNvSpPr/>
            <p:nvPr/>
          </p:nvSpPr>
          <p:spPr>
            <a:xfrm>
              <a:off x="731520" y="1524000"/>
              <a:ext cx="57150" cy="2002360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B3CECE7-3C58-9B16-3F7A-041B326BF45E}"/>
              </a:ext>
            </a:extLst>
          </p:cNvPr>
          <p:cNvGrpSpPr/>
          <p:nvPr/>
        </p:nvGrpSpPr>
        <p:grpSpPr>
          <a:xfrm>
            <a:off x="731520" y="3970860"/>
            <a:ext cx="10728960" cy="1499658"/>
            <a:chOff x="731520" y="3970860"/>
            <a:chExt cx="10728960" cy="14996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30BEC01-397E-13E7-5828-B36A6BF66BB6}"/>
                </a:ext>
              </a:extLst>
            </p:cNvPr>
            <p:cNvSpPr txBox="1"/>
            <p:nvPr/>
          </p:nvSpPr>
          <p:spPr>
            <a:xfrm>
              <a:off x="960120" y="3970860"/>
              <a:ext cx="10500360" cy="144885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VÍ DỤ VẬN DỤNG THỰC TẾ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The large house was converted into a retirement home.
The former children's book area gave way to a modern lecture room.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09E3E23-707A-3DCA-F703-3894A158E498}"/>
                </a:ext>
              </a:extLst>
            </p:cNvPr>
            <p:cNvSpPr/>
            <p:nvPr/>
          </p:nvSpPr>
          <p:spPr>
            <a:xfrm>
              <a:off x="731520" y="3970860"/>
              <a:ext cx="57150" cy="1499658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32295798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BC5F5E-84B7-F649-C8C5-7FCC011F4936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EA580C"/>
                </a:solidFill>
                <a:latin typeface="Montserrat" panose="00000500000000000000" pitchFamily="2" charset="0"/>
              </a:rPr>
              <a:t>🔄 07. ĐỘNG TỪ NHÓM 4 &amp; 5: MỞ RỘNG &amp; GIỮ NGUYÊN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CBBC790-A0B1-8D4B-7EDE-B9FB0B18B87C}"/>
              </a:ext>
            </a:extLst>
          </p:cNvPr>
          <p:cNvGrpSpPr/>
          <p:nvPr/>
        </p:nvGrpSpPr>
        <p:grpSpPr>
          <a:xfrm>
            <a:off x="731520" y="1524000"/>
            <a:ext cx="10728960" cy="1499658"/>
            <a:chOff x="731520" y="1524000"/>
            <a:chExt cx="10728960" cy="149965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66D7C70-C7F6-6E09-5F71-442D858F90A5}"/>
                </a:ext>
              </a:extLst>
            </p:cNvPr>
            <p:cNvSpPr txBox="1"/>
            <p:nvPr/>
          </p:nvSpPr>
          <p:spPr>
            <a:xfrm>
              <a:off x="960120" y="1524000"/>
              <a:ext cx="10500360" cy="144885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NHÓM 4: MỞ RỘNG HOẶC THU HẸP (SIZE ALTERATION)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be expanded / extended / enlarged / doubled in size
be reduced in size / narrowed / scaled down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4079903-C557-C145-5C22-4E18B1BC4103}"/>
                </a:ext>
              </a:extLst>
            </p:cNvPr>
            <p:cNvSpPr/>
            <p:nvPr/>
          </p:nvSpPr>
          <p:spPr>
            <a:xfrm>
              <a:off x="731520" y="1524000"/>
              <a:ext cx="57150" cy="1499658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1694713-CED4-3605-F808-FE2A491476B1}"/>
              </a:ext>
            </a:extLst>
          </p:cNvPr>
          <p:cNvGrpSpPr/>
          <p:nvPr/>
        </p:nvGrpSpPr>
        <p:grpSpPr>
          <a:xfrm>
            <a:off x="731520" y="3468158"/>
            <a:ext cx="10728960" cy="1899768"/>
            <a:chOff x="731520" y="3468158"/>
            <a:chExt cx="10728960" cy="189976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97F219D-3F88-1D61-0DB3-433116CA9B11}"/>
                </a:ext>
              </a:extLst>
            </p:cNvPr>
            <p:cNvSpPr txBox="1"/>
            <p:nvPr/>
          </p:nvSpPr>
          <p:spPr>
            <a:xfrm>
              <a:off x="960120" y="3468158"/>
              <a:ext cx="10500360" cy="184896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NHÓM 5: GIỮ NGUYÊN KHÔNG ĐỔI (NO CHANGE)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remained unchanged / stayed intact / stood unmodified throughout the period
The primary school stayed intact despite surrounding developments.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D67A725-A642-BBA0-9BBC-3615618A04DF}"/>
                </a:ext>
              </a:extLst>
            </p:cNvPr>
            <p:cNvSpPr/>
            <p:nvPr/>
          </p:nvSpPr>
          <p:spPr>
            <a:xfrm>
              <a:off x="731520" y="3468158"/>
              <a:ext cx="57150" cy="1899768"/>
            </a:xfrm>
            <a:prstGeom prst="rect">
              <a:avLst/>
            </a:prstGeom>
            <a:solidFill>
              <a:srgbClr val="EA580C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09774999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4F003C-09C4-8AC3-5FD5-CD68787A6551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B2777"/>
                </a:solidFill>
                <a:latin typeface="Montserrat" panose="00000500000000000000" pitchFamily="2" charset="0"/>
              </a:rPr>
              <a:t>💡 08. NGỮ PHÁP #1: MỆNH ĐỀ PHÂN TỪ RÚT GỌN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A640011-E555-9A8D-A92B-BE0682A73FBE}"/>
              </a:ext>
            </a:extLst>
          </p:cNvPr>
          <p:cNvGrpSpPr/>
          <p:nvPr/>
        </p:nvGrpSpPr>
        <p:grpSpPr>
          <a:xfrm>
            <a:off x="731520" y="1524000"/>
            <a:ext cx="10728960" cy="1499658"/>
            <a:chOff x="731520" y="1524000"/>
            <a:chExt cx="10728960" cy="149965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E7E0B10-2CC3-68D1-52FF-AC1FE6175141}"/>
                </a:ext>
              </a:extLst>
            </p:cNvPr>
            <p:cNvSpPr txBox="1"/>
            <p:nvPr/>
          </p:nvSpPr>
          <p:spPr>
            <a:xfrm>
              <a:off x="960120" y="1524000"/>
              <a:ext cx="10500360" cy="144885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vi-VN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CƠ CHẾ RÚT GỌN MỆNH ĐỀ</a:t>
              </a:r>
              <a:r>
                <a:rPr lang="vi-VN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Đưa cụm phân từ quá khứ chỉ vị trí lên đầu câu để tạo nhịp điệu phong phú.
Công thức: Located / Situated + [Vị trí], [Đối tượng chính] was + [Động từ].</a:t>
              </a:r>
              <a:endParaRPr lang="en-US" sz="2000" b="1" i="1">
                <a:solidFill>
                  <a:srgbClr val="0F172A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AF86ABF-33D7-2642-AE98-DFB3716A38DE}"/>
                </a:ext>
              </a:extLst>
            </p:cNvPr>
            <p:cNvSpPr/>
            <p:nvPr/>
          </p:nvSpPr>
          <p:spPr>
            <a:xfrm>
              <a:off x="731520" y="1524000"/>
              <a:ext cx="57150" cy="1499658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920BFC3-0398-0159-F9BA-65481076D939}"/>
              </a:ext>
            </a:extLst>
          </p:cNvPr>
          <p:cNvGrpSpPr/>
          <p:nvPr/>
        </p:nvGrpSpPr>
        <p:grpSpPr>
          <a:xfrm>
            <a:off x="731520" y="3468158"/>
            <a:ext cx="10728960" cy="1422714"/>
            <a:chOff x="731520" y="3468158"/>
            <a:chExt cx="10728960" cy="142271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9B81466-429C-E342-CE8E-245E3C5D3E52}"/>
                </a:ext>
              </a:extLst>
            </p:cNvPr>
            <p:cNvSpPr txBox="1"/>
            <p:nvPr/>
          </p:nvSpPr>
          <p:spPr>
            <a:xfrm>
              <a:off x="960120" y="3468158"/>
              <a:ext cx="10500360" cy="1371914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10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CÂU VĂN THỰC CHIẾN BAND 7.5+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Located to the east of the primary road, the local school was significantly extended.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AB1AE6F-F28F-BB9F-A41E-4FC4E10EE263}"/>
                </a:ext>
              </a:extLst>
            </p:cNvPr>
            <p:cNvSpPr/>
            <p:nvPr/>
          </p:nvSpPr>
          <p:spPr>
            <a:xfrm>
              <a:off x="731520" y="3468158"/>
              <a:ext cx="57150" cy="1422714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50649033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0736E8C-DD98-FB0E-574B-3F405966CBFB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B2777"/>
                </a:solidFill>
                <a:latin typeface="Montserrat" panose="00000500000000000000" pitchFamily="2" charset="0"/>
              </a:rPr>
              <a:t>💡 08. </a:t>
            </a:r>
            <a:r>
              <a:rPr lang="vi-VN" sz="2800" b="1">
                <a:solidFill>
                  <a:srgbClr val="DB2777"/>
                </a:solidFill>
                <a:latin typeface="Montserrat" panose="00000500000000000000" pitchFamily="2" charset="0"/>
              </a:rPr>
              <a:t>NGỮ PHÁP #2: ĐẢO NGỮ CỤM GIỚI TỪ NƠI CHỐN</a:t>
            </a:r>
            <a:endParaRPr lang="en-US" sz="2800" b="1">
              <a:solidFill>
                <a:srgbClr val="DB2777"/>
              </a:solidFill>
              <a:latin typeface="Montserrat" panose="00000500000000000000" pitchFamily="2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8492F12-2556-1084-788E-D10EF1B13A22}"/>
              </a:ext>
            </a:extLst>
          </p:cNvPr>
          <p:cNvGrpSpPr/>
          <p:nvPr/>
        </p:nvGrpSpPr>
        <p:grpSpPr>
          <a:xfrm>
            <a:off x="731520" y="1524000"/>
            <a:ext cx="10728960" cy="1499658"/>
            <a:chOff x="731520" y="1524000"/>
            <a:chExt cx="10728960" cy="149965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76FD3B3-61A9-3B00-5F50-503284C698BB}"/>
                </a:ext>
              </a:extLst>
            </p:cNvPr>
            <p:cNvSpPr txBox="1"/>
            <p:nvPr/>
          </p:nvSpPr>
          <p:spPr>
            <a:xfrm>
              <a:off x="960120" y="1524000"/>
              <a:ext cx="10500360" cy="144885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vi-VN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CƠ CHẾ ĐẢO NGỮ (PREPOSITIONAL INVERSION)</a:t>
              </a:r>
              <a:r>
                <a:rPr lang="vi-VN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Đảo cụm giới từ chỉ vị trí lên đầu câu mà KHÔNG cần mượn trợ động từ.
Công thức: [Prepositional Phrase of Place] + stands / lies / sat + [Subject].</a:t>
              </a:r>
              <a:endParaRPr lang="en-US" sz="2000" b="1" i="1">
                <a:solidFill>
                  <a:srgbClr val="0F172A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823CE76-A549-300F-A646-5656FC295773}"/>
                </a:ext>
              </a:extLst>
            </p:cNvPr>
            <p:cNvSpPr/>
            <p:nvPr/>
          </p:nvSpPr>
          <p:spPr>
            <a:xfrm>
              <a:off x="731520" y="1524000"/>
              <a:ext cx="57150" cy="1499658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C451B1E-F3E5-D204-09CA-CAAE53D7919B}"/>
              </a:ext>
            </a:extLst>
          </p:cNvPr>
          <p:cNvGrpSpPr/>
          <p:nvPr/>
        </p:nvGrpSpPr>
        <p:grpSpPr>
          <a:xfrm>
            <a:off x="731520" y="3468158"/>
            <a:ext cx="10728960" cy="1422714"/>
            <a:chOff x="731520" y="3468158"/>
            <a:chExt cx="10728960" cy="142271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703E081-D3A8-7B24-5301-F097A3B8740A}"/>
                </a:ext>
              </a:extLst>
            </p:cNvPr>
            <p:cNvSpPr txBox="1"/>
            <p:nvPr/>
          </p:nvSpPr>
          <p:spPr>
            <a:xfrm>
              <a:off x="960120" y="3468158"/>
              <a:ext cx="10500360" cy="1371914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10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CÂU VĂN THỰC CHIẾN BAND 7.5+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In the top-right corner of the library now stands a newly constructed lecture room.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49FFAF9-E4B1-18EB-75D6-C16E75DEA4AF}"/>
                </a:ext>
              </a:extLst>
            </p:cNvPr>
            <p:cNvSpPr/>
            <p:nvPr/>
          </p:nvSpPr>
          <p:spPr>
            <a:xfrm>
              <a:off x="731520" y="3468158"/>
              <a:ext cx="57150" cy="1422714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53747062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634869-9C78-05A3-329F-F592EF05F637}"/>
              </a:ext>
            </a:extLst>
          </p:cNvPr>
          <p:cNvSpPr txBox="1"/>
          <p:nvPr/>
        </p:nvSpPr>
        <p:spPr>
          <a:xfrm>
            <a:off x="731520" y="355600"/>
            <a:ext cx="10728960" cy="86177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B2777"/>
                </a:solidFill>
                <a:latin typeface="Montserrat" panose="00000500000000000000" pitchFamily="2" charset="0"/>
              </a:rPr>
              <a:t>💡 08. NGỮ PHÁP #3: CẤU TRÚC ĐÁNH ĐỔI AT THE EXPENSE OF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308A8EF-A474-2EA0-1B56-E3113C9C3C40}"/>
              </a:ext>
            </a:extLst>
          </p:cNvPr>
          <p:cNvGrpSpPr/>
          <p:nvPr/>
        </p:nvGrpSpPr>
        <p:grpSpPr>
          <a:xfrm>
            <a:off x="731520" y="1524000"/>
            <a:ext cx="10728960" cy="1899768"/>
            <a:chOff x="731520" y="1524000"/>
            <a:chExt cx="10728960" cy="189976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8C5E28A-A6AE-1987-12C9-7374388DCA04}"/>
                </a:ext>
              </a:extLst>
            </p:cNvPr>
            <p:cNvSpPr txBox="1"/>
            <p:nvPr/>
          </p:nvSpPr>
          <p:spPr>
            <a:xfrm>
              <a:off x="960120" y="1524000"/>
              <a:ext cx="10500360" cy="184896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Ý NGHĨA VÀ CÁCH DÙNG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Diễn tả sự phát triển của công trình này làm thu hẹp hoặc mất đi công trình khác.</a:t>
              </a:r>
              <a:r>
                <a:rPr lang="vi-VN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Thể hiện tư duy so sánh tương quan sâu sắc, chuẩn văn phong học thuật.</a:t>
              </a:r>
              <a:endParaRPr lang="en-US" sz="2000" b="1" i="1">
                <a:solidFill>
                  <a:srgbClr val="0F172A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1CB0176-BCE4-9963-4764-C87C04D63DA9}"/>
                </a:ext>
              </a:extLst>
            </p:cNvPr>
            <p:cNvSpPr/>
            <p:nvPr/>
          </p:nvSpPr>
          <p:spPr>
            <a:xfrm>
              <a:off x="731520" y="1524000"/>
              <a:ext cx="57150" cy="1899768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3343C42-3C54-24D0-5EA8-1F246413B033}"/>
              </a:ext>
            </a:extLst>
          </p:cNvPr>
          <p:cNvGrpSpPr/>
          <p:nvPr/>
        </p:nvGrpSpPr>
        <p:grpSpPr>
          <a:xfrm>
            <a:off x="731520" y="3868268"/>
            <a:ext cx="10728960" cy="1422714"/>
            <a:chOff x="731520" y="3868268"/>
            <a:chExt cx="10728960" cy="142271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A483F0F-2B48-99BC-20E4-F8B43005928D}"/>
                </a:ext>
              </a:extLst>
            </p:cNvPr>
            <p:cNvSpPr txBox="1"/>
            <p:nvPr/>
          </p:nvSpPr>
          <p:spPr>
            <a:xfrm>
              <a:off x="960120" y="3868268"/>
              <a:ext cx="10500360" cy="1371914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10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CÂU VĂN THỰC CHIẾN BAND 7.5+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The retirement home was expanded at the expense of the surrounding gardens.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066B683-358C-9E45-B2A3-6E04E63B15EB}"/>
                </a:ext>
              </a:extLst>
            </p:cNvPr>
            <p:cNvSpPr/>
            <p:nvPr/>
          </p:nvSpPr>
          <p:spPr>
            <a:xfrm>
              <a:off x="731520" y="3868268"/>
              <a:ext cx="57150" cy="1422714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60220660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A4DA4D-5C43-D075-2E74-BAB56EDC8ADC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B2777"/>
                </a:solidFill>
                <a:latin typeface="Montserrat" panose="00000500000000000000" pitchFamily="2" charset="0"/>
              </a:rPr>
              <a:t>💡 08. NGỮ PHÁP #4: DANH TỪ HÓA VỚI WITNESSED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ADD7FF9-0922-394B-8513-5A0CDD044117}"/>
              </a:ext>
            </a:extLst>
          </p:cNvPr>
          <p:cNvGrpSpPr/>
          <p:nvPr/>
        </p:nvGrpSpPr>
        <p:grpSpPr>
          <a:xfrm>
            <a:off x="731520" y="1524000"/>
            <a:ext cx="10728960" cy="1499658"/>
            <a:chOff x="731520" y="1524000"/>
            <a:chExt cx="10728960" cy="149965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7D384B1-4F66-923F-A9DF-AB46CCE21DE1}"/>
                </a:ext>
              </a:extLst>
            </p:cNvPr>
            <p:cNvSpPr txBox="1"/>
            <p:nvPr/>
          </p:nvSpPr>
          <p:spPr>
            <a:xfrm>
              <a:off x="960120" y="1524000"/>
              <a:ext cx="10500360" cy="144885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vi-VN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CƠ CHẾ DANH TỪ HÓA</a:t>
              </a:r>
              <a:r>
                <a:rPr lang="vi-VN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Lấy địa điểm hoặc thời gian làm chủ ngữ cho động từ witnessed / saw.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Công thức: [Place / Time] + witnessed / saw + the [Noun Phrase of Change].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36010BC-8312-3FFE-DFC3-7113AE3F2E8D}"/>
                </a:ext>
              </a:extLst>
            </p:cNvPr>
            <p:cNvSpPr/>
            <p:nvPr/>
          </p:nvSpPr>
          <p:spPr>
            <a:xfrm>
              <a:off x="731520" y="1524000"/>
              <a:ext cx="57150" cy="1499658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9D97120-7B31-2CDD-3382-BC8E18253B6A}"/>
              </a:ext>
            </a:extLst>
          </p:cNvPr>
          <p:cNvGrpSpPr/>
          <p:nvPr/>
        </p:nvGrpSpPr>
        <p:grpSpPr>
          <a:xfrm>
            <a:off x="731520" y="3468158"/>
            <a:ext cx="10728960" cy="1422714"/>
            <a:chOff x="731520" y="3468158"/>
            <a:chExt cx="10728960" cy="142271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76811D2-5141-1E93-D3AD-9F8175ED7CE3}"/>
                </a:ext>
              </a:extLst>
            </p:cNvPr>
            <p:cNvSpPr txBox="1"/>
            <p:nvPr/>
          </p:nvSpPr>
          <p:spPr>
            <a:xfrm>
              <a:off x="960120" y="3468158"/>
              <a:ext cx="10500360" cy="1371914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10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CÂU VĂN THỰC CHIẾN BAND 7.5+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The bottom-right corner witnessed the conversion of the enquiry desk into a café.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417AE18-1352-F82E-6026-E193EE59EE0B}"/>
                </a:ext>
              </a:extLst>
            </p:cNvPr>
            <p:cNvSpPr/>
            <p:nvPr/>
          </p:nvSpPr>
          <p:spPr>
            <a:xfrm>
              <a:off x="731520" y="3468158"/>
              <a:ext cx="57150" cy="1422714"/>
            </a:xfrm>
            <a:prstGeom prst="rect">
              <a:avLst/>
            </a:prstGeom>
            <a:solidFill>
              <a:srgbClr val="DB2777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47265632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B9C57-0B26-72D9-1D2E-7FE5E4D3206E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C2626"/>
                </a:solidFill>
                <a:latin typeface="Montserrat" panose="00000500000000000000" pitchFamily="2" charset="0"/>
              </a:rPr>
              <a:t>🏡 09. THỰC CHIẾN #1: LÀNG STOKEFORD – MỞ BÀI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23084A-1C2E-FEFD-66DA-015EA43095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2426071"/>
            <a:ext cx="4318000" cy="225985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1864AC52-2F69-A882-F042-866B618C6F4A}"/>
              </a:ext>
            </a:extLst>
          </p:cNvPr>
          <p:cNvGrpSpPr/>
          <p:nvPr/>
        </p:nvGrpSpPr>
        <p:grpSpPr>
          <a:xfrm>
            <a:off x="5461000" y="1905000"/>
            <a:ext cx="5969000" cy="2699987"/>
            <a:chOff x="5461000" y="1905000"/>
            <a:chExt cx="5969000" cy="269998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39C4DFF-E11D-6D67-7376-2E8834242FAC}"/>
                </a:ext>
              </a:extLst>
            </p:cNvPr>
            <p:cNvSpPr txBox="1"/>
            <p:nvPr/>
          </p:nvSpPr>
          <p:spPr>
            <a:xfrm>
              <a:off x="5689600" y="1905000"/>
              <a:ext cx="5740400" cy="264918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vi-VN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INTRODUCTION (QUÁ KHỨ ĐƠN)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The two maps illustrate how Stokeford developed over an 80-year period from 1930 to 2010.
Chỉ dùng 1 câu duy nhất paraphrase lại đề bài ngắn gọn và chính xác.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D3D7A3B-3561-C7DC-1CF5-BE2A15FAA79F}"/>
                </a:ext>
              </a:extLst>
            </p:cNvPr>
            <p:cNvSpPr/>
            <p:nvPr/>
          </p:nvSpPr>
          <p:spPr>
            <a:xfrm>
              <a:off x="5461000" y="1905000"/>
              <a:ext cx="57150" cy="2699987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69778178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0027A7-CD94-3469-BC55-CA64877A123E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C2626"/>
                </a:solidFill>
                <a:latin typeface="Montserrat" panose="00000500000000000000" pitchFamily="2" charset="0"/>
              </a:rPr>
              <a:t>🏡 09. THỰC CHIẾN #1: LÀNG STOKEFORD – TỔNG QUAN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386CE2-6175-5289-3DD8-9C4BA127FE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2426071"/>
            <a:ext cx="4318000" cy="225985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989EAE8B-8581-6D16-72E4-7849F9A62848}"/>
              </a:ext>
            </a:extLst>
          </p:cNvPr>
          <p:cNvGrpSpPr/>
          <p:nvPr/>
        </p:nvGrpSpPr>
        <p:grpSpPr>
          <a:xfrm>
            <a:off x="5461000" y="1778000"/>
            <a:ext cx="5969000" cy="3580228"/>
            <a:chOff x="5461000" y="1778000"/>
            <a:chExt cx="5969000" cy="358022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2BF5989-EB42-3008-5A12-37A4640DDFCE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352942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OVERVIEW (TỔNG THỂ DÂN CƯ HÓA)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Overall, the village underwent a transformation from a rural into a residential area.
The most notable changes include the complete clearance of farmland for new housing.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A11ECEC-75EC-59B2-9D2E-07463B1A65ED}"/>
                </a:ext>
              </a:extLst>
            </p:cNvPr>
            <p:cNvSpPr/>
            <p:nvPr/>
          </p:nvSpPr>
          <p:spPr>
            <a:xfrm>
              <a:off x="5461000" y="1778000"/>
              <a:ext cx="57150" cy="3580228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79820553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1C26A2-DD13-F2FB-802D-307CF3427DD4}"/>
              </a:ext>
            </a:extLst>
          </p:cNvPr>
          <p:cNvSpPr txBox="1"/>
          <p:nvPr/>
        </p:nvSpPr>
        <p:spPr>
          <a:xfrm>
            <a:off x="731520" y="355600"/>
            <a:ext cx="10728960" cy="86177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C2626"/>
                </a:solidFill>
                <a:latin typeface="Montserrat" panose="00000500000000000000" pitchFamily="2" charset="0"/>
              </a:rPr>
              <a:t>🏡 09. THỰC CHIẾN #1: LÀNG STOKEFORD – BODY 1 (GIỮ NGUYÊN)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9D2A2B-9AAB-16E1-AF3F-F49C55F9A1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2426071"/>
            <a:ext cx="4318000" cy="225985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A4DCDEA2-498F-8C02-7CC8-7389C1863D9B}"/>
              </a:ext>
            </a:extLst>
          </p:cNvPr>
          <p:cNvGrpSpPr/>
          <p:nvPr/>
        </p:nvGrpSpPr>
        <p:grpSpPr>
          <a:xfrm>
            <a:off x="5461000" y="1778000"/>
            <a:ext cx="5969000" cy="2780009"/>
            <a:chOff x="5461000" y="1778000"/>
            <a:chExt cx="5969000" cy="278000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4B3BA25-D94F-4C3D-0EAE-D58C80CDBDC0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272920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CÔNG TRÌNH GIỮ NGUYÊN NỬA PHÍA BẮC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River Stoke and the bridge in the north remained completely unchanged.
The post office in the village center also stayed intact throughout the 80 years.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B292F5E-B4D7-387B-034A-DCC7030707DF}"/>
                </a:ext>
              </a:extLst>
            </p:cNvPr>
            <p:cNvSpPr/>
            <p:nvPr/>
          </p:nvSpPr>
          <p:spPr>
            <a:xfrm>
              <a:off x="5461000" y="1778000"/>
              <a:ext cx="57150" cy="2780009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00830561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E5D7B8-CC31-C7D0-423B-D3F348A83C84}"/>
              </a:ext>
            </a:extLst>
          </p:cNvPr>
          <p:cNvSpPr txBox="1"/>
          <p:nvPr/>
        </p:nvSpPr>
        <p:spPr>
          <a:xfrm>
            <a:off x="731520" y="355600"/>
            <a:ext cx="10728960" cy="86177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C2626"/>
                </a:solidFill>
                <a:latin typeface="Montserrat" panose="00000500000000000000" pitchFamily="2" charset="0"/>
              </a:rPr>
              <a:t>🏡 09. THỰC CHIẾN #1: LÀNG STOKEFORD – BODY 1 (THAY ĐỔI)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4F453E-8A12-C44A-1517-0F29B57B2C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2426071"/>
            <a:ext cx="4318000" cy="225985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ABB26B58-6495-3A05-B5D8-3DAD7D7E1533}"/>
              </a:ext>
            </a:extLst>
          </p:cNvPr>
          <p:cNvGrpSpPr/>
          <p:nvPr/>
        </p:nvGrpSpPr>
        <p:grpSpPr>
          <a:xfrm>
            <a:off x="5461000" y="1778000"/>
            <a:ext cx="5969000" cy="2699987"/>
            <a:chOff x="5461000" y="1778000"/>
            <a:chExt cx="5969000" cy="269998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8F3EB8D-FEAE-9F3C-CBB7-057B8AC36596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264918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KHU VỰC THAY ĐỔI NỬA PHÍA BẮC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Farmland in the north-east was cleared to make way for new residential houses.
The row of shops adjacent to the post office was replaced by residential dwellings.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C7C8DAE-9D72-CE23-C844-0F86B570F36C}"/>
                </a:ext>
              </a:extLst>
            </p:cNvPr>
            <p:cNvSpPr/>
            <p:nvPr/>
          </p:nvSpPr>
          <p:spPr>
            <a:xfrm>
              <a:off x="5461000" y="1778000"/>
              <a:ext cx="57150" cy="2699987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15736076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0042513-EAF0-B900-00DE-3BC0B71A2522}"/>
              </a:ext>
            </a:extLst>
          </p:cNvPr>
          <p:cNvSpPr txBox="1"/>
          <p:nvPr/>
        </p:nvSpPr>
        <p:spPr>
          <a:xfrm>
            <a:off x="731520" y="355600"/>
            <a:ext cx="10728960" cy="86177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C2626"/>
                </a:solidFill>
                <a:latin typeface="Montserrat" panose="00000500000000000000" pitchFamily="2" charset="0"/>
              </a:rPr>
              <a:t>🏡 09. THỰC CHIẾN #1: LÀNG STOKEFORD – BODY 2 (PHÍA NAM)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4F579C-2083-A229-BFD2-494376B74A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2426071"/>
            <a:ext cx="4318000" cy="225985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45769964-2163-860A-6BC8-8C0C18EF28B1}"/>
              </a:ext>
            </a:extLst>
          </p:cNvPr>
          <p:cNvGrpSpPr/>
          <p:nvPr/>
        </p:nvGrpSpPr>
        <p:grpSpPr>
          <a:xfrm>
            <a:off x="5461000" y="1778000"/>
            <a:ext cx="5969000" cy="3180118"/>
            <a:chOff x="5461000" y="1778000"/>
            <a:chExt cx="5969000" cy="318011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3C5FB13-0640-4DFB-063E-B88F72FED075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312931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vi-VN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TRƯỜNG TIỂU HỌC &amp; NHÀ DƯỠNG LÃO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The primary school to the east of the road was significantly extended.
The large house was converted into a retirement home at the expense of its gardens.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0D6B6FA-D952-0587-01EE-A377791E746A}"/>
                </a:ext>
              </a:extLst>
            </p:cNvPr>
            <p:cNvSpPr/>
            <p:nvPr/>
          </p:nvSpPr>
          <p:spPr>
            <a:xfrm>
              <a:off x="5461000" y="1778000"/>
              <a:ext cx="57150" cy="3180118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13087155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E77954C-D84D-0B5F-6591-525137328F6B}"/>
              </a:ext>
            </a:extLst>
          </p:cNvPr>
          <p:cNvSpPr txBox="1"/>
          <p:nvPr/>
        </p:nvSpPr>
        <p:spPr>
          <a:xfrm>
            <a:off x="731520" y="355600"/>
            <a:ext cx="10728960" cy="86177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DC2626"/>
                </a:solidFill>
                <a:latin typeface="Montserrat" panose="00000500000000000000" pitchFamily="2" charset="0"/>
              </a:rPr>
              <a:t>🏡 09. THỰC CHIẾN #1: LÀNG STOKEFORD – BODY 2 (TÂY NAM)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2C5D2F-C2E0-AA0D-45A6-4910C2A68B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2426071"/>
            <a:ext cx="4318000" cy="225985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BCE2899-970E-16B9-EC93-68F958D79148}"/>
              </a:ext>
            </a:extLst>
          </p:cNvPr>
          <p:cNvGrpSpPr/>
          <p:nvPr/>
        </p:nvGrpSpPr>
        <p:grpSpPr>
          <a:xfrm>
            <a:off x="5461000" y="1778000"/>
            <a:ext cx="5969000" cy="2299877"/>
            <a:chOff x="5461000" y="1778000"/>
            <a:chExt cx="5969000" cy="229987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599A456-59D6-796D-1BF5-B5FF0A817C42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224907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ĐẤT NÔNG NGHIỆP PHÍA TÂY NAM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Farmland in the south-west gave way to an extensive housing network.
Additional side roads were constructed to connect the newly built houses.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A29DE8E-C810-A264-418B-ABC85A02C542}"/>
                </a:ext>
              </a:extLst>
            </p:cNvPr>
            <p:cNvSpPr/>
            <p:nvPr/>
          </p:nvSpPr>
          <p:spPr>
            <a:xfrm>
              <a:off x="5461000" y="1778000"/>
              <a:ext cx="57150" cy="2299877"/>
            </a:xfrm>
            <a:prstGeom prst="rect">
              <a:avLst/>
            </a:prstGeom>
            <a:solidFill>
              <a:srgbClr val="DC2626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81168498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2BCC6-E5FC-CCF0-5DFD-87425FFE19DA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7C3AED"/>
                </a:solidFill>
                <a:latin typeface="Montserrat" panose="00000500000000000000" pitchFamily="2" charset="0"/>
              </a:rPr>
              <a:t>📚 10. </a:t>
            </a:r>
            <a:r>
              <a:rPr lang="vi-VN" sz="2800" b="1">
                <a:solidFill>
                  <a:srgbClr val="7C3AED"/>
                </a:solidFill>
                <a:latin typeface="Montserrat" panose="00000500000000000000" pitchFamily="2" charset="0"/>
              </a:rPr>
              <a:t>THỰC CHIẾN #2: THƯ VIỆN – TỔNG QUAN</a:t>
            </a:r>
            <a:endParaRPr lang="en-US" sz="2800" b="1">
              <a:solidFill>
                <a:srgbClr val="7C3AED"/>
              </a:solidFill>
              <a:latin typeface="Montserrat" panose="00000500000000000000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B49E10-BF4B-174A-0F75-CF3B5A431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206500"/>
            <a:ext cx="4135967" cy="46990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189A8007-B09E-ED13-0583-C48EAFBBB9AF}"/>
              </a:ext>
            </a:extLst>
          </p:cNvPr>
          <p:cNvGrpSpPr/>
          <p:nvPr/>
        </p:nvGrpSpPr>
        <p:grpSpPr>
          <a:xfrm>
            <a:off x="5461000" y="1778000"/>
            <a:ext cx="5969000" cy="3180118"/>
            <a:chOff x="5461000" y="1778000"/>
            <a:chExt cx="5969000" cy="318011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5FDEFE-ABA4-1150-A6F5-360F22A11130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3129318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OVERVIEW (TỔNG THỂ HIỆN ĐẠI HÓA)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The library has been significantly modernized with expanded digital amenities.
The central tables and chairs have been completely removed to create open space.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EFECA6C-C6E3-D00D-E22B-C94B165D0ECF}"/>
                </a:ext>
              </a:extLst>
            </p:cNvPr>
            <p:cNvSpPr/>
            <p:nvPr/>
          </p:nvSpPr>
          <p:spPr>
            <a:xfrm>
              <a:off x="5461000" y="1778000"/>
              <a:ext cx="57150" cy="3180118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25940250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894960-BB5A-CD8A-7C84-58A824C9B228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7C3AED"/>
                </a:solidFill>
                <a:latin typeface="Montserrat" panose="00000500000000000000" pitchFamily="2" charset="0"/>
              </a:rPr>
              <a:t>📚 10. </a:t>
            </a:r>
            <a:r>
              <a:rPr lang="vi-VN" sz="2800" b="1">
                <a:solidFill>
                  <a:srgbClr val="7C3AED"/>
                </a:solidFill>
                <a:latin typeface="Montserrat" panose="00000500000000000000" pitchFamily="2" charset="0"/>
              </a:rPr>
              <a:t>THỰC CHIẾN #2: THƯ VIỆN – BODY 1</a:t>
            </a:r>
            <a:endParaRPr lang="en-US" sz="2800" b="1">
              <a:solidFill>
                <a:srgbClr val="7C3AED"/>
              </a:solidFill>
              <a:latin typeface="Montserrat" panose="00000500000000000000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92C27F-6D5C-B3ED-CD4D-33FB1CFD4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206500"/>
            <a:ext cx="4135967" cy="46990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AA65460A-B641-64C5-14DB-A05699090FF9}"/>
              </a:ext>
            </a:extLst>
          </p:cNvPr>
          <p:cNvGrpSpPr/>
          <p:nvPr/>
        </p:nvGrpSpPr>
        <p:grpSpPr>
          <a:xfrm>
            <a:off x="5461000" y="1778000"/>
            <a:ext cx="5969000" cy="2780009"/>
            <a:chOff x="5461000" y="1778000"/>
            <a:chExt cx="5969000" cy="278000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A48B982-E83A-3E4B-8D8C-301D564AC9F8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272920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BODY 1 ➔ LỐI VÀO &amp; KHU VỰC TRUNG TÂM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The main entrance has remained in its original location.
The enquiry desk has given way to a café and modern self-service machines.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7990BFB-9518-CB41-3578-F7A5FF0196CB}"/>
                </a:ext>
              </a:extLst>
            </p:cNvPr>
            <p:cNvSpPr/>
            <p:nvPr/>
          </p:nvSpPr>
          <p:spPr>
            <a:xfrm>
              <a:off x="5461000" y="1778000"/>
              <a:ext cx="57150" cy="2780009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63820199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05DFF6-E0F7-8645-1AAB-9829434724D7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7C3AED"/>
                </a:solidFill>
                <a:latin typeface="Montserrat" panose="00000500000000000000" pitchFamily="2" charset="0"/>
              </a:rPr>
              <a:t>📚 10. </a:t>
            </a:r>
            <a:r>
              <a:rPr lang="vi-VN" sz="2800" b="1">
                <a:solidFill>
                  <a:srgbClr val="7C3AED"/>
                </a:solidFill>
                <a:latin typeface="Montserrat" panose="00000500000000000000" pitchFamily="2" charset="0"/>
              </a:rPr>
              <a:t>THỰC CHIẾN #2: THƯ VIỆN – BODY 2</a:t>
            </a:r>
            <a:endParaRPr lang="en-US" sz="2800" b="1">
              <a:solidFill>
                <a:srgbClr val="7C3AED"/>
              </a:solidFill>
              <a:latin typeface="Montserrat" panose="00000500000000000000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6E8C73-EC31-C12D-83C1-057903049B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206500"/>
            <a:ext cx="4135967" cy="46990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F6BA8662-7D9E-7D9A-C806-7E866FC0B9DE}"/>
              </a:ext>
            </a:extLst>
          </p:cNvPr>
          <p:cNvGrpSpPr/>
          <p:nvPr/>
        </p:nvGrpSpPr>
        <p:grpSpPr>
          <a:xfrm>
            <a:off x="5461000" y="1778000"/>
            <a:ext cx="5969000" cy="2299877"/>
            <a:chOff x="5461000" y="1778000"/>
            <a:chExt cx="5969000" cy="229987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30F8BB7-7266-6B25-5511-349B091D7F1E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224907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BODY 2 ➔ CÁC PHÒNG CHỨC NĂNG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The room in the top-left corner was enlarged into a storytelling area.
The former children's book section has been converted into a lecture room.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9F8B3D-9EE4-1FD3-EC7B-6B854F70D8FA}"/>
                </a:ext>
              </a:extLst>
            </p:cNvPr>
            <p:cNvSpPr/>
            <p:nvPr/>
          </p:nvSpPr>
          <p:spPr>
            <a:xfrm>
              <a:off x="5461000" y="1778000"/>
              <a:ext cx="57150" cy="2299877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71176781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D8B95C-38C5-2072-84E3-48129C24B1E1}"/>
              </a:ext>
            </a:extLst>
          </p:cNvPr>
          <p:cNvSpPr txBox="1"/>
          <p:nvPr/>
        </p:nvSpPr>
        <p:spPr>
          <a:xfrm>
            <a:off x="731520" y="355600"/>
            <a:ext cx="1072896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7C3AED"/>
                </a:solidFill>
                <a:latin typeface="Montserrat" panose="00000500000000000000" pitchFamily="2" charset="0"/>
              </a:rPr>
              <a:t>📚 10. </a:t>
            </a:r>
            <a:r>
              <a:rPr lang="vi-VN" sz="2800" b="1">
                <a:solidFill>
                  <a:srgbClr val="7C3AED"/>
                </a:solidFill>
                <a:latin typeface="Montserrat" panose="00000500000000000000" pitchFamily="2" charset="0"/>
              </a:rPr>
              <a:t>THỰC CHIẾN #2: THƯ VIỆN – ĐẢO NGỮ NƠI CHỐN</a:t>
            </a:r>
            <a:endParaRPr lang="en-US" sz="2800" b="1">
              <a:solidFill>
                <a:srgbClr val="7C3AED"/>
              </a:solidFill>
              <a:latin typeface="Montserrat" panose="00000500000000000000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F87CFA-D43A-294E-6BB2-583EE78791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206500"/>
            <a:ext cx="4135967" cy="46990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62A9486-181D-247A-FC6F-808BFA9D62CC}"/>
              </a:ext>
            </a:extLst>
          </p:cNvPr>
          <p:cNvGrpSpPr/>
          <p:nvPr/>
        </p:nvGrpSpPr>
        <p:grpSpPr>
          <a:xfrm>
            <a:off x="5461000" y="1778000"/>
            <a:ext cx="5969000" cy="2780009"/>
            <a:chOff x="5461000" y="1778000"/>
            <a:chExt cx="5969000" cy="278000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83640FA-C203-FEEA-F60C-FA68607832D9}"/>
                </a:ext>
              </a:extLst>
            </p:cNvPr>
            <p:cNvSpPr txBox="1"/>
            <p:nvPr/>
          </p:nvSpPr>
          <p:spPr>
            <a:xfrm>
              <a:off x="5689600" y="1778000"/>
              <a:ext cx="5740400" cy="272920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ct val="130000"/>
                </a:lnSpc>
                <a:spcAft>
                  <a:spcPts val="800"/>
                </a:spcAft>
              </a:pPr>
              <a:r>
                <a:rPr lang="en-US" sz="2400" b="1">
                  <a:solidFill>
                    <a:srgbClr val="0F172A"/>
                  </a:solidFill>
                  <a:latin typeface="Montserrat" panose="00000500000000000000" pitchFamily="2" charset="0"/>
                </a:rPr>
                <a:t>CẤU TRÚC ĐẢO NGỮ ĂN ĐIỂM NGỮ PHÁP</a:t>
              </a:r>
              <a:r>
                <a:rPr lang="en-US" sz="2000" b="1" i="1">
                  <a:solidFill>
                    <a:srgbClr val="0F172A"/>
                  </a:solidFill>
                  <a:latin typeface="Montserrat" panose="00000500000000000000" pitchFamily="2" charset="0"/>
                </a:rPr>
                <a:t>
In the top-right corner now stands a newly constructed lecture room.
Positioned along the right-hand wall are updated self-service kiosks.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4797908-09B8-FED9-3BDC-C69C49A70860}"/>
                </a:ext>
              </a:extLst>
            </p:cNvPr>
            <p:cNvSpPr/>
            <p:nvPr/>
          </p:nvSpPr>
          <p:spPr>
            <a:xfrm>
              <a:off x="5461000" y="1778000"/>
              <a:ext cx="57150" cy="2780009"/>
            </a:xfrm>
            <a:prstGeom prst="rect">
              <a:avLst/>
            </a:prstGeom>
            <a:solidFill>
              <a:srgbClr val="7C3AE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93728578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2814</Words>
  <Application>Microsoft Office PowerPoint</Application>
  <PresentationFormat>Custom</PresentationFormat>
  <Paragraphs>99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Aptos Display</vt:lpstr>
      <vt:lpstr>Arial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Lê Thành Hiệu</dc:creator>
  <cp:lastModifiedBy>Lê Thành Hiệu</cp:lastModifiedBy>
  <cp:revision>1</cp:revision>
  <dcterms:created xsi:type="dcterms:W3CDTF">2026-10-20T18:16:12Z</dcterms:created>
  <dcterms:modified xsi:type="dcterms:W3CDTF">2026-10-20T18:16:12Z</dcterms:modified>
</cp:coreProperties>
</file>