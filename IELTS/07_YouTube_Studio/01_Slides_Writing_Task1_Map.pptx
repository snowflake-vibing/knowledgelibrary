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DC2626"/>
                </a:solidFill>
                <a:latin typeface="Montserrat"/>
              </a:defRPr>
            </a:pPr>
            <a:r>
              <a:t>🗺️ PHÂN LOẠI CÁC DẠNG BÀI MAP</a:t>
            </a:r>
          </a:p>
        </p:txBody>
      </p:sp>
      <p:pic>
        <p:nvPicPr>
          <p:cNvPr id="3" name="Picture 2" descr="cambridge_static_map_s1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4023360" cy="39643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463040"/>
            <a:ext cx="630936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QUÁ KHỨ ➔ QUÁ KHỨ (1930 - 2010)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was constructed / had been demolished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QUÁ KHỨ ➔ HIỆN TẠI (20 YEARS AGO - TODAY)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has been converted into / have been removed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HIỆN TẠI ➔ TƯƠNG LAI (NOW - 2035)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is planned to be built / is projected to be converted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STATIC MAP (SO SÁNH 2 VỊ TRÍ S1 VS S2)</a:t>
            </a:r>
          </a:p>
          <a:p>
            <a:pPr>
              <a:spcAft>
                <a:spcPts val="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is located in / lies to the north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7C3AED"/>
                </a:solidFill>
                <a:latin typeface="Montserrat"/>
              </a:defRPr>
            </a:pPr>
            <a:r>
              <a:t>🎯 4 TIÊU CHÍ CHẤM ĐIỂM (BAND 7.5+)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TASK ACHIEVEMENT</a:t>
            </a:r>
          </a:p>
          <a:p>
            <a:pPr>
              <a:spcAft>
                <a:spcPts val="600"/>
              </a:spcAft>
              <a:defRPr b="0" i="0" sz="2400">
                <a:solidFill>
                  <a:srgbClr val="0F172A"/>
                </a:solidFill>
                <a:latin typeface="Montserrat"/>
              </a:defRPr>
            </a:pPr>
            <a:r>
              <a:t>Bắt buộc có Overview nêu bức tranh tổng thể</a:t>
            </a:r>
          </a:p>
          <a:p>
            <a:pPr>
              <a:spcAft>
                <a:spcPts val="26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Bắt buộc mô tả cả những chi tiết giữ nguyên</a:t>
            </a:r>
          </a:p>
          <a:p>
            <a:pPr>
              <a:spcAft>
                <a:spcPts val="6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COHERENCE AND COHESION</a:t>
            </a:r>
          </a:p>
          <a:p>
            <a:pPr>
              <a:spcAft>
                <a:spcPts val="600"/>
              </a:spcAft>
              <a:defRPr b="0" i="0" sz="2400">
                <a:solidFill>
                  <a:srgbClr val="0F172A"/>
                </a:solidFill>
                <a:latin typeface="Montserrat"/>
              </a:defRPr>
            </a:pPr>
            <a:r>
              <a:t>Chia đoạn theo trật tự không gian rõ ràng</a:t>
            </a:r>
          </a:p>
          <a:p>
            <a:pPr>
              <a:spcAft>
                <a:spcPts val="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Không nhảy cóc vị trí lộn xộn trên bản đồ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LEXICAL RESOURCE</a:t>
            </a:r>
          </a:p>
          <a:p>
            <a:pPr>
              <a:spcAft>
                <a:spcPts val="600"/>
              </a:spcAft>
              <a:defRPr b="0" i="0" sz="2400">
                <a:solidFill>
                  <a:srgbClr val="0F172A"/>
                </a:solidFill>
                <a:latin typeface="Montserrat"/>
              </a:defRPr>
            </a:pPr>
            <a:r>
              <a:t>Đa dạng 5 nhóm động từ thay đổi</a:t>
            </a:r>
          </a:p>
          <a:p>
            <a:pPr>
              <a:spcAft>
                <a:spcPts val="26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Chính xác giới từ in và to khi chỉ hướng</a:t>
            </a:r>
          </a:p>
          <a:p>
            <a:pPr>
              <a:spcAft>
                <a:spcPts val="6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GRAMMATICAL RANGE AND ACCURACY</a:t>
            </a:r>
          </a:p>
          <a:p>
            <a:pPr>
              <a:spcAft>
                <a:spcPts val="600"/>
              </a:spcAft>
              <a:defRPr b="0" i="0" sz="2400">
                <a:solidFill>
                  <a:srgbClr val="0F172A"/>
                </a:solidFill>
                <a:latin typeface="Montserrat"/>
              </a:defRPr>
            </a:pPr>
            <a:r>
              <a:t>80% sử dụng thể bị động</a:t>
            </a:r>
          </a:p>
          <a:p>
            <a:pPr>
              <a:spcAft>
                <a:spcPts val="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Kết hợp danh từ hóa và mệnh đề phân từ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EA580C"/>
                </a:solidFill>
                <a:latin typeface="Montserrat"/>
              </a:defRPr>
            </a:pPr>
            <a:r>
              <a:t>📐 CẤU TRÚC BÀI VIẾT VÀ CÁCH CHIA BODY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CẤU TRÚC 4 ĐOẠN CHUẨN</a:t>
            </a:r>
          </a:p>
          <a:p>
            <a:pPr>
              <a:spcAft>
                <a:spcPts val="2400"/>
              </a:spcAft>
              <a:defRPr b="1" i="1" sz="2400">
                <a:solidFill>
                  <a:srgbClr val="0F172A"/>
                </a:solidFill>
                <a:latin typeface="Montserrat"/>
              </a:defRPr>
            </a:pPr>
            <a:r>
              <a:t>Introduction ➔ Overview ➔ Body 1 ➔ Body 2</a:t>
            </a:r>
          </a:p>
          <a:p>
            <a:pPr>
              <a:spcAft>
                <a:spcPts val="6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CÁCH 1 ➔ CHIA ĐÔI KHÔNG GIAN BẮC VÀ NAM</a:t>
            </a:r>
          </a:p>
          <a:p>
            <a:pPr>
              <a:spcAft>
                <a:spcPts val="20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Áp dụng khi có con sông hoặc trục đường lớn cắt ngang</a:t>
            </a:r>
          </a:p>
          <a:p>
            <a:pPr>
              <a:spcAft>
                <a:spcPts val="6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CÁCH 2 ➔ TRUNG TÂM VÀ CÁC PHÒNG XUNG QUANH</a:t>
            </a:r>
          </a:p>
          <a:p>
            <a:pPr>
              <a:spcAft>
                <a:spcPts val="20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Áp dụng cho sơ đồ phòng hoặc hòn đảo du lịch</a:t>
            </a:r>
          </a:p>
          <a:p>
            <a:pPr>
              <a:spcAft>
                <a:spcPts val="6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CÁCH 3 ➔ CHIA THEO NHÓM CHỨC NĂNG</a:t>
            </a:r>
          </a:p>
          <a:p>
            <a:pPr>
              <a:spcAft>
                <a:spcPts val="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Body 1 tả hạ tầng và nhà ở ➔ Body 2 tả tiện ích và thiên nhiên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DB2777"/>
                </a:solidFill>
                <a:latin typeface="Montserrat"/>
              </a:defRPr>
            </a:pPr>
            <a:r>
              <a:t>✍️ KHUNG CÂU INTRODUCTION &amp;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INTRODUCTION (1 CÂU PARAPHRASE)</a:t>
            </a:r>
          </a:p>
          <a:p>
            <a:pPr>
              <a:spcAft>
                <a:spcPts val="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The two maps illustrate how Stokeford developed over an 80-year period from 1930 to 2010.</a:t>
            </a:r>
          </a:p>
          <a:p>
            <a:pPr>
              <a:spcAft>
                <a:spcPts val="2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The two floor plans compare the layout of the library 20 years ago with its current configuration.</a:t>
            </a:r>
          </a:p>
          <a:p>
            <a:pPr>
              <a:spcAft>
                <a:spcPts val="6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OVERVIEW (2 CÂU BỨC TRANH TỔNG THỂ)</a:t>
            </a:r>
          </a:p>
          <a:p>
            <a:pPr>
              <a:spcAft>
                <a:spcPts val="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Overall, the village underwent a dramatic transformation from a rural community into a residential area.</a:t>
            </a:r>
          </a:p>
          <a:p>
            <a:pPr>
              <a:spcAft>
                <a:spcPts val="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The most notable changes include the complete clearance of farmland to construct new housing.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DC2626"/>
                </a:solidFill>
                <a:latin typeface="Montserrat"/>
              </a:defRPr>
            </a:pPr>
            <a:r>
              <a:t>🧭 8 HƯỚNG LA BÀN VÀ GIỚI TỪ IN VS TO</a:t>
            </a:r>
          </a:p>
        </p:txBody>
      </p:sp>
      <p:pic>
        <p:nvPicPr>
          <p:cNvPr id="3" name="Picture 2" descr="wikimedia_compass_r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3291840" cy="33402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120" y="1463040"/>
            <a:ext cx="704088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NORTH ➔ SOUTH ➔ EAST ➔ WEST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in the northern part of the village / in the south-west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IN THE NORTH ➔ NẰM TRONG RANH GIỚI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A new hospital was built in the north of the town.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TO THE NORTH ➔ NẰM TÁCH BIỆT BÊN NGOÀI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A dense forest lies to the north of the town.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ADJACENT TO (SÁT CẠNH) ➔ OPPOSITE (ĐỐI DIỆN)</a:t>
            </a:r>
          </a:p>
          <a:p>
            <a:pPr>
              <a:spcAft>
                <a:spcPts val="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The shops adjacent to the post office were demolished.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7C3AED"/>
                </a:solidFill>
                <a:latin typeface="Montserrat"/>
              </a:defRPr>
            </a:pPr>
            <a:r>
              <a:t>🏢 ĐỊNH VỊ SƠ ĐỒ TRONG NHÀ (FLOOR PLAN)</a:t>
            </a:r>
          </a:p>
        </p:txBody>
      </p:sp>
      <p:pic>
        <p:nvPicPr>
          <p:cNvPr id="3" name="Picture 2" descr="cambridge_18_library_floor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4023360" cy="45710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463040"/>
            <a:ext cx="630936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LỐI VÀO CHÍNH LÀM MỐC XUẤT PHÁT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To the immediate left / right of the entrance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KHU VỰC CHÍNH GIỮA PHÒNG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In the center / middle / heart of the library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DỌC THEO CÁC BỨC TƯỜNG HAI BÊN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Along the left-hand / right-hand wall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HAI GÓC VÀ PHÍA CUỐI CĂN PHÒNG</a:t>
            </a:r>
          </a:p>
          <a:p>
            <a:pPr>
              <a:spcAft>
                <a:spcPts val="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At the back of the room / In the top-left corner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EA580C"/>
                </a:solidFill>
                <a:latin typeface="Montserrat"/>
              </a:defRPr>
            </a:pPr>
            <a:r>
              <a:t>🔄 5 NHÓM ĐỘNG TỪ VÀ DANH TỪ HÓA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1. XÂY MỚI HOẶC THÊM VÀO</a:t>
            </a:r>
          </a:p>
          <a:p>
            <a:pPr>
              <a:spcAft>
                <a:spcPts val="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be constructed / erected / added</a:t>
            </a:r>
          </a:p>
          <a:p>
            <a:pPr>
              <a:spcAft>
                <a:spcPts val="2000"/>
              </a:spcAft>
              <a:defRPr b="1" i="1" sz="2400">
                <a:solidFill>
                  <a:srgbClr val="0F172A"/>
                </a:solidFill>
                <a:latin typeface="Montserrat"/>
              </a:defRPr>
            </a:pPr>
            <a:r>
              <a:t>the construction / addition of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2. PHÁ BỎ HOẶC DỌN TRỐNG</a:t>
            </a:r>
          </a:p>
          <a:p>
            <a:pPr>
              <a:spcAft>
                <a:spcPts val="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be demolished / knocked down (nhà)</a:t>
            </a:r>
          </a:p>
          <a:p>
            <a:pPr>
              <a:spcAft>
                <a:spcPts val="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be cleared (cây) / be removed (đồ)</a:t>
            </a:r>
          </a:p>
          <a:p>
            <a:pPr>
              <a:spcAft>
                <a:spcPts val="0"/>
              </a:spcAft>
              <a:defRPr b="1" i="1" sz="2400">
                <a:solidFill>
                  <a:srgbClr val="0F172A"/>
                </a:solidFill>
                <a:latin typeface="Montserrat"/>
              </a:defRPr>
            </a:pPr>
            <a:r>
              <a:t>the demolition / clearance / removal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3. THAY THẾ VÀ CHUYỂN ĐỔI</a:t>
            </a:r>
          </a:p>
          <a:p>
            <a:pPr>
              <a:spcAft>
                <a:spcPts val="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be converted into / be replaced by</a:t>
            </a:r>
          </a:p>
          <a:p>
            <a:pPr>
              <a:spcAft>
                <a:spcPts val="2000"/>
              </a:spcAft>
              <a:defRPr b="1" i="1" sz="2400">
                <a:solidFill>
                  <a:srgbClr val="0F172A"/>
                </a:solidFill>
                <a:latin typeface="Montserrat"/>
              </a:defRPr>
            </a:pPr>
            <a:r>
              <a:t>gave way to / made way for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4. MỞ RỘNG HOẶC THU HẸP</a:t>
            </a:r>
          </a:p>
          <a:p>
            <a:pPr>
              <a:spcAft>
                <a:spcPts val="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be expanded / extended / enlarged</a:t>
            </a:r>
          </a:p>
          <a:p>
            <a:pPr>
              <a:spcAft>
                <a:spcPts val="20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be reduced in size / narrowed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5. GIỮ NGUYÊN KHÔNG ĐỔI</a:t>
            </a:r>
          </a:p>
          <a:p>
            <a:pPr>
              <a:spcAft>
                <a:spcPts val="0"/>
              </a:spcAft>
              <a:defRPr b="1" i="1" sz="2400">
                <a:solidFill>
                  <a:srgbClr val="0F172A"/>
                </a:solidFill>
                <a:latin typeface="Montserrat"/>
              </a:defRPr>
            </a:pPr>
            <a:r>
              <a:t>remained unchanged / stayed intact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DB2777"/>
                </a:solidFill>
                <a:latin typeface="Montserrat"/>
              </a:defRPr>
            </a:pPr>
            <a:r>
              <a:t>💡 4 CẤU TRÚC NGỮ PHÁP ĂN ĐIỂM GRA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1. MỆNH ĐỀ PHÂN TỪ RÚT GỌN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Located to the east of the road, the primary school was significantly extended.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2. ĐẢO NGỮ CỤM GIỚI TỪ CHỈ NƠI CHỐN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In the top-right corner of the library now stands a newly constructed lecture room.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3. CẤU TRÚC ĐÁNH ĐỔI AT THE EXPENSE OF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The retirement home was expanded at the expense of the surrounding gardens.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4. DANH TỪ HÓA VỚI ĐỘNG TỪ WITNESSED</a:t>
            </a:r>
          </a:p>
          <a:p>
            <a:pPr>
              <a:spcAft>
                <a:spcPts val="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The bottom-right corner witnessed the conversion of the enquiry desk into a café.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DC2626"/>
                </a:solidFill>
                <a:latin typeface="Montserrat"/>
              </a:defRPr>
            </a:pPr>
            <a:r>
              <a:t>🏡 ĐỀ THI THẬT #1: LÀNG STOKEFORD (1930 - 2010)</a:t>
            </a:r>
          </a:p>
        </p:txBody>
      </p:sp>
      <p:pic>
        <p:nvPicPr>
          <p:cNvPr id="3" name="Picture 2" descr="cambridge_stokeford_1930_2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4114800" cy="2153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463040"/>
            <a:ext cx="630936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INTRODUCTION (QUÁ KHỨ ĐƠN)</a:t>
            </a:r>
          </a:p>
          <a:p>
            <a:pPr>
              <a:spcAft>
                <a:spcPts val="22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The two maps illustrate how Stokeford developed over an 80-year period from 1930 to 2010.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OVERVIEW (2 CÂU BỨC TRANH TỔNG THỂ)</a:t>
            </a:r>
          </a:p>
          <a:p>
            <a:pPr>
              <a:spcAft>
                <a:spcPts val="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Overall, the village underwent a dramatic transformation from a rural agricultural community into a residential area.</a:t>
            </a:r>
          </a:p>
          <a:p>
            <a:pPr>
              <a:spcAft>
                <a:spcPts val="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The most notable changes include the complete clearance of farmland to construct new housing.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7C3AED"/>
                </a:solidFill>
                <a:latin typeface="Montserrat"/>
              </a:defRPr>
            </a:pPr>
            <a:r>
              <a:t>📝 ĐỀ THI THẬT #1: THÂN BÀI BODY 1 &amp; BODY 2</a:t>
            </a:r>
          </a:p>
        </p:txBody>
      </p:sp>
      <p:pic>
        <p:nvPicPr>
          <p:cNvPr id="3" name="Picture 2" descr="cambridge_stokeford_1930_2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3931920" cy="20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37760" y="1463040"/>
            <a:ext cx="649224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BODY 1 ➔ NỬA PHÍA BẮC VÀ TRUNG TÂM</a:t>
            </a:r>
          </a:p>
          <a:p>
            <a:pPr>
              <a:spcAft>
                <a:spcPts val="400"/>
              </a:spcAft>
              <a:defRPr b="1" i="1" sz="2400">
                <a:solidFill>
                  <a:srgbClr val="0F172A"/>
                </a:solidFill>
                <a:latin typeface="Montserrat"/>
              </a:defRPr>
            </a:pPr>
            <a:r>
              <a:t>River Stoke and bridge remained unchanged.</a:t>
            </a:r>
          </a:p>
          <a:p>
            <a:pPr>
              <a:spcAft>
                <a:spcPts val="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Farmland in north-east was cleared to make way for new roads lined with houses.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Post office stayed intact, while adjacent shops were replaced by houses.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BODY 2 ➔ NỬA PHÍA NAM</a:t>
            </a:r>
          </a:p>
          <a:p>
            <a:pPr>
              <a:spcAft>
                <a:spcPts val="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Primary school located to the east of road was significantly extended.</a:t>
            </a:r>
          </a:p>
          <a:p>
            <a:pPr>
              <a:spcAft>
                <a:spcPts val="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Large house was converted into a retirement home at expense of gardens.</a:t>
            </a:r>
          </a:p>
          <a:p>
            <a:pPr>
              <a:spcAft>
                <a:spcPts val="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Farmland in south-west gave way to new houses.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EA580C"/>
                </a:solidFill>
                <a:latin typeface="Montserrat"/>
              </a:defRPr>
            </a:pPr>
            <a:r>
              <a:t>📚 ĐỀ THI THẬT #2: THƯ VIỆN (CAMBRIDGE 18)</a:t>
            </a:r>
          </a:p>
        </p:txBody>
      </p:sp>
      <p:pic>
        <p:nvPicPr>
          <p:cNvPr id="3" name="Picture 2" descr="cambridge_18_library_floor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4023360" cy="45710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463040"/>
            <a:ext cx="64008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OVERVIEW (HIỆN TẠI HOÀN THÀNH)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The library has been modernized, while central tables have been removed.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BODY 1 ➔ LỐI VÀO VÀ TRUNG TÂM</a:t>
            </a:r>
          </a:p>
          <a:p>
            <a:pPr>
              <a:spcAft>
                <a:spcPts val="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Reading room has been replaced by computer room.</a:t>
            </a:r>
          </a:p>
          <a:p>
            <a:pPr>
              <a:spcAft>
                <a:spcPts val="18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Enquiry desk has given way to a café and self-service machines.</a:t>
            </a:r>
          </a:p>
          <a:p>
            <a:pPr>
              <a:spcAft>
                <a:spcPts val="400"/>
              </a:spcAft>
              <a:defRPr b="1" i="0" sz="2600">
                <a:solidFill>
                  <a:srgbClr val="0F172A"/>
                </a:solidFill>
                <a:latin typeface="Montserrat"/>
              </a:defRPr>
            </a:pPr>
            <a:r>
              <a:t>BODY 2 ➔ CÁC GÓC CUỐI THƯ VIỆN</a:t>
            </a:r>
          </a:p>
          <a:p>
            <a:pPr>
              <a:spcAft>
                <a:spcPts val="400"/>
              </a:spcAft>
              <a:defRPr b="0" i="1" sz="2400">
                <a:solidFill>
                  <a:srgbClr val="0F172A"/>
                </a:solidFill>
                <a:latin typeface="Montserrat"/>
              </a:defRPr>
            </a:pPr>
            <a:r>
              <a:t>Room in top-left corner has been enlarged for storytelling.</a:t>
            </a:r>
          </a:p>
          <a:p>
            <a:pPr>
              <a:spcAft>
                <a:spcPts val="0"/>
              </a:spcAft>
              <a:defRPr b="1" i="1" sz="2400">
                <a:solidFill>
                  <a:srgbClr val="0F172A"/>
                </a:solidFill>
                <a:latin typeface="Montserrat"/>
              </a:defRPr>
            </a:pPr>
            <a:r>
              <a:t>In the top-right corner now stands a lecture room.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