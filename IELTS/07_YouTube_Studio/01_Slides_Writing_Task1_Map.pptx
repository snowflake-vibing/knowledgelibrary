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49B98-4CBB-9F63-F6F6-538D4CBED6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66E879-EBA2-35D0-7191-F40D78B9BF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4554A0-E891-901B-6704-108992A31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D4205-321F-4C5E-AD4D-751661159231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FE344B-3121-DA11-7958-2F7EF66F7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BFA98-0C06-1DE8-4884-7A339BCC6A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D867F-E63C-4B7B-8F2C-10889B353C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79320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D84325-ABE9-7A04-9295-E9883015A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A27DED-0729-766F-0E61-E8F8E111A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01CE12-A8AC-EBA6-BFC0-F94BDCE1A3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D4205-321F-4C5E-AD4D-751661159231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7D812-64BC-BFCE-4373-FE3F9EADD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F20BE0-452D-CCD0-181B-9942FDCA2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D867F-E63C-4B7B-8F2C-10889B353C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99700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7F56F-0741-6E7E-6482-4D877019EE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FE8C3A-541D-00B3-A650-E6452F97DB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FF406F-7D1A-1D26-A853-58332B611F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D4205-321F-4C5E-AD4D-751661159231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F0B6FA-1DA0-8938-CB10-3A6EEDB1A2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36936D-6CEA-BD8F-F693-B84ED93D7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D867F-E63C-4B7B-8F2C-10889B353C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554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8E55E0-097B-4E15-6152-F815BE987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3D2650-496E-1686-39BC-17289E6AF7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2CE6A9-F4BB-B894-9A20-807FC1C718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059748-F2E6-434A-A400-6DDD15FEE1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D4205-321F-4C5E-AD4D-751661159231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2CADC1-A469-147A-177C-2D6353578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3F4505-2092-5AA8-4AD6-C22F5FC31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D867F-E63C-4B7B-8F2C-10889B353C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2921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D3E427-8577-B16F-CD8D-3B79C9B34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8F2932-37B8-02DF-67B7-F085C24847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88FD4B-00EA-E043-3344-EB09B91C9B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CE7998-A29F-C1CC-104D-874E79C033F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466544-5A4E-A3CF-EF04-E97DB0326D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8C85D12-F1FC-1AA6-52DB-C3F189D78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D4205-321F-4C5E-AD4D-751661159231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85749AC-FD02-8F2E-7FF5-FB1672BB6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E65F860-8B30-A360-39CF-743615265C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D867F-E63C-4B7B-8F2C-10889B353C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933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95A3C-706A-42A4-B678-3B8ED033D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A3EF1B-676D-68D8-958B-9ED178E015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D4205-321F-4C5E-AD4D-751661159231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B879D0-025C-4999-ED54-14A87F287D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B16849-9255-5F66-AB45-FD116574D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D867F-E63C-4B7B-8F2C-10889B353C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32438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6132EA-7012-4DC0-94D5-DA7693FB7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D4205-321F-4C5E-AD4D-751661159231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28F070-4DDE-5408-334D-B2B83AE411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B03929-BFC2-F925-7DCB-E04AE3D7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D867F-E63C-4B7B-8F2C-10889B353C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33964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B3B5FA-935B-A059-B43C-83FAEFF896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4F32F1-614E-2C64-E78E-71C0725E16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1C09C2-C8EA-6DB3-4FEB-ED3AF1C307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5B1DCD-D550-1026-3B23-CB7F563D0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D4205-321F-4C5E-AD4D-751661159231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C18CF7-B522-CCE2-CA42-8427A906B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8F6F6B-E64D-1EAC-9C79-F2256E100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D867F-E63C-4B7B-8F2C-10889B353C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59184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D14C2-BE58-0F0D-4C2C-BFBAF41E73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FF7C48E-36A7-10E0-DB46-2059FE0973ED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F206E6-26CF-D406-DFFD-4F48DF5EC7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7CE28D-BE46-7BD8-3C6A-9BEC15FE8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D4205-321F-4C5E-AD4D-751661159231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B0EE94-B41C-1872-CA33-E53FD4D86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394D07-7000-DD32-A58C-0D01DD67F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D867F-E63C-4B7B-8F2C-10889B353C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4340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72E9E6-18F3-1472-A8BE-F61F312EF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9898D5-A3D3-3F6E-FC4D-F25C8C0A81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3D9318-5B43-F990-BA4A-218700A48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D4205-321F-4C5E-AD4D-751661159231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A9ABB5-3F37-455E-C2CE-3186A1B45C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D9EC16-337F-BF2A-13F8-95018C1F1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D867F-E63C-4B7B-8F2C-10889B353C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17232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2B85BC9-8051-A9C8-80FE-A393785EDB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2A198C4-B7A3-281F-D752-1F9337552C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DD9798-C681-98BD-2607-D990DE438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D4205-321F-4C5E-AD4D-751661159231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8E5CC-5033-C871-DA6A-C7D1FB8650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17DDD7-4275-1348-3466-26E3430C5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D867F-E63C-4B7B-8F2C-10889B353C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9394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EF41E2F-4751-7C32-398F-D9F016D63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C7A14B-6C2E-4DEA-E94D-0517DF3356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7C7283-9139-6512-2807-375CAB4FE2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6D4205-321F-4C5E-AD4D-751661159231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8E3A66-1795-DC77-BAC4-95AB248874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03402C-317C-732D-F69F-8BE04431EC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FD867F-E63C-4B7B-8F2C-10889B353C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248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CA2883-67D5-279A-690C-25AFA3858E20}"/>
              </a:ext>
            </a:extLst>
          </p:cNvPr>
          <p:cNvSpPr txBox="1"/>
          <p:nvPr/>
        </p:nvSpPr>
        <p:spPr>
          <a:xfrm>
            <a:off x="731520" y="330200"/>
            <a:ext cx="1072896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400" b="1">
                <a:solidFill>
                  <a:srgbClr val="DC2626"/>
                </a:solidFill>
                <a:latin typeface="Montserrat" panose="00000500000000000000" pitchFamily="2" charset="0"/>
              </a:rPr>
              <a:t>🗺️ 01. TASK TYPE 1: PAST TO PAST (1930 - 2010)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3E1823-0D4A-4D41-680E-BA55DEDA7F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2426071"/>
            <a:ext cx="4318000" cy="2259859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B1EDF535-A540-227B-75F8-3EF64B00566C}"/>
              </a:ext>
            </a:extLst>
          </p:cNvPr>
          <p:cNvGrpSpPr/>
          <p:nvPr/>
        </p:nvGrpSpPr>
        <p:grpSpPr>
          <a:xfrm>
            <a:off x="5461000" y="1651000"/>
            <a:ext cx="5969000" cy="2993465"/>
            <a:chOff x="5461000" y="1651000"/>
            <a:chExt cx="5969000" cy="299346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10AF00E-FCA6-EC6B-27A2-AD45F595FBDD}"/>
                </a:ext>
              </a:extLst>
            </p:cNvPr>
            <p:cNvSpPr txBox="1"/>
            <p:nvPr/>
          </p:nvSpPr>
          <p:spPr>
            <a:xfrm>
              <a:off x="5664200" y="1651000"/>
              <a:ext cx="5765800" cy="2942665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KEY CHARACTERISTICS &amp; TENSE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800"/>
                </a:spcAft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Comparing two distinct historical timeframes (e.g., 1930 vs. 2010).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So sánh hai mốc thời gian hoàn toàn trong quá khứ.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800"/>
                </a:spcAft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Exclusively use Past Simple and Past Perfect passive forms.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Sử dụng 100% thì Quá khứ đơn và Quá khứ hoàn thành ở thể bị động.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was constructed / were demolished / had been converted into.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Các động từ phổ biến: được xây dựng / bị phá bỏ / đã được chuyển đổi thành.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9225F28-CC85-51D2-975B-C1B299D9E851}"/>
                </a:ext>
              </a:extLst>
            </p:cNvPr>
            <p:cNvSpPr/>
            <p:nvPr/>
          </p:nvSpPr>
          <p:spPr>
            <a:xfrm>
              <a:off x="5461000" y="1651000"/>
              <a:ext cx="50800" cy="2993465"/>
            </a:xfrm>
            <a:prstGeom prst="rect">
              <a:avLst/>
            </a:prstGeom>
            <a:solidFill>
              <a:srgbClr val="DC2626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77412102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8D71A1C-DB2B-DF61-C5A2-DAAE436DBF73}"/>
              </a:ext>
            </a:extLst>
          </p:cNvPr>
          <p:cNvSpPr txBox="1"/>
          <p:nvPr/>
        </p:nvSpPr>
        <p:spPr>
          <a:xfrm>
            <a:off x="731520" y="330200"/>
            <a:ext cx="1072896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400" b="1">
                <a:solidFill>
                  <a:srgbClr val="DC2626"/>
                </a:solidFill>
                <a:latin typeface="Montserrat" panose="00000500000000000000" pitchFamily="2" charset="0"/>
              </a:rPr>
              <a:t>🗺️ 01. TASK TYPE 1: MODEL SENTENCES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F67578D-69DC-7C21-8C12-C9FD6B9BAB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2426071"/>
            <a:ext cx="4318000" cy="2259859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9E9AEE95-060A-047A-7B9B-009BDF80CDA1}"/>
              </a:ext>
            </a:extLst>
          </p:cNvPr>
          <p:cNvGrpSpPr/>
          <p:nvPr/>
        </p:nvGrpSpPr>
        <p:grpSpPr>
          <a:xfrm>
            <a:off x="5461000" y="1651000"/>
            <a:ext cx="5969000" cy="2355470"/>
            <a:chOff x="5461000" y="1651000"/>
            <a:chExt cx="5969000" cy="235547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FB38D74-758F-D104-67BB-3969A8EEF497}"/>
                </a:ext>
              </a:extLst>
            </p:cNvPr>
            <p:cNvSpPr txBox="1"/>
            <p:nvPr/>
          </p:nvSpPr>
          <p:spPr>
            <a:xfrm>
              <a:off x="5664200" y="1651000"/>
              <a:ext cx="5765800" cy="2304670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AUTHENTIC MODEL SENTENCES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800"/>
                </a:spcAft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The farmland in the north-east was cleared before a new estate was built.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Đất nông nghiệp phía đông bắc đã được giải tỏa trước khi khu nhà ở mới được xây dựng.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The local shops adjacent to the post office were demolished to make way for houses.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Các cửa hàng sát cạnh bưu điện bị phá bỏ để nhường chỗ cho nhà ở.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FCD954A-6263-11B4-BAC6-380191CAC32F}"/>
                </a:ext>
              </a:extLst>
            </p:cNvPr>
            <p:cNvSpPr/>
            <p:nvPr/>
          </p:nvSpPr>
          <p:spPr>
            <a:xfrm>
              <a:off x="5461000" y="1651000"/>
              <a:ext cx="50800" cy="2355470"/>
            </a:xfrm>
            <a:prstGeom prst="rect">
              <a:avLst/>
            </a:prstGeom>
            <a:solidFill>
              <a:srgbClr val="DC2626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31479639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66220D7-6CD3-2C3E-6978-AB567D51F6FF}"/>
              </a:ext>
            </a:extLst>
          </p:cNvPr>
          <p:cNvSpPr txBox="1"/>
          <p:nvPr/>
        </p:nvSpPr>
        <p:spPr>
          <a:xfrm>
            <a:off x="731520" y="330200"/>
            <a:ext cx="1072896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400" b="1">
                <a:solidFill>
                  <a:srgbClr val="DC2626"/>
                </a:solidFill>
                <a:latin typeface="Montserrat" panose="00000500000000000000" pitchFamily="2" charset="0"/>
              </a:rPr>
              <a:t>🗺️ 01. TASK TYPE 2: PAST TO PRESENT (20 YRS AGO - TODAY)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82FB17-C82D-7A1A-8906-F18CD3A7F7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1103093"/>
            <a:ext cx="4318000" cy="4905814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40731F23-6241-FD5A-FDD0-68235DAB7790}"/>
              </a:ext>
            </a:extLst>
          </p:cNvPr>
          <p:cNvGrpSpPr/>
          <p:nvPr/>
        </p:nvGrpSpPr>
        <p:grpSpPr>
          <a:xfrm>
            <a:off x="5461000" y="1651000"/>
            <a:ext cx="5969000" cy="2483710"/>
            <a:chOff x="5461000" y="1651000"/>
            <a:chExt cx="5969000" cy="248371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A4630FF-4ED5-9480-BB35-63B5D3EDC98C}"/>
                </a:ext>
              </a:extLst>
            </p:cNvPr>
            <p:cNvSpPr txBox="1"/>
            <p:nvPr/>
          </p:nvSpPr>
          <p:spPr>
            <a:xfrm>
              <a:off x="5664200" y="1651000"/>
              <a:ext cx="5765800" cy="2432910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KEY CHARACTERISTICS &amp; TENSE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800"/>
                </a:spcAft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Comparing a past baseline against the present day.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So sánh một mốc quá khứ với thời điểm hiện nay.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800"/>
                </a:spcAft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Mandatory use of Present Perfect passive: has/have been + V3/ed.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Bắt buộc dùng thì Hiện tại hoàn thành ở thể bị động.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has been modernized / have been removed / has given way to.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Đã được hiện đại hóa / đã bị dọn đi / đã nhường chỗ cho.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C230729-46E7-C8BB-6BB8-385E0727744E}"/>
                </a:ext>
              </a:extLst>
            </p:cNvPr>
            <p:cNvSpPr/>
            <p:nvPr/>
          </p:nvSpPr>
          <p:spPr>
            <a:xfrm>
              <a:off x="5461000" y="1651000"/>
              <a:ext cx="50800" cy="2483710"/>
            </a:xfrm>
            <a:prstGeom prst="rect">
              <a:avLst/>
            </a:prstGeom>
            <a:solidFill>
              <a:srgbClr val="DC2626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10421868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BDB0BC6-F9F4-49F2-92AF-994A4480765F}"/>
              </a:ext>
            </a:extLst>
          </p:cNvPr>
          <p:cNvSpPr txBox="1"/>
          <p:nvPr/>
        </p:nvSpPr>
        <p:spPr>
          <a:xfrm>
            <a:off x="731520" y="330200"/>
            <a:ext cx="1072896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400" b="1">
                <a:solidFill>
                  <a:srgbClr val="DC2626"/>
                </a:solidFill>
                <a:latin typeface="Montserrat" panose="00000500000000000000" pitchFamily="2" charset="0"/>
              </a:rPr>
              <a:t>🗺️ 01. TASK TYPE 2: MODEL SENTENCES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72DEEF-3C6E-9D9E-496B-C080EDB5EB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1103093"/>
            <a:ext cx="4318000" cy="4905814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81D202F8-4E78-07BE-0C15-505E4942BDA7}"/>
              </a:ext>
            </a:extLst>
          </p:cNvPr>
          <p:cNvGrpSpPr/>
          <p:nvPr/>
        </p:nvGrpSpPr>
        <p:grpSpPr>
          <a:xfrm>
            <a:off x="5461000" y="1651000"/>
            <a:ext cx="5969000" cy="2124637"/>
            <a:chOff x="5461000" y="1651000"/>
            <a:chExt cx="5969000" cy="212463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EF4324C-EDD1-08DB-0532-3019D143E73D}"/>
                </a:ext>
              </a:extLst>
            </p:cNvPr>
            <p:cNvSpPr txBox="1"/>
            <p:nvPr/>
          </p:nvSpPr>
          <p:spPr>
            <a:xfrm>
              <a:off x="5664200" y="1651000"/>
              <a:ext cx="5765800" cy="2073837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AUTHENTIC MODEL SENTENCES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800"/>
                </a:spcAft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The central tables and chairs have been completely removed for open space.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Bàn ghế ở trung tâm đã được dọn đi hoàn toàn để tạo không gian mở.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The enquiry desk has given way to a modern café and self-service kiosks.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Bàn thông tin cũ đã nhường chỗ cho một quán café và máy tự phục vụ.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627050F-6CCA-8312-9A32-F60C3A0536D5}"/>
                </a:ext>
              </a:extLst>
            </p:cNvPr>
            <p:cNvSpPr/>
            <p:nvPr/>
          </p:nvSpPr>
          <p:spPr>
            <a:xfrm>
              <a:off x="5461000" y="1651000"/>
              <a:ext cx="50800" cy="2124637"/>
            </a:xfrm>
            <a:prstGeom prst="rect">
              <a:avLst/>
            </a:prstGeom>
            <a:solidFill>
              <a:srgbClr val="DC2626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802901587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EF235BD-648A-DCC0-4FF6-8CCB35430413}"/>
              </a:ext>
            </a:extLst>
          </p:cNvPr>
          <p:cNvSpPr txBox="1"/>
          <p:nvPr/>
        </p:nvSpPr>
        <p:spPr>
          <a:xfrm>
            <a:off x="731520" y="330200"/>
            <a:ext cx="1072896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400" b="1">
                <a:solidFill>
                  <a:srgbClr val="DC2626"/>
                </a:solidFill>
                <a:latin typeface="Montserrat" panose="00000500000000000000" pitchFamily="2" charset="0"/>
              </a:rPr>
              <a:t>🗺️ 01. TASK TYPE 3: PRESENT TO FUTURE (NOW - 2035)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8448B0-3A1C-56B0-1961-6992A8B1BC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1428684"/>
            <a:ext cx="4318000" cy="4254633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ACC0C340-65D6-C82E-FF6C-A7F3B35A8408}"/>
              </a:ext>
            </a:extLst>
          </p:cNvPr>
          <p:cNvGrpSpPr/>
          <p:nvPr/>
        </p:nvGrpSpPr>
        <p:grpSpPr>
          <a:xfrm>
            <a:off x="5461000" y="1651000"/>
            <a:ext cx="5969000" cy="2204788"/>
            <a:chOff x="5461000" y="1651000"/>
            <a:chExt cx="5969000" cy="2204788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A0DDF57-CEA5-2760-4A0C-EB52CC05BF8D}"/>
                </a:ext>
              </a:extLst>
            </p:cNvPr>
            <p:cNvSpPr txBox="1"/>
            <p:nvPr/>
          </p:nvSpPr>
          <p:spPr>
            <a:xfrm>
              <a:off x="5664200" y="1651000"/>
              <a:ext cx="5765800" cy="2153988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KEY CHARACTERISTICS &amp; TENSE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800"/>
                </a:spcAft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Future development and zoning proposals (e.g., Now vs. 2035).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Bản đồ quy hoạch và đề xuất phát triển trong tương lai.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800"/>
                </a:spcAft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Avoid repetitive 'will be'; use academic projection patterns.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Tránh lặp từ 'will be'; sử dụng cấu trúc dự báo học thuật.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is planned to be built / is projected to be converted.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Được lên kế hoạch xây dựng / được dự kiến chuyển đổi thành.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08FE041-68AD-A9A5-5038-7C755C2548BF}"/>
                </a:ext>
              </a:extLst>
            </p:cNvPr>
            <p:cNvSpPr/>
            <p:nvPr/>
          </p:nvSpPr>
          <p:spPr>
            <a:xfrm>
              <a:off x="5461000" y="1651000"/>
              <a:ext cx="50800" cy="2204788"/>
            </a:xfrm>
            <a:prstGeom prst="rect">
              <a:avLst/>
            </a:prstGeom>
            <a:solidFill>
              <a:srgbClr val="DC2626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63890964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9F2515-C6F9-D220-256B-6C18DCB1D265}"/>
              </a:ext>
            </a:extLst>
          </p:cNvPr>
          <p:cNvSpPr txBox="1"/>
          <p:nvPr/>
        </p:nvSpPr>
        <p:spPr>
          <a:xfrm>
            <a:off x="731520" y="330200"/>
            <a:ext cx="1072896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400" b="1">
                <a:solidFill>
                  <a:srgbClr val="DC2626"/>
                </a:solidFill>
                <a:latin typeface="Montserrat" panose="00000500000000000000" pitchFamily="2" charset="0"/>
              </a:rPr>
              <a:t>🗺️ 01. TASK TYPE 3: ACADEMIC PROJECTIONS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0A7D214-4180-BC8F-11F5-40D3913970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1428684"/>
            <a:ext cx="4318000" cy="4254633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31778BD2-202C-E168-8259-CB9CF30AC187}"/>
              </a:ext>
            </a:extLst>
          </p:cNvPr>
          <p:cNvGrpSpPr/>
          <p:nvPr/>
        </p:nvGrpSpPr>
        <p:grpSpPr>
          <a:xfrm>
            <a:off x="5461000" y="1651000"/>
            <a:ext cx="5969000" cy="2124637"/>
            <a:chOff x="5461000" y="1651000"/>
            <a:chExt cx="5969000" cy="212463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9DBBC21-6A96-1419-F49B-7C2F2E64AF6B}"/>
                </a:ext>
              </a:extLst>
            </p:cNvPr>
            <p:cNvSpPr txBox="1"/>
            <p:nvPr/>
          </p:nvSpPr>
          <p:spPr>
            <a:xfrm>
              <a:off x="5664200" y="1651000"/>
              <a:ext cx="5765800" cy="2073837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FUTURE PROJECTION STRUCTURES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800"/>
                </a:spcAft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It is anticipated that the industrial area will be relocated to the outskirts.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Dự kiến khu công nghiệp sẽ được di dời ra vùng ngoại ô.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The vacant land is projected to be transformed into a sports complex.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Khu đất trống được dự kiến chuyển đổi thành khu phức hợp thể thao.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159C147-9B0F-D756-1448-6A81DF91B560}"/>
                </a:ext>
              </a:extLst>
            </p:cNvPr>
            <p:cNvSpPr/>
            <p:nvPr/>
          </p:nvSpPr>
          <p:spPr>
            <a:xfrm>
              <a:off x="5461000" y="1651000"/>
              <a:ext cx="50800" cy="2124637"/>
            </a:xfrm>
            <a:prstGeom prst="rect">
              <a:avLst/>
            </a:prstGeom>
            <a:solidFill>
              <a:srgbClr val="DC2626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661333025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290471C-2D54-148F-2DC7-0E3B4DD710DF}"/>
              </a:ext>
            </a:extLst>
          </p:cNvPr>
          <p:cNvSpPr txBox="1"/>
          <p:nvPr/>
        </p:nvSpPr>
        <p:spPr>
          <a:xfrm>
            <a:off x="731520" y="330200"/>
            <a:ext cx="1072896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400" b="1">
                <a:solidFill>
                  <a:srgbClr val="DC2626"/>
                </a:solidFill>
                <a:latin typeface="Montserrat" panose="00000500000000000000" pitchFamily="2" charset="0"/>
              </a:rPr>
              <a:t>🗺️ 01. TASK TYPE 4: STATIC MAP (NO TIME ELEMENT)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7AC1793-36CB-FD5F-8974-96714BE609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1428684"/>
            <a:ext cx="4318000" cy="4254633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6722F4A9-9BCC-06E7-C1CC-F121AEB6DDAF}"/>
              </a:ext>
            </a:extLst>
          </p:cNvPr>
          <p:cNvGrpSpPr/>
          <p:nvPr/>
        </p:nvGrpSpPr>
        <p:grpSpPr>
          <a:xfrm>
            <a:off x="5461000" y="1651000"/>
            <a:ext cx="5969000" cy="2483710"/>
            <a:chOff x="5461000" y="1651000"/>
            <a:chExt cx="5969000" cy="248371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2D6C454-003A-3BC5-6EC5-875BF58E5CCD}"/>
                </a:ext>
              </a:extLst>
            </p:cNvPr>
            <p:cNvSpPr txBox="1"/>
            <p:nvPr/>
          </p:nvSpPr>
          <p:spPr>
            <a:xfrm>
              <a:off x="5664200" y="1651000"/>
              <a:ext cx="5765800" cy="2432910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KEY CHARACTERISTICS &amp; TENSE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800"/>
                </a:spcAft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Comparing two proposed locations (Site 1 vs Site 2) with zero timeline.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So sánh hai vị trí đề xuất không có yếu tố mốc thời gian.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800"/>
                </a:spcAft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Strictly use 100% Present Simple for spatial description.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Sử dụng 100% thì Hiện tại đơn để miêu tả vị trí không gian.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is located in / lies to the north / stands adjacent to.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Tọa lạc tại / nằm về phía bắc / đứng sát cạnh.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9223C17-E839-DDFE-5539-41668EA13151}"/>
                </a:ext>
              </a:extLst>
            </p:cNvPr>
            <p:cNvSpPr/>
            <p:nvPr/>
          </p:nvSpPr>
          <p:spPr>
            <a:xfrm>
              <a:off x="5461000" y="1651000"/>
              <a:ext cx="50800" cy="2483710"/>
            </a:xfrm>
            <a:prstGeom prst="rect">
              <a:avLst/>
            </a:prstGeom>
            <a:solidFill>
              <a:srgbClr val="DC2626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69114900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AD2BE22-0793-64A7-CD36-95E319CEB1AB}"/>
              </a:ext>
            </a:extLst>
          </p:cNvPr>
          <p:cNvSpPr txBox="1"/>
          <p:nvPr/>
        </p:nvSpPr>
        <p:spPr>
          <a:xfrm>
            <a:off x="731520" y="330200"/>
            <a:ext cx="1072896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400" b="1">
                <a:solidFill>
                  <a:srgbClr val="DC2626"/>
                </a:solidFill>
                <a:latin typeface="Montserrat" panose="00000500000000000000" pitchFamily="2" charset="0"/>
              </a:rPr>
              <a:t>🗺️ 01. TASK TYPE 4: MODEL COMPARISON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55C12C-C068-8B72-F239-B084239276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1428684"/>
            <a:ext cx="4318000" cy="4254633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7F8F6D9-CC13-9BC6-90C8-2D2AAB760B99}"/>
              </a:ext>
            </a:extLst>
          </p:cNvPr>
          <p:cNvGrpSpPr/>
          <p:nvPr/>
        </p:nvGrpSpPr>
        <p:grpSpPr>
          <a:xfrm>
            <a:off x="5461000" y="1651000"/>
            <a:ext cx="5969000" cy="2355470"/>
            <a:chOff x="5461000" y="1651000"/>
            <a:chExt cx="5969000" cy="235547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6F74C2C-7B77-5E1D-43AB-37F851AAE2C3}"/>
                </a:ext>
              </a:extLst>
            </p:cNvPr>
            <p:cNvSpPr txBox="1"/>
            <p:nvPr/>
          </p:nvSpPr>
          <p:spPr>
            <a:xfrm>
              <a:off x="5664200" y="1651000"/>
              <a:ext cx="5765800" cy="2304670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SPATIAL COMPARISON SENTENCES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800"/>
                </a:spcAft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Site 1 is situated close to the residential zone, offering great accessibility.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Vị trí 1 nằm gần khu dân cư, mang lại khả năng tiếp cận thuận tiện.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In contrast, Site 2 lies adjacent to the bypass road for freight transport.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Ngược lại, vị trí 2 nằm cạnh đường tránh, thuận tiện cho xe vận tải hàng hóa.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94C895D-5762-FD23-763D-DCE732D7268C}"/>
                </a:ext>
              </a:extLst>
            </p:cNvPr>
            <p:cNvSpPr/>
            <p:nvPr/>
          </p:nvSpPr>
          <p:spPr>
            <a:xfrm>
              <a:off x="5461000" y="1651000"/>
              <a:ext cx="50800" cy="2355470"/>
            </a:xfrm>
            <a:prstGeom prst="rect">
              <a:avLst/>
            </a:prstGeom>
            <a:solidFill>
              <a:srgbClr val="DC2626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71678072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CDA866D-9880-4716-A565-DD0596EA5DE0}"/>
              </a:ext>
            </a:extLst>
          </p:cNvPr>
          <p:cNvSpPr txBox="1"/>
          <p:nvPr/>
        </p:nvSpPr>
        <p:spPr>
          <a:xfrm>
            <a:off x="731520" y="330200"/>
            <a:ext cx="1072896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400" b="1">
                <a:solidFill>
                  <a:srgbClr val="7C3AED"/>
                </a:solidFill>
                <a:latin typeface="Montserrat" panose="00000500000000000000" pitchFamily="2" charset="0"/>
              </a:rPr>
              <a:t>🎯 02. BAND 7.5+ CRITERIA: TA &amp; CC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1455E9F-4468-4724-D028-766B04CBEF0B}"/>
              </a:ext>
            </a:extLst>
          </p:cNvPr>
          <p:cNvGrpSpPr/>
          <p:nvPr/>
        </p:nvGrpSpPr>
        <p:grpSpPr>
          <a:xfrm>
            <a:off x="731520" y="1270000"/>
            <a:ext cx="10728960" cy="1566792"/>
            <a:chOff x="731520" y="1270000"/>
            <a:chExt cx="10728960" cy="1566792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8687805-6602-2203-D5D8-397219A54B26}"/>
                </a:ext>
              </a:extLst>
            </p:cNvPr>
            <p:cNvSpPr txBox="1"/>
            <p:nvPr/>
          </p:nvSpPr>
          <p:spPr>
            <a:xfrm>
              <a:off x="934720" y="1270000"/>
              <a:ext cx="10525760" cy="151599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TASK ACHIEVEMENT (25%)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800"/>
                </a:spcAft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Must include an Overview identifying the two most prominent macro-trends.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Bắt buộc có đoạn Overview nêu bật 2 xu hướng chuyển dịch lớn nhất.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Crucial: Must describe unchanged features alongside newly built ones.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Rất quan trọng: Phải miêu tả cả các công trình giữ nguyên không đổi.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DA4B7A6-F695-08F2-3412-6F62A081DAC9}"/>
                </a:ext>
              </a:extLst>
            </p:cNvPr>
            <p:cNvSpPr/>
            <p:nvPr/>
          </p:nvSpPr>
          <p:spPr>
            <a:xfrm>
              <a:off x="731520" y="1270000"/>
              <a:ext cx="50800" cy="1566792"/>
            </a:xfrm>
            <a:prstGeom prst="rect">
              <a:avLst/>
            </a:prstGeom>
            <a:solidFill>
              <a:srgbClr val="7C3AED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1FDF8312-553F-3550-FE82-54A46173FD30}"/>
              </a:ext>
            </a:extLst>
          </p:cNvPr>
          <p:cNvGrpSpPr/>
          <p:nvPr/>
        </p:nvGrpSpPr>
        <p:grpSpPr>
          <a:xfrm>
            <a:off x="731520" y="3154292"/>
            <a:ext cx="10728960" cy="1566792"/>
            <a:chOff x="731520" y="3154292"/>
            <a:chExt cx="10728960" cy="156679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7D6417D-A7F2-5935-3E8B-25D132640F44}"/>
                </a:ext>
              </a:extLst>
            </p:cNvPr>
            <p:cNvSpPr txBox="1"/>
            <p:nvPr/>
          </p:nvSpPr>
          <p:spPr>
            <a:xfrm>
              <a:off x="934720" y="3154292"/>
              <a:ext cx="10525760" cy="151599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COHERENCE AND COHESION (25%)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800"/>
                </a:spcAft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Organize body paragraphs following a logical spatial sequence (North to South).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Sắp xếp thân bài theo trật tự không gian logic (từ Bắc xuống Nam).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Never jump erratically between unrelated coordinates across the map.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Không nhảy cóc lộn xộn giữa các góc bản đồ làm người đọc mất phương hướng.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5A27099-C276-B8EE-E5F9-86D2485A3C27}"/>
                </a:ext>
              </a:extLst>
            </p:cNvPr>
            <p:cNvSpPr/>
            <p:nvPr/>
          </p:nvSpPr>
          <p:spPr>
            <a:xfrm>
              <a:off x="731520" y="3154292"/>
              <a:ext cx="50800" cy="1566792"/>
            </a:xfrm>
            <a:prstGeom prst="rect">
              <a:avLst/>
            </a:prstGeom>
            <a:solidFill>
              <a:srgbClr val="7C3AED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943393824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2E6C7DE-F1B0-F81A-53CE-A817370148AA}"/>
              </a:ext>
            </a:extLst>
          </p:cNvPr>
          <p:cNvSpPr txBox="1"/>
          <p:nvPr/>
        </p:nvSpPr>
        <p:spPr>
          <a:xfrm>
            <a:off x="731520" y="330200"/>
            <a:ext cx="1072896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400" b="1">
                <a:solidFill>
                  <a:srgbClr val="7C3AED"/>
                </a:solidFill>
                <a:latin typeface="Montserrat" panose="00000500000000000000" pitchFamily="2" charset="0"/>
              </a:rPr>
              <a:t>🎯 02. BAND 7.5+ CRITERIA: LR &amp; GRA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C5AEDE7-DF27-2B3C-B279-4DB78E9D0AED}"/>
              </a:ext>
            </a:extLst>
          </p:cNvPr>
          <p:cNvGrpSpPr/>
          <p:nvPr/>
        </p:nvGrpSpPr>
        <p:grpSpPr>
          <a:xfrm>
            <a:off x="731520" y="1270000"/>
            <a:ext cx="10728960" cy="1566792"/>
            <a:chOff x="731520" y="1270000"/>
            <a:chExt cx="10728960" cy="1566792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3511FF0-C1D3-6D6A-3BA3-1AA8AC61DD77}"/>
                </a:ext>
              </a:extLst>
            </p:cNvPr>
            <p:cNvSpPr txBox="1"/>
            <p:nvPr/>
          </p:nvSpPr>
          <p:spPr>
            <a:xfrm>
              <a:off x="934720" y="1270000"/>
              <a:ext cx="10525760" cy="151599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LEXICAL RESOURCE (25%)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800"/>
                </a:spcAft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Utilize 5 distinct verb categories and nominalization structures.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Sử dụng linh hoạt 5 nhóm động từ biến đổi và cấu trúc danh từ hóa.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Ensure 100% accuracy with directional prepositions: IN vs TO the north.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Chính xác tuyệt đối các giới từ chỉ phương hướng: IN vs TO the north.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FE8E9E0-2739-D108-2CE6-646816F5BF5C}"/>
                </a:ext>
              </a:extLst>
            </p:cNvPr>
            <p:cNvSpPr/>
            <p:nvPr/>
          </p:nvSpPr>
          <p:spPr>
            <a:xfrm>
              <a:off x="731520" y="1270000"/>
              <a:ext cx="50800" cy="1566792"/>
            </a:xfrm>
            <a:prstGeom prst="rect">
              <a:avLst/>
            </a:prstGeom>
            <a:solidFill>
              <a:srgbClr val="7C3AED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14EE33FC-39E4-2516-4E05-F6FC7D7E4269}"/>
              </a:ext>
            </a:extLst>
          </p:cNvPr>
          <p:cNvGrpSpPr/>
          <p:nvPr/>
        </p:nvGrpSpPr>
        <p:grpSpPr>
          <a:xfrm>
            <a:off x="731520" y="3154292"/>
            <a:ext cx="10728960" cy="1566792"/>
            <a:chOff x="731520" y="3154292"/>
            <a:chExt cx="10728960" cy="156679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9046C69-148C-7AE6-9411-3D502B9ABC6C}"/>
                </a:ext>
              </a:extLst>
            </p:cNvPr>
            <p:cNvSpPr txBox="1"/>
            <p:nvPr/>
          </p:nvSpPr>
          <p:spPr>
            <a:xfrm>
              <a:off x="934720" y="3154292"/>
              <a:ext cx="10525760" cy="151599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GRAMMATICAL RANGE AND ACCURACY (25%)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800"/>
                </a:spcAft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Over 80% of sentences must be correctly formed in the passive voice.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Hơn 80% số câu trong bài phải chia ở thể bị động chuẩn xác.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Integrate participle clauses and spatial inversions for advanced complexity.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Kết hợp mệnh đề phân từ rút gọn và đảo ngữ vị trí để ghi điểm ngữ pháp cao.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5BB1839-F2F8-F2E3-F8DF-6750F54DC306}"/>
                </a:ext>
              </a:extLst>
            </p:cNvPr>
            <p:cNvSpPr/>
            <p:nvPr/>
          </p:nvSpPr>
          <p:spPr>
            <a:xfrm>
              <a:off x="731520" y="3154292"/>
              <a:ext cx="50800" cy="1566792"/>
            </a:xfrm>
            <a:prstGeom prst="rect">
              <a:avLst/>
            </a:prstGeom>
            <a:solidFill>
              <a:srgbClr val="7C3AED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891659959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A6B008-3FE9-689E-6495-50CCFE0F6857}"/>
              </a:ext>
            </a:extLst>
          </p:cNvPr>
          <p:cNvSpPr txBox="1"/>
          <p:nvPr/>
        </p:nvSpPr>
        <p:spPr>
          <a:xfrm>
            <a:off x="731520" y="330200"/>
            <a:ext cx="1072896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400" b="1">
                <a:solidFill>
                  <a:srgbClr val="EA580C"/>
                </a:solidFill>
                <a:latin typeface="Montserrat" panose="00000500000000000000" pitchFamily="2" charset="0"/>
              </a:rPr>
              <a:t>📐 03. ESSAY STRUCTURE: 4-PARAGRAPH STANDARD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7454CE6-1FD8-91E4-8AC2-1E6FF551BF00}"/>
              </a:ext>
            </a:extLst>
          </p:cNvPr>
          <p:cNvGrpSpPr/>
          <p:nvPr/>
        </p:nvGrpSpPr>
        <p:grpSpPr>
          <a:xfrm>
            <a:off x="731520" y="1270000"/>
            <a:ext cx="10728960" cy="928156"/>
            <a:chOff x="731520" y="1270000"/>
            <a:chExt cx="10728960" cy="928156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629F9C8-4096-628C-B25E-01C28BB28942}"/>
                </a:ext>
              </a:extLst>
            </p:cNvPr>
            <p:cNvSpPr txBox="1"/>
            <p:nvPr/>
          </p:nvSpPr>
          <p:spPr>
            <a:xfrm>
              <a:off x="934720" y="1270000"/>
              <a:ext cx="10525760" cy="877356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THE FIXED 4-PARAGRAPH BLUEPRINT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Introduction (1 sentence) ➔ Overview (2 sentences) ➔ Body 1 ➔ Body 2.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Mở bài (1 câu) ➔ Tổng quan (2 câu) ➔ Thân bài 1 (3-4 câu) ➔ Thân bài 2 (3-4 câu).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9690521A-B23B-81BF-0B0B-671ACAD27249}"/>
                </a:ext>
              </a:extLst>
            </p:cNvPr>
            <p:cNvSpPr/>
            <p:nvPr/>
          </p:nvSpPr>
          <p:spPr>
            <a:xfrm>
              <a:off x="731520" y="1270000"/>
              <a:ext cx="50800" cy="928156"/>
            </a:xfrm>
            <a:prstGeom prst="rect">
              <a:avLst/>
            </a:prstGeom>
            <a:solidFill>
              <a:srgbClr val="EA580C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298FFEBA-7B44-AA04-C156-084AAA28D811}"/>
              </a:ext>
            </a:extLst>
          </p:cNvPr>
          <p:cNvGrpSpPr/>
          <p:nvPr/>
        </p:nvGrpSpPr>
        <p:grpSpPr>
          <a:xfrm>
            <a:off x="731520" y="2515656"/>
            <a:ext cx="10728960" cy="928797"/>
            <a:chOff x="731520" y="2515656"/>
            <a:chExt cx="10728960" cy="92879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9DBBE80-731A-6D76-27AF-560CE55BB1AA}"/>
                </a:ext>
              </a:extLst>
            </p:cNvPr>
            <p:cNvSpPr txBox="1"/>
            <p:nvPr/>
          </p:nvSpPr>
          <p:spPr>
            <a:xfrm>
              <a:off x="934720" y="2515656"/>
              <a:ext cx="10525760" cy="877997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GOLDEN RULE: NO CONCLUSION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Never write a Conclusion paragraph in IELTS Task 1; all summaries belong in the Overview.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Tuyệt đối không viết Kết bài cho Task 1; mọi nhận định tổng quan phải nằm ở đoạn Overview.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5275E33-8C53-DFBD-070B-EB15950CF57E}"/>
                </a:ext>
              </a:extLst>
            </p:cNvPr>
            <p:cNvSpPr/>
            <p:nvPr/>
          </p:nvSpPr>
          <p:spPr>
            <a:xfrm>
              <a:off x="731520" y="2515656"/>
              <a:ext cx="50800" cy="928797"/>
            </a:xfrm>
            <a:prstGeom prst="rect">
              <a:avLst/>
            </a:prstGeom>
            <a:solidFill>
              <a:srgbClr val="EA580C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3776597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9B942BD-29B1-ACFC-ED79-8753FD9BB446}"/>
              </a:ext>
            </a:extLst>
          </p:cNvPr>
          <p:cNvSpPr txBox="1"/>
          <p:nvPr/>
        </p:nvSpPr>
        <p:spPr>
          <a:xfrm>
            <a:off x="731520" y="330200"/>
            <a:ext cx="1072896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400" b="1">
                <a:solidFill>
                  <a:srgbClr val="EA580C"/>
                </a:solidFill>
                <a:latin typeface="Montserrat" panose="00000500000000000000" pitchFamily="2" charset="0"/>
              </a:rPr>
              <a:t>📐 03. BODY GROUPING: NORTH - SOUTH SPLIT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72E1107-3CA9-0C85-9887-E0F497E6C730}"/>
              </a:ext>
            </a:extLst>
          </p:cNvPr>
          <p:cNvGrpSpPr/>
          <p:nvPr/>
        </p:nvGrpSpPr>
        <p:grpSpPr>
          <a:xfrm>
            <a:off x="731520" y="1270000"/>
            <a:ext cx="10728960" cy="928797"/>
            <a:chOff x="731520" y="1270000"/>
            <a:chExt cx="10728960" cy="928797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CDBB08D-28F9-1ABD-815F-870E3592BDD4}"/>
                </a:ext>
              </a:extLst>
            </p:cNvPr>
            <p:cNvSpPr txBox="1"/>
            <p:nvPr/>
          </p:nvSpPr>
          <p:spPr>
            <a:xfrm>
              <a:off x="934720" y="1270000"/>
              <a:ext cx="10525760" cy="877997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WHEN TO APPLY THIS STRATEGY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Best suited when a river, railway, or main road bisects the landscape.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Phù hợp nhất khi có dòng sông, đường sắt hoặc trục lộ lớn cắt ngang bản đồ.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55922FC-0800-A0D2-7FFA-3BB8F50A25D1}"/>
                </a:ext>
              </a:extLst>
            </p:cNvPr>
            <p:cNvSpPr/>
            <p:nvPr/>
          </p:nvSpPr>
          <p:spPr>
            <a:xfrm>
              <a:off x="731520" y="1270000"/>
              <a:ext cx="50800" cy="928797"/>
            </a:xfrm>
            <a:prstGeom prst="rect">
              <a:avLst/>
            </a:prstGeom>
            <a:solidFill>
              <a:srgbClr val="EA580C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7E2214AD-B88E-6D9A-8341-D5BBE7F3A0ED}"/>
              </a:ext>
            </a:extLst>
          </p:cNvPr>
          <p:cNvGrpSpPr/>
          <p:nvPr/>
        </p:nvGrpSpPr>
        <p:grpSpPr>
          <a:xfrm>
            <a:off x="731520" y="2516297"/>
            <a:ext cx="10728960" cy="928797"/>
            <a:chOff x="731520" y="2516297"/>
            <a:chExt cx="10728960" cy="92879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003FA16-B736-DEFF-67E7-328DFD3C3561}"/>
                </a:ext>
              </a:extLst>
            </p:cNvPr>
            <p:cNvSpPr txBox="1"/>
            <p:nvPr/>
          </p:nvSpPr>
          <p:spPr>
            <a:xfrm>
              <a:off x="934720" y="2516297"/>
              <a:ext cx="10525760" cy="877997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PARAGRAPH ALLOCATION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Body 1 covers the northern half; Body 2 details the southern half and unchanged items.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Body 1 tả nửa phía Bắc; Body 2 tả nửa phía Nam cùng các công trình giữ nguyên.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CB55177-A4AC-72B7-0DE9-0D02D41BBEAE}"/>
                </a:ext>
              </a:extLst>
            </p:cNvPr>
            <p:cNvSpPr/>
            <p:nvPr/>
          </p:nvSpPr>
          <p:spPr>
            <a:xfrm>
              <a:off x="731520" y="2516297"/>
              <a:ext cx="50800" cy="928797"/>
            </a:xfrm>
            <a:prstGeom prst="rect">
              <a:avLst/>
            </a:prstGeom>
            <a:solidFill>
              <a:srgbClr val="EA580C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181006524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6983E1E-4F71-F551-68D0-CCBFDDA0E9C1}"/>
              </a:ext>
            </a:extLst>
          </p:cNvPr>
          <p:cNvSpPr txBox="1"/>
          <p:nvPr/>
        </p:nvSpPr>
        <p:spPr>
          <a:xfrm>
            <a:off x="731520" y="330200"/>
            <a:ext cx="1072896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400" b="1">
                <a:solidFill>
                  <a:srgbClr val="EA580C"/>
                </a:solidFill>
                <a:latin typeface="Montserrat" panose="00000500000000000000" pitchFamily="2" charset="0"/>
              </a:rPr>
              <a:t>📐 03. BODY GROUPING: CENTER &amp; FUNCTION SPLIT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DD06148-BBA0-FAF1-AC87-CC700CEADDC9}"/>
              </a:ext>
            </a:extLst>
          </p:cNvPr>
          <p:cNvGrpSpPr/>
          <p:nvPr/>
        </p:nvGrpSpPr>
        <p:grpSpPr>
          <a:xfrm>
            <a:off x="731520" y="1270000"/>
            <a:ext cx="10728960" cy="928797"/>
            <a:chOff x="731520" y="1270000"/>
            <a:chExt cx="10728960" cy="928797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A28669F1-7004-F01F-EAB1-157AA4F9975A}"/>
                </a:ext>
              </a:extLst>
            </p:cNvPr>
            <p:cNvSpPr txBox="1"/>
            <p:nvPr/>
          </p:nvSpPr>
          <p:spPr>
            <a:xfrm>
              <a:off x="934720" y="1270000"/>
              <a:ext cx="10525760" cy="877997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CENTER VS PERIPHERY (FLOOR PLANS)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Body 1 details main entrance &amp; central hall; Body 2 details perimeter rooms.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Body 1 tả lối vào &amp; sảnh trung tâm; Body 2 tả các phòng chức năng xung quanh.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E2382D8-BB66-9018-8E79-F845A1D87800}"/>
                </a:ext>
              </a:extLst>
            </p:cNvPr>
            <p:cNvSpPr/>
            <p:nvPr/>
          </p:nvSpPr>
          <p:spPr>
            <a:xfrm>
              <a:off x="731520" y="1270000"/>
              <a:ext cx="50800" cy="928797"/>
            </a:xfrm>
            <a:prstGeom prst="rect">
              <a:avLst/>
            </a:prstGeom>
            <a:solidFill>
              <a:srgbClr val="EA580C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F836EA54-BE80-03FC-F5F1-69A84829A464}"/>
              </a:ext>
            </a:extLst>
          </p:cNvPr>
          <p:cNvGrpSpPr/>
          <p:nvPr/>
        </p:nvGrpSpPr>
        <p:grpSpPr>
          <a:xfrm>
            <a:off x="731520" y="2516297"/>
            <a:ext cx="10728960" cy="928797"/>
            <a:chOff x="731520" y="2516297"/>
            <a:chExt cx="10728960" cy="92879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1EF29E2-62DE-4C7A-333F-032C8A63E1D5}"/>
                </a:ext>
              </a:extLst>
            </p:cNvPr>
            <p:cNvSpPr txBox="1"/>
            <p:nvPr/>
          </p:nvSpPr>
          <p:spPr>
            <a:xfrm>
              <a:off x="934720" y="2516297"/>
              <a:ext cx="10525760" cy="877997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FUNCTIONAL CATEGORIZATION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Body 1 groups residential &amp; transport; Body 2 groups commercial &amp; green amenities.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Body 1 gom khu dân cư &amp; giao thông; Body 2 gom tiện ích thương mại &amp; thiên nhiên.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C9FDFF9-FE46-A584-9BBF-2D958FE2DC21}"/>
                </a:ext>
              </a:extLst>
            </p:cNvPr>
            <p:cNvSpPr/>
            <p:nvPr/>
          </p:nvSpPr>
          <p:spPr>
            <a:xfrm>
              <a:off x="731520" y="2516297"/>
              <a:ext cx="50800" cy="928797"/>
            </a:xfrm>
            <a:prstGeom prst="rect">
              <a:avLst/>
            </a:prstGeom>
            <a:solidFill>
              <a:srgbClr val="EA580C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234863409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752301E-2418-BBA2-BDE1-04F516EBE554}"/>
              </a:ext>
            </a:extLst>
          </p:cNvPr>
          <p:cNvSpPr txBox="1"/>
          <p:nvPr/>
        </p:nvSpPr>
        <p:spPr>
          <a:xfrm>
            <a:off x="731520" y="330200"/>
            <a:ext cx="1072896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fr-FR" sz="2400" b="1">
                <a:solidFill>
                  <a:srgbClr val="DB2777"/>
                </a:solidFill>
                <a:latin typeface="Montserrat" panose="00000500000000000000" pitchFamily="2" charset="0"/>
              </a:rPr>
              <a:t>✍️ 04. INTRODUCTION FORMULA (1 SENTENCE)</a:t>
            </a:r>
            <a:endParaRPr lang="en-US" sz="2400" b="1">
              <a:solidFill>
                <a:srgbClr val="DB2777"/>
              </a:solidFill>
              <a:latin typeface="Montserrat" panose="00000500000000000000" pitchFamily="2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2ADFD32-594E-6835-E8A5-B8AEB35134B9}"/>
              </a:ext>
            </a:extLst>
          </p:cNvPr>
          <p:cNvGrpSpPr/>
          <p:nvPr/>
        </p:nvGrpSpPr>
        <p:grpSpPr>
          <a:xfrm>
            <a:off x="731520" y="1270000"/>
            <a:ext cx="10728960" cy="928797"/>
            <a:chOff x="731520" y="1270000"/>
            <a:chExt cx="10728960" cy="928797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D974674-3386-B93F-BE91-288DD4101395}"/>
                </a:ext>
              </a:extLst>
            </p:cNvPr>
            <p:cNvSpPr txBox="1"/>
            <p:nvPr/>
          </p:nvSpPr>
          <p:spPr>
            <a:xfrm>
              <a:off x="934720" y="1270000"/>
              <a:ext cx="10525760" cy="877997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PARAPHRASE TEMPLATE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The map illustrates how [Place] developed over a [X]-year period from [Year] to [Year].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Bản đồ minh họa nơi chốn đã phát triển qua khoảng thời gian X năm.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FAC4678-4459-F1DD-65A6-DB4B45D229CB}"/>
                </a:ext>
              </a:extLst>
            </p:cNvPr>
            <p:cNvSpPr/>
            <p:nvPr/>
          </p:nvSpPr>
          <p:spPr>
            <a:xfrm>
              <a:off x="731520" y="1270000"/>
              <a:ext cx="50800" cy="928797"/>
            </a:xfrm>
            <a:prstGeom prst="rect">
              <a:avLst/>
            </a:prstGeom>
            <a:solidFill>
              <a:srgbClr val="DB2777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2F7A11FA-F637-2E83-5B6E-ACC577446E75}"/>
              </a:ext>
            </a:extLst>
          </p:cNvPr>
          <p:cNvGrpSpPr/>
          <p:nvPr/>
        </p:nvGrpSpPr>
        <p:grpSpPr>
          <a:xfrm>
            <a:off x="731520" y="2516297"/>
            <a:ext cx="10728960" cy="928797"/>
            <a:chOff x="731520" y="2516297"/>
            <a:chExt cx="10728960" cy="92879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3339698-6825-11E5-B086-3A7BA0692E15}"/>
                </a:ext>
              </a:extLst>
            </p:cNvPr>
            <p:cNvSpPr txBox="1"/>
            <p:nvPr/>
          </p:nvSpPr>
          <p:spPr>
            <a:xfrm>
              <a:off x="934720" y="2516297"/>
              <a:ext cx="10525760" cy="877997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AUTHENTIC MODEL SENTENCE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The two maps illustrate how Stokeford developed over an 80-year period from 1930 to 2010.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Hai bản đồ minh họa cách làng Stokeford phát triển trong 80 năm từ 1930 đến 2010.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C593832-A4F6-69EB-CBCC-D919C9F405C2}"/>
                </a:ext>
              </a:extLst>
            </p:cNvPr>
            <p:cNvSpPr/>
            <p:nvPr/>
          </p:nvSpPr>
          <p:spPr>
            <a:xfrm>
              <a:off x="731520" y="2516297"/>
              <a:ext cx="50800" cy="928797"/>
            </a:xfrm>
            <a:prstGeom prst="rect">
              <a:avLst/>
            </a:prstGeom>
            <a:solidFill>
              <a:srgbClr val="DB2777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799719150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B1F6BF-463D-1605-235C-6D166308713F}"/>
              </a:ext>
            </a:extLst>
          </p:cNvPr>
          <p:cNvSpPr txBox="1"/>
          <p:nvPr/>
        </p:nvSpPr>
        <p:spPr>
          <a:xfrm>
            <a:off x="731520" y="330200"/>
            <a:ext cx="1072896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400" b="1">
                <a:solidFill>
                  <a:srgbClr val="DB2777"/>
                </a:solidFill>
                <a:latin typeface="Montserrat" panose="00000500000000000000" pitchFamily="2" charset="0"/>
              </a:rPr>
              <a:t>✍️ 04. OVERVIEW FORMULA (2 SENTENCES)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31D5218-9B02-0411-E2C4-05748B617C90}"/>
              </a:ext>
            </a:extLst>
          </p:cNvPr>
          <p:cNvGrpSpPr/>
          <p:nvPr/>
        </p:nvGrpSpPr>
        <p:grpSpPr>
          <a:xfrm>
            <a:off x="731520" y="1270000"/>
            <a:ext cx="10728960" cy="1566792"/>
            <a:chOff x="731520" y="1270000"/>
            <a:chExt cx="10728960" cy="1566792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D904A097-C426-D07B-C21C-148897E941FE}"/>
                </a:ext>
              </a:extLst>
            </p:cNvPr>
            <p:cNvSpPr txBox="1"/>
            <p:nvPr/>
          </p:nvSpPr>
          <p:spPr>
            <a:xfrm>
              <a:off x="934720" y="1270000"/>
              <a:ext cx="10525760" cy="151599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THE 2-SENTENCE OVERVIEW BLUEPRINT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800"/>
                </a:spcAft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Sentence 1: Overall, [Place] underwent a transformation from a rural to a residential area.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Câu 1: Nhìn chung, ngôi làng trải qua sự chuyển dịch từ nông thôn thành khu dân cư.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Sentence 2: The most notable change was the complete clearance of farmland for housing.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Câu 2: Thay đổi đáng chú ý nhất là việc xóa bỏ đất nông nghiệp để xây nhà ở.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EB026B1A-40F7-C202-CF3F-452E7A96F294}"/>
                </a:ext>
              </a:extLst>
            </p:cNvPr>
            <p:cNvSpPr/>
            <p:nvPr/>
          </p:nvSpPr>
          <p:spPr>
            <a:xfrm>
              <a:off x="731520" y="1270000"/>
              <a:ext cx="50800" cy="1566792"/>
            </a:xfrm>
            <a:prstGeom prst="rect">
              <a:avLst/>
            </a:prstGeom>
            <a:solidFill>
              <a:srgbClr val="DB2777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E67C1DFA-6E66-646F-918F-887EBC141538}"/>
              </a:ext>
            </a:extLst>
          </p:cNvPr>
          <p:cNvGrpSpPr/>
          <p:nvPr/>
        </p:nvGrpSpPr>
        <p:grpSpPr>
          <a:xfrm>
            <a:off x="731520" y="3154292"/>
            <a:ext cx="10728960" cy="928797"/>
            <a:chOff x="731520" y="3154292"/>
            <a:chExt cx="10728960" cy="92879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E2E5341-C091-650E-6C37-8BDAB2A3D99A}"/>
                </a:ext>
              </a:extLst>
            </p:cNvPr>
            <p:cNvSpPr txBox="1"/>
            <p:nvPr/>
          </p:nvSpPr>
          <p:spPr>
            <a:xfrm>
              <a:off x="934720" y="3154292"/>
              <a:ext cx="10525760" cy="877997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CRITICAL GUIDELINE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Never include minor statistics or specific room names in the Overview.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Không đưa số liệu chi tiết hay tên riêng vụn vặt vào đoạn Overview.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F3ADA70-7371-AA73-57BE-C93650A4F434}"/>
                </a:ext>
              </a:extLst>
            </p:cNvPr>
            <p:cNvSpPr/>
            <p:nvPr/>
          </p:nvSpPr>
          <p:spPr>
            <a:xfrm>
              <a:off x="731520" y="3154292"/>
              <a:ext cx="50800" cy="928797"/>
            </a:xfrm>
            <a:prstGeom prst="rect">
              <a:avLst/>
            </a:prstGeom>
            <a:solidFill>
              <a:srgbClr val="DB2777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65989428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26D1176-26B4-A4A3-C55B-9CA692CBB28D}"/>
              </a:ext>
            </a:extLst>
          </p:cNvPr>
          <p:cNvSpPr txBox="1"/>
          <p:nvPr/>
        </p:nvSpPr>
        <p:spPr>
          <a:xfrm>
            <a:off x="731520" y="330200"/>
            <a:ext cx="1072896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400" b="1">
                <a:solidFill>
                  <a:srgbClr val="DC2626"/>
                </a:solidFill>
                <a:latin typeface="Montserrat" panose="00000500000000000000" pitchFamily="2" charset="0"/>
              </a:rPr>
              <a:t>🧭 05. 8 COMPASS DIRECTIONS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C99DC3-B7BC-B617-1183-D9F9BC17AC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19" y="1365250"/>
            <a:ext cx="4318001" cy="4381500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4266D167-B3FA-84C0-332D-78135D7F7D3A}"/>
              </a:ext>
            </a:extLst>
          </p:cNvPr>
          <p:cNvGrpSpPr/>
          <p:nvPr/>
        </p:nvGrpSpPr>
        <p:grpSpPr>
          <a:xfrm>
            <a:off x="5461000" y="1778000"/>
            <a:ext cx="5969000" cy="2076547"/>
            <a:chOff x="5461000" y="1778000"/>
            <a:chExt cx="5969000" cy="207654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F18D89F-660B-B83F-7FC0-D3DD84FA87D2}"/>
                </a:ext>
              </a:extLst>
            </p:cNvPr>
            <p:cNvSpPr txBox="1"/>
            <p:nvPr/>
          </p:nvSpPr>
          <p:spPr>
            <a:xfrm>
              <a:off x="5664200" y="1778000"/>
              <a:ext cx="5765800" cy="2025747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CARDINAL &amp; INTERCARDINAL POINTS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800"/>
                </a:spcAft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North, South, East, West combined with NE, NW, SE, and SW.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4 hướng chính (Bắc, Nam, Đông, Tây) kết hợp 4 hướng phụ (ĐB, TB, ĐN, TN).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Essential spatial orientation anchors for any outdoor exam prompt.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Hệ quy chiếu phương hướng bắt buộc cho mọi đề thi bản đồ ngoài trời.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76F107E-2FF0-2CF5-209A-EAA1D0B493B4}"/>
                </a:ext>
              </a:extLst>
            </p:cNvPr>
            <p:cNvSpPr/>
            <p:nvPr/>
          </p:nvSpPr>
          <p:spPr>
            <a:xfrm>
              <a:off x="5461000" y="1778000"/>
              <a:ext cx="50800" cy="2076547"/>
            </a:xfrm>
            <a:prstGeom prst="rect">
              <a:avLst/>
            </a:prstGeom>
            <a:solidFill>
              <a:srgbClr val="DC2626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92731729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F2EF748-CD13-ED43-B8E5-DE162E1CD04C}"/>
              </a:ext>
            </a:extLst>
          </p:cNvPr>
          <p:cNvSpPr txBox="1"/>
          <p:nvPr/>
        </p:nvSpPr>
        <p:spPr>
          <a:xfrm>
            <a:off x="731520" y="330200"/>
            <a:ext cx="1072896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400" b="1">
                <a:solidFill>
                  <a:srgbClr val="DC2626"/>
                </a:solidFill>
                <a:latin typeface="Montserrat" panose="00000500000000000000" pitchFamily="2" charset="0"/>
              </a:rPr>
              <a:t>🧭 05. ADVANCED SPATIAL COLLOCATIONS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20C391-3B54-4675-2DEC-86C5176E68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19" y="1365250"/>
            <a:ext cx="4318001" cy="4381500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26F90133-A961-28A2-C595-FFD1FE354294}"/>
              </a:ext>
            </a:extLst>
          </p:cNvPr>
          <p:cNvGrpSpPr/>
          <p:nvPr/>
        </p:nvGrpSpPr>
        <p:grpSpPr>
          <a:xfrm>
            <a:off x="5461000" y="1651000"/>
            <a:ext cx="5969000" cy="2204788"/>
            <a:chOff x="5461000" y="1651000"/>
            <a:chExt cx="5969000" cy="2204788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8A71E35-E12A-2DA2-720E-22C6B89622E8}"/>
                </a:ext>
              </a:extLst>
            </p:cNvPr>
            <p:cNvSpPr txBox="1"/>
            <p:nvPr/>
          </p:nvSpPr>
          <p:spPr>
            <a:xfrm>
              <a:off x="5664200" y="1651000"/>
              <a:ext cx="5765800" cy="2153988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HIGH-SCORING POSITIONING PHRASES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800"/>
                </a:spcAft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in the north-eastern part of the village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ở khu vực phía đông bắc của ngôi làng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800"/>
                </a:spcAft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situated along the eastern boundary of the town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nằm dọc theo ranh giới phía đông của thị trấn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occupying the south-western quadrant of the area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chiếm trọn góc phần tư phía tây nam của khu vực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1E26264-84F6-026D-5BAB-8C83C87E7731}"/>
                </a:ext>
              </a:extLst>
            </p:cNvPr>
            <p:cNvSpPr/>
            <p:nvPr/>
          </p:nvSpPr>
          <p:spPr>
            <a:xfrm>
              <a:off x="5461000" y="1651000"/>
              <a:ext cx="50800" cy="2204788"/>
            </a:xfrm>
            <a:prstGeom prst="rect">
              <a:avLst/>
            </a:prstGeom>
            <a:solidFill>
              <a:srgbClr val="DC2626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25291758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47F6C4F-EBD0-281A-3059-0B42B9D9FFA0}"/>
              </a:ext>
            </a:extLst>
          </p:cNvPr>
          <p:cNvSpPr txBox="1"/>
          <p:nvPr/>
        </p:nvSpPr>
        <p:spPr>
          <a:xfrm>
            <a:off x="731520" y="330200"/>
            <a:ext cx="1072896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400" b="1">
                <a:solidFill>
                  <a:srgbClr val="DC2626"/>
                </a:solidFill>
                <a:latin typeface="Montserrat" panose="00000500000000000000" pitchFamily="2" charset="0"/>
              </a:rPr>
              <a:t>🧭 05. GOLDEN RULE: PREPOSITION 'IN'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F318F5-DDC2-9F8E-44E9-48E1286977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19" y="1365250"/>
            <a:ext cx="4318001" cy="4381500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283A72AF-F611-96F0-AD8D-F3142C145A3A}"/>
              </a:ext>
            </a:extLst>
          </p:cNvPr>
          <p:cNvGrpSpPr/>
          <p:nvPr/>
        </p:nvGrpSpPr>
        <p:grpSpPr>
          <a:xfrm>
            <a:off x="5461000" y="1651000"/>
            <a:ext cx="5969000" cy="2076547"/>
            <a:chOff x="5461000" y="1651000"/>
            <a:chExt cx="5969000" cy="207654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34D8D30-1288-BB2E-1D37-F1BE470DE798}"/>
                </a:ext>
              </a:extLst>
            </p:cNvPr>
            <p:cNvSpPr txBox="1"/>
            <p:nvPr/>
          </p:nvSpPr>
          <p:spPr>
            <a:xfrm>
              <a:off x="5664200" y="1651000"/>
              <a:ext cx="5765800" cy="2025747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WITHIN BOUNDARIES ➔ USE 'IN'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800"/>
                </a:spcAft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Used when a feature is situated INSIDE the territory of the town.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Dùng khi công trình nằm BÊN TRONG ranh giới của khu vực.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A new hospital was constructed in the north of the town.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Một bệnh viện mới được xây dựng ở phía bắc của thị trấn (nằm trong thị trấn).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AF292F6-EB15-6133-3F8A-80F02C7D13CF}"/>
                </a:ext>
              </a:extLst>
            </p:cNvPr>
            <p:cNvSpPr/>
            <p:nvPr/>
          </p:nvSpPr>
          <p:spPr>
            <a:xfrm>
              <a:off x="5461000" y="1651000"/>
              <a:ext cx="50800" cy="2076547"/>
            </a:xfrm>
            <a:prstGeom prst="rect">
              <a:avLst/>
            </a:prstGeom>
            <a:solidFill>
              <a:srgbClr val="DC2626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6637005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07C5D25-CFEB-FD81-2C13-E410DF077B24}"/>
              </a:ext>
            </a:extLst>
          </p:cNvPr>
          <p:cNvSpPr txBox="1"/>
          <p:nvPr/>
        </p:nvSpPr>
        <p:spPr>
          <a:xfrm>
            <a:off x="731520" y="330200"/>
            <a:ext cx="1072896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400" b="1">
                <a:solidFill>
                  <a:srgbClr val="DC2626"/>
                </a:solidFill>
                <a:latin typeface="Montserrat" panose="00000500000000000000" pitchFamily="2" charset="0"/>
              </a:rPr>
              <a:t>🧭 05. GOLDEN RULE: PREPOSITION 'TO'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420C12A-5F97-9373-43A9-EC23E2872E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19" y="1365250"/>
            <a:ext cx="4318001" cy="4381500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C62FA62D-D277-6B97-8694-D84E98F2CA64}"/>
              </a:ext>
            </a:extLst>
          </p:cNvPr>
          <p:cNvGrpSpPr/>
          <p:nvPr/>
        </p:nvGrpSpPr>
        <p:grpSpPr>
          <a:xfrm>
            <a:off x="5461000" y="1651000"/>
            <a:ext cx="5969000" cy="1845715"/>
            <a:chOff x="5461000" y="1651000"/>
            <a:chExt cx="5969000" cy="184571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793DDEB-7AC4-2CA7-9D57-728DB2287E06}"/>
                </a:ext>
              </a:extLst>
            </p:cNvPr>
            <p:cNvSpPr txBox="1"/>
            <p:nvPr/>
          </p:nvSpPr>
          <p:spPr>
            <a:xfrm>
              <a:off x="5664200" y="1651000"/>
              <a:ext cx="5765800" cy="1794915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EXTERNAL &amp; SEPARATE ➔ USE 'TO'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800"/>
                </a:spcAft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Used when a feature lies OUTSIDE and detached from the town border.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Dùng khi công trình nằm TÁCH RỜI, BÊN NGOÀI ranh giới khu vực.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A dense forest lies to the north of the town.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Một khu rừng rậm nằm về phía bắc của thị trấn (nằm bên ngoài thị trấn).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102CBC9-F697-EDA9-F9CC-28446AFDF3C0}"/>
                </a:ext>
              </a:extLst>
            </p:cNvPr>
            <p:cNvSpPr/>
            <p:nvPr/>
          </p:nvSpPr>
          <p:spPr>
            <a:xfrm>
              <a:off x="5461000" y="1651000"/>
              <a:ext cx="50800" cy="1845715"/>
            </a:xfrm>
            <a:prstGeom prst="rect">
              <a:avLst/>
            </a:prstGeom>
            <a:solidFill>
              <a:srgbClr val="DC2626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59700666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3AE781D-9A03-482D-1189-95E2C02F9A6C}"/>
              </a:ext>
            </a:extLst>
          </p:cNvPr>
          <p:cNvSpPr txBox="1"/>
          <p:nvPr/>
        </p:nvSpPr>
        <p:spPr>
          <a:xfrm>
            <a:off x="731520" y="330200"/>
            <a:ext cx="1072896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400" b="1">
                <a:solidFill>
                  <a:srgbClr val="DC2626"/>
                </a:solidFill>
                <a:latin typeface="Montserrat" panose="00000500000000000000" pitchFamily="2" charset="0"/>
              </a:rPr>
              <a:t>🧭 05. PROXIMITY: ADJACENT TO / NEXT TO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BE87616-21FE-9729-C315-97FBA2F057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19" y="1365250"/>
            <a:ext cx="4318001" cy="4381500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25791419-A723-4AB9-801C-FC7A943A3540}"/>
              </a:ext>
            </a:extLst>
          </p:cNvPr>
          <p:cNvGrpSpPr/>
          <p:nvPr/>
        </p:nvGrpSpPr>
        <p:grpSpPr>
          <a:xfrm>
            <a:off x="5461000" y="1651000"/>
            <a:ext cx="5969000" cy="1566792"/>
            <a:chOff x="5461000" y="1651000"/>
            <a:chExt cx="5969000" cy="156679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B751FDB-1E21-1E63-CC6C-1C73A59EB67D}"/>
                </a:ext>
              </a:extLst>
            </p:cNvPr>
            <p:cNvSpPr txBox="1"/>
            <p:nvPr/>
          </p:nvSpPr>
          <p:spPr>
            <a:xfrm>
              <a:off x="5664200" y="1651000"/>
              <a:ext cx="5765800" cy="151599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IMMEDIATE ADJACENCY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800"/>
                </a:spcAft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Use 'adjacent to' as an academic replacement for 'next to'.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Dùng 'adjacent to' thay cho 'next to' để tăng tính học thuật.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The local shops adjacent to the post office were demolished.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Các cửa hàng sát cạnh bưu điện đã bị phá dỡ.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8C008C-34BD-750E-B2DB-FBCD8A3C6696}"/>
                </a:ext>
              </a:extLst>
            </p:cNvPr>
            <p:cNvSpPr/>
            <p:nvPr/>
          </p:nvSpPr>
          <p:spPr>
            <a:xfrm>
              <a:off x="5461000" y="1651000"/>
              <a:ext cx="50800" cy="1566792"/>
            </a:xfrm>
            <a:prstGeom prst="rect">
              <a:avLst/>
            </a:prstGeom>
            <a:solidFill>
              <a:srgbClr val="DC2626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70651491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0C91BE0-D324-9708-B268-93624D72AEEB}"/>
              </a:ext>
            </a:extLst>
          </p:cNvPr>
          <p:cNvSpPr txBox="1"/>
          <p:nvPr/>
        </p:nvSpPr>
        <p:spPr>
          <a:xfrm>
            <a:off x="731520" y="330200"/>
            <a:ext cx="1072896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400" b="1">
                <a:solidFill>
                  <a:srgbClr val="DC2626"/>
                </a:solidFill>
                <a:latin typeface="Montserrat" panose="00000500000000000000" pitchFamily="2" charset="0"/>
              </a:rPr>
              <a:t>🧭 05. OPPOSITION: OPPOSITE / ACROSS FROM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8B9974-E4F3-875F-E7F9-F73F9A0128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19" y="1365250"/>
            <a:ext cx="4318001" cy="4381500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E1032FAC-5386-76F3-ED28-731C26656C94}"/>
              </a:ext>
            </a:extLst>
          </p:cNvPr>
          <p:cNvGrpSpPr/>
          <p:nvPr/>
        </p:nvGrpSpPr>
        <p:grpSpPr>
          <a:xfrm>
            <a:off x="5461000" y="1651000"/>
            <a:ext cx="5969000" cy="2076547"/>
            <a:chOff x="5461000" y="1651000"/>
            <a:chExt cx="5969000" cy="207654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24F40B6-45CE-31FF-7770-0ECD8EC1AEE2}"/>
                </a:ext>
              </a:extLst>
            </p:cNvPr>
            <p:cNvSpPr txBox="1"/>
            <p:nvPr/>
          </p:nvSpPr>
          <p:spPr>
            <a:xfrm>
              <a:off x="5664200" y="1651000"/>
              <a:ext cx="5765800" cy="2025747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FACING ACROSS A DIVIDER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800"/>
                </a:spcAft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Used when two landmarks face each other across a road or waterway.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Dùng khi hai địa điểm nằm đối diện nhau qua một con đường hoặc dòng sông.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A modern café was constructed opposite the library entrance.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Một quán café hiện đại được xây dựng đối diện lối vào thư viện.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4FFAB6C-D737-84C0-FED2-8CDE6B635C8B}"/>
                </a:ext>
              </a:extLst>
            </p:cNvPr>
            <p:cNvSpPr/>
            <p:nvPr/>
          </p:nvSpPr>
          <p:spPr>
            <a:xfrm>
              <a:off x="5461000" y="1651000"/>
              <a:ext cx="50800" cy="2076547"/>
            </a:xfrm>
            <a:prstGeom prst="rect">
              <a:avLst/>
            </a:prstGeom>
            <a:solidFill>
              <a:srgbClr val="DC2626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40933907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D4A1D0-6731-5D66-2C58-317A95B1F217}"/>
              </a:ext>
            </a:extLst>
          </p:cNvPr>
          <p:cNvSpPr txBox="1"/>
          <p:nvPr/>
        </p:nvSpPr>
        <p:spPr>
          <a:xfrm>
            <a:off x="731520" y="330200"/>
            <a:ext cx="1072896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400" b="1">
                <a:solidFill>
                  <a:srgbClr val="7C3AED"/>
                </a:solidFill>
                <a:latin typeface="Montserrat" panose="00000500000000000000" pitchFamily="2" charset="0"/>
              </a:rPr>
              <a:t>🏢 06. FLOOR PLAN: ENTRANCE &amp; CENTER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1544F6-ACFB-4EDE-6275-51E8712884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1103093"/>
            <a:ext cx="4318000" cy="4905814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2F26ED0-C83C-6D9B-877A-C2654795BCB7}"/>
              </a:ext>
            </a:extLst>
          </p:cNvPr>
          <p:cNvGrpSpPr/>
          <p:nvPr/>
        </p:nvGrpSpPr>
        <p:grpSpPr>
          <a:xfrm>
            <a:off x="5461000" y="1397000"/>
            <a:ext cx="5969000" cy="928797"/>
            <a:chOff x="5461000" y="1397000"/>
            <a:chExt cx="5969000" cy="92879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EA66FAC-9A71-59F8-9258-1282B2FC4018}"/>
                </a:ext>
              </a:extLst>
            </p:cNvPr>
            <p:cNvSpPr txBox="1"/>
            <p:nvPr/>
          </p:nvSpPr>
          <p:spPr>
            <a:xfrm>
              <a:off x="5664200" y="1397000"/>
              <a:ext cx="5765800" cy="877997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MAIN ENTRANCE AS STARTING ANCHOR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To the immediate left / right of the entrance.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Ngay sát bên trái / bên phải của lối vào chính.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BF8D10B-5586-1BA6-3A79-C904A334210F}"/>
                </a:ext>
              </a:extLst>
            </p:cNvPr>
            <p:cNvSpPr/>
            <p:nvPr/>
          </p:nvSpPr>
          <p:spPr>
            <a:xfrm>
              <a:off x="5461000" y="1397000"/>
              <a:ext cx="50800" cy="928797"/>
            </a:xfrm>
            <a:prstGeom prst="rect">
              <a:avLst/>
            </a:prstGeom>
            <a:solidFill>
              <a:srgbClr val="7C3AED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1663BFCE-C14F-2AE4-B6CF-CD1E8E915E55}"/>
              </a:ext>
            </a:extLst>
          </p:cNvPr>
          <p:cNvGrpSpPr/>
          <p:nvPr/>
        </p:nvGrpSpPr>
        <p:grpSpPr>
          <a:xfrm>
            <a:off x="5461000" y="2579797"/>
            <a:ext cx="5969000" cy="928797"/>
            <a:chOff x="5461000" y="2579797"/>
            <a:chExt cx="5969000" cy="928797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55906F3-7282-49E3-D159-C7B88100451B}"/>
                </a:ext>
              </a:extLst>
            </p:cNvPr>
            <p:cNvSpPr txBox="1"/>
            <p:nvPr/>
          </p:nvSpPr>
          <p:spPr>
            <a:xfrm>
              <a:off x="5664200" y="2579797"/>
              <a:ext cx="5765800" cy="877997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CENTRAL OPEN AREA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In the center / middle / heart of the library floor plan.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Ở chính giữa / trung tâm của mặt bằng thư viện.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4FA4C5A-6DCB-3087-96D2-F4D24882B1C9}"/>
                </a:ext>
              </a:extLst>
            </p:cNvPr>
            <p:cNvSpPr/>
            <p:nvPr/>
          </p:nvSpPr>
          <p:spPr>
            <a:xfrm>
              <a:off x="5461000" y="2579797"/>
              <a:ext cx="50800" cy="928797"/>
            </a:xfrm>
            <a:prstGeom prst="rect">
              <a:avLst/>
            </a:prstGeom>
            <a:solidFill>
              <a:srgbClr val="7C3AED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543617917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AD14B0E-30DD-2AFB-9D4F-C7B429AD3261}"/>
              </a:ext>
            </a:extLst>
          </p:cNvPr>
          <p:cNvSpPr txBox="1"/>
          <p:nvPr/>
        </p:nvSpPr>
        <p:spPr>
          <a:xfrm>
            <a:off x="731520" y="330200"/>
            <a:ext cx="1072896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400" b="1">
                <a:solidFill>
                  <a:srgbClr val="7C3AED"/>
                </a:solidFill>
                <a:latin typeface="Montserrat" panose="00000500000000000000" pitchFamily="2" charset="0"/>
              </a:rPr>
              <a:t>🏢 06. FLOOR PLAN: WALLS &amp; CORNERS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63F305-A2C9-CF89-92F0-9B72C4084D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1103093"/>
            <a:ext cx="4318000" cy="4905814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3A9C9AD7-C439-6D45-C804-9D80ADCEDAA8}"/>
              </a:ext>
            </a:extLst>
          </p:cNvPr>
          <p:cNvGrpSpPr/>
          <p:nvPr/>
        </p:nvGrpSpPr>
        <p:grpSpPr>
          <a:xfrm>
            <a:off x="5461000" y="1397000"/>
            <a:ext cx="5969000" cy="928797"/>
            <a:chOff x="5461000" y="1397000"/>
            <a:chExt cx="5969000" cy="92879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BF64D9C-DC21-BAEB-0333-812516960292}"/>
                </a:ext>
              </a:extLst>
            </p:cNvPr>
            <p:cNvSpPr txBox="1"/>
            <p:nvPr/>
          </p:nvSpPr>
          <p:spPr>
            <a:xfrm>
              <a:off x="5664200" y="1397000"/>
              <a:ext cx="5765800" cy="877997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ALONG PERIMETER WALLS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Along the left-hand / right-hand wall of the facility.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Dọc theo bức tường bên trái / bên phải của tòa nhà.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A504E97-0C9A-715A-8AD8-5A34C232D953}"/>
                </a:ext>
              </a:extLst>
            </p:cNvPr>
            <p:cNvSpPr/>
            <p:nvPr/>
          </p:nvSpPr>
          <p:spPr>
            <a:xfrm>
              <a:off x="5461000" y="1397000"/>
              <a:ext cx="50800" cy="928797"/>
            </a:xfrm>
            <a:prstGeom prst="rect">
              <a:avLst/>
            </a:prstGeom>
            <a:solidFill>
              <a:srgbClr val="7C3AED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E784F80F-70EE-9EBF-DD33-AD0F1962F295}"/>
              </a:ext>
            </a:extLst>
          </p:cNvPr>
          <p:cNvGrpSpPr/>
          <p:nvPr/>
        </p:nvGrpSpPr>
        <p:grpSpPr>
          <a:xfrm>
            <a:off x="5461000" y="2579797"/>
            <a:ext cx="5969000" cy="928797"/>
            <a:chOff x="5461000" y="2579797"/>
            <a:chExt cx="5969000" cy="928797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6827BE6-6B81-01B0-7A42-DB4112A3CF9D}"/>
                </a:ext>
              </a:extLst>
            </p:cNvPr>
            <p:cNvSpPr txBox="1"/>
            <p:nvPr/>
          </p:nvSpPr>
          <p:spPr>
            <a:xfrm>
              <a:off x="5664200" y="2579797"/>
              <a:ext cx="5765800" cy="877997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CORNER &amp; REAR ZONES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In the top-left / top-right corner; at the back of the room.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Ở góc trên bên trái / phải; phía cuối căn phòng.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7C35E64-D106-864A-1C3E-9F58BE4A4529}"/>
                </a:ext>
              </a:extLst>
            </p:cNvPr>
            <p:cNvSpPr/>
            <p:nvPr/>
          </p:nvSpPr>
          <p:spPr>
            <a:xfrm>
              <a:off x="5461000" y="2579797"/>
              <a:ext cx="50800" cy="928797"/>
            </a:xfrm>
            <a:prstGeom prst="rect">
              <a:avLst/>
            </a:prstGeom>
            <a:solidFill>
              <a:srgbClr val="7C3AED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229368864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E01BB22-A964-559C-C7ED-6F331B4893F0}"/>
              </a:ext>
            </a:extLst>
          </p:cNvPr>
          <p:cNvSpPr txBox="1"/>
          <p:nvPr/>
        </p:nvSpPr>
        <p:spPr>
          <a:xfrm>
            <a:off x="731520" y="330200"/>
            <a:ext cx="1072896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400" b="1">
                <a:solidFill>
                  <a:srgbClr val="EA580C"/>
                </a:solidFill>
                <a:latin typeface="Montserrat" panose="00000500000000000000" pitchFamily="2" charset="0"/>
              </a:rPr>
              <a:t>🔄 07. VERB GROUP 1: CONSTRUCTION &amp; ADDITION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EEAEDCF-F62A-7127-2997-335FC3E1966D}"/>
              </a:ext>
            </a:extLst>
          </p:cNvPr>
          <p:cNvGrpSpPr/>
          <p:nvPr/>
        </p:nvGrpSpPr>
        <p:grpSpPr>
          <a:xfrm>
            <a:off x="731520" y="1270000"/>
            <a:ext cx="10728960" cy="1566792"/>
            <a:chOff x="731520" y="1270000"/>
            <a:chExt cx="10728960" cy="1566792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C124722-681C-4593-FBDB-2B092462BA19}"/>
                </a:ext>
              </a:extLst>
            </p:cNvPr>
            <p:cNvSpPr txBox="1"/>
            <p:nvPr/>
          </p:nvSpPr>
          <p:spPr>
            <a:xfrm>
              <a:off x="934720" y="1270000"/>
              <a:ext cx="10525760" cy="151599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PASSIVE VERBS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800"/>
                </a:spcAft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be constructed / erected / built / established / added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được xây dựng / dựng lên / thiết lập / thêm vào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A lecture room was erected in the top-right corner.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Một phòng thuyết trình được dựng lên ở góc trên bên phải.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44C7B663-DAB8-8959-0005-4115B40A719B}"/>
                </a:ext>
              </a:extLst>
            </p:cNvPr>
            <p:cNvSpPr/>
            <p:nvPr/>
          </p:nvSpPr>
          <p:spPr>
            <a:xfrm>
              <a:off x="731520" y="1270000"/>
              <a:ext cx="50800" cy="1566792"/>
            </a:xfrm>
            <a:prstGeom prst="rect">
              <a:avLst/>
            </a:prstGeom>
            <a:solidFill>
              <a:srgbClr val="EA580C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813B2917-545F-5375-0208-C9910C5995BA}"/>
              </a:ext>
            </a:extLst>
          </p:cNvPr>
          <p:cNvGrpSpPr/>
          <p:nvPr/>
        </p:nvGrpSpPr>
        <p:grpSpPr>
          <a:xfrm>
            <a:off x="731520" y="3154292"/>
            <a:ext cx="10728960" cy="928797"/>
            <a:chOff x="731520" y="3154292"/>
            <a:chExt cx="10728960" cy="92879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C4FB822-22CC-35E9-5CAE-E921F50BF7B6}"/>
                </a:ext>
              </a:extLst>
            </p:cNvPr>
            <p:cNvSpPr txBox="1"/>
            <p:nvPr/>
          </p:nvSpPr>
          <p:spPr>
            <a:xfrm>
              <a:off x="934720" y="3154292"/>
              <a:ext cx="10525760" cy="877997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NOMINALIZATION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the construction / erection / addition of a facility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sự xây dựng / dựng lên / thêm vào của một công trình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505C43C-D35B-9D42-0D1D-103475AFF805}"/>
                </a:ext>
              </a:extLst>
            </p:cNvPr>
            <p:cNvSpPr/>
            <p:nvPr/>
          </p:nvSpPr>
          <p:spPr>
            <a:xfrm>
              <a:off x="731520" y="3154292"/>
              <a:ext cx="50800" cy="928797"/>
            </a:xfrm>
            <a:prstGeom prst="rect">
              <a:avLst/>
            </a:prstGeom>
            <a:solidFill>
              <a:srgbClr val="EA580C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54716540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E0AE440-0E44-47B4-FF96-86635B68A2F0}"/>
              </a:ext>
            </a:extLst>
          </p:cNvPr>
          <p:cNvSpPr txBox="1"/>
          <p:nvPr/>
        </p:nvSpPr>
        <p:spPr>
          <a:xfrm>
            <a:off x="731520" y="330200"/>
            <a:ext cx="1072896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400" b="1">
                <a:solidFill>
                  <a:srgbClr val="EA580C"/>
                </a:solidFill>
                <a:latin typeface="Montserrat" panose="00000500000000000000" pitchFamily="2" charset="0"/>
              </a:rPr>
              <a:t>🔄 07. VERB GROUP 2: DEMOLITION &amp; REMOVAL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545E8D0-C6DC-8F2F-B573-30E403B1B9FD}"/>
              </a:ext>
            </a:extLst>
          </p:cNvPr>
          <p:cNvGrpSpPr/>
          <p:nvPr/>
        </p:nvGrpSpPr>
        <p:grpSpPr>
          <a:xfrm>
            <a:off x="731520" y="1270000"/>
            <a:ext cx="10728960" cy="1566792"/>
            <a:chOff x="731520" y="1270000"/>
            <a:chExt cx="10728960" cy="1566792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65EA8904-7E66-0597-B986-CF630EA2266F}"/>
                </a:ext>
              </a:extLst>
            </p:cNvPr>
            <p:cNvSpPr txBox="1"/>
            <p:nvPr/>
          </p:nvSpPr>
          <p:spPr>
            <a:xfrm>
              <a:off x="934720" y="1270000"/>
              <a:ext cx="10525760" cy="151599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CATEGORY-SPECIFIC VERBS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800"/>
                </a:spcAft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be demolished / knocked down (buildings &amp; structures)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bị phá dỡ / san phẳng (công trình xây dựng)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be cleared / cut down (trees &amp; farmland); be removed (furniture)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bị giải tỏa / đốn hạ (cây cối, đất đai); bị dời đi (bàn ghế, đồ đạc)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3925EB0-5E8E-206F-982C-0E6459155797}"/>
                </a:ext>
              </a:extLst>
            </p:cNvPr>
            <p:cNvSpPr/>
            <p:nvPr/>
          </p:nvSpPr>
          <p:spPr>
            <a:xfrm>
              <a:off x="731520" y="1270000"/>
              <a:ext cx="50800" cy="1566792"/>
            </a:xfrm>
            <a:prstGeom prst="rect">
              <a:avLst/>
            </a:prstGeom>
            <a:solidFill>
              <a:srgbClr val="EA580C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3C7B7566-7E2B-CDC0-3E85-1D0B7D45951D}"/>
              </a:ext>
            </a:extLst>
          </p:cNvPr>
          <p:cNvGrpSpPr/>
          <p:nvPr/>
        </p:nvGrpSpPr>
        <p:grpSpPr>
          <a:xfrm>
            <a:off x="731520" y="3154292"/>
            <a:ext cx="10728960" cy="928797"/>
            <a:chOff x="731520" y="3154292"/>
            <a:chExt cx="10728960" cy="92879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623F187-10B4-AF3F-3E8A-68AD04F5BFC9}"/>
                </a:ext>
              </a:extLst>
            </p:cNvPr>
            <p:cNvSpPr txBox="1"/>
            <p:nvPr/>
          </p:nvSpPr>
          <p:spPr>
            <a:xfrm>
              <a:off x="934720" y="3154292"/>
              <a:ext cx="10525760" cy="877997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NOMINALIZATION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the demolition of old shops / the clearance of farmland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sự phá dỡ các cửa hàng cũ / sự giải tỏa đất nông nghiệp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96C3C7B-BBB7-8855-CC86-97A201998984}"/>
                </a:ext>
              </a:extLst>
            </p:cNvPr>
            <p:cNvSpPr/>
            <p:nvPr/>
          </p:nvSpPr>
          <p:spPr>
            <a:xfrm>
              <a:off x="731520" y="3154292"/>
              <a:ext cx="50800" cy="928797"/>
            </a:xfrm>
            <a:prstGeom prst="rect">
              <a:avLst/>
            </a:prstGeom>
            <a:solidFill>
              <a:srgbClr val="EA580C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1045075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880EF59-3033-5F91-626D-C78797AD03FD}"/>
              </a:ext>
            </a:extLst>
          </p:cNvPr>
          <p:cNvSpPr txBox="1"/>
          <p:nvPr/>
        </p:nvSpPr>
        <p:spPr>
          <a:xfrm>
            <a:off x="731520" y="330200"/>
            <a:ext cx="1072896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400" b="1">
                <a:solidFill>
                  <a:srgbClr val="EA580C"/>
                </a:solidFill>
                <a:latin typeface="Montserrat" panose="00000500000000000000" pitchFamily="2" charset="0"/>
              </a:rPr>
              <a:t>🔄 07. VERB GROUP 3: REPLACEMENT &amp; CONVERSION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30BD3B0-EAE4-B50E-A486-DFB0142FD44E}"/>
              </a:ext>
            </a:extLst>
          </p:cNvPr>
          <p:cNvGrpSpPr/>
          <p:nvPr/>
        </p:nvGrpSpPr>
        <p:grpSpPr>
          <a:xfrm>
            <a:off x="731520" y="1270000"/>
            <a:ext cx="10728960" cy="1566792"/>
            <a:chOff x="731520" y="1270000"/>
            <a:chExt cx="10728960" cy="1566792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D792A84-D354-DA36-1C45-9DA65E10DE52}"/>
                </a:ext>
              </a:extLst>
            </p:cNvPr>
            <p:cNvSpPr txBox="1"/>
            <p:nvPr/>
          </p:nvSpPr>
          <p:spPr>
            <a:xfrm>
              <a:off x="934720" y="1270000"/>
              <a:ext cx="10525760" cy="151599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CORE TRANSFORMATION STRUCTURES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800"/>
                </a:spcAft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be converted into / be transformed into (functional change)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được chuyển đổi thành (thay đổi công năng)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be replaced by / gave way to / made way for (substitution)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bị thay thế bởi / nhường chỗ cho (thay thế công trình)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4CEA487-F272-FC78-1CB3-A6195DD1B7CF}"/>
                </a:ext>
              </a:extLst>
            </p:cNvPr>
            <p:cNvSpPr/>
            <p:nvPr/>
          </p:nvSpPr>
          <p:spPr>
            <a:xfrm>
              <a:off x="731520" y="1270000"/>
              <a:ext cx="50800" cy="1566792"/>
            </a:xfrm>
            <a:prstGeom prst="rect">
              <a:avLst/>
            </a:prstGeom>
            <a:solidFill>
              <a:srgbClr val="EA580C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6787F7C9-8960-A794-551F-8647F9E3E30C}"/>
              </a:ext>
            </a:extLst>
          </p:cNvPr>
          <p:cNvGrpSpPr/>
          <p:nvPr/>
        </p:nvGrpSpPr>
        <p:grpSpPr>
          <a:xfrm>
            <a:off x="731520" y="3154292"/>
            <a:ext cx="10728960" cy="928797"/>
            <a:chOff x="731520" y="3154292"/>
            <a:chExt cx="10728960" cy="92879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835DEF4-04A5-D0C3-87A4-A8E5D64DF0A7}"/>
                </a:ext>
              </a:extLst>
            </p:cNvPr>
            <p:cNvSpPr txBox="1"/>
            <p:nvPr/>
          </p:nvSpPr>
          <p:spPr>
            <a:xfrm>
              <a:off x="934720" y="3154292"/>
              <a:ext cx="10525760" cy="877997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MODEL APPLICATIONS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The large house was converted into a retirement home.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Ngôi nhà lớn được chuyển đổi thành nhà dưỡng lão.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84C3EE2-951F-6B32-1F02-A3B88F8345A9}"/>
                </a:ext>
              </a:extLst>
            </p:cNvPr>
            <p:cNvSpPr/>
            <p:nvPr/>
          </p:nvSpPr>
          <p:spPr>
            <a:xfrm>
              <a:off x="731520" y="3154292"/>
              <a:ext cx="50800" cy="928797"/>
            </a:xfrm>
            <a:prstGeom prst="rect">
              <a:avLst/>
            </a:prstGeom>
            <a:solidFill>
              <a:srgbClr val="EA580C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317738772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ABEB136-4338-9A74-5739-8319FA2E354E}"/>
              </a:ext>
            </a:extLst>
          </p:cNvPr>
          <p:cNvSpPr txBox="1"/>
          <p:nvPr/>
        </p:nvSpPr>
        <p:spPr>
          <a:xfrm>
            <a:off x="731520" y="330200"/>
            <a:ext cx="1072896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400" b="1">
                <a:solidFill>
                  <a:srgbClr val="EA580C"/>
                </a:solidFill>
                <a:latin typeface="Montserrat" panose="00000500000000000000" pitchFamily="2" charset="0"/>
              </a:rPr>
              <a:t>🔄 07. VERB GROUPS 4 &amp; 5: RESIZING &amp; UNCHANGED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FBAD500-7C5F-01B2-B475-A14AC2AB64F8}"/>
              </a:ext>
            </a:extLst>
          </p:cNvPr>
          <p:cNvGrpSpPr/>
          <p:nvPr/>
        </p:nvGrpSpPr>
        <p:grpSpPr>
          <a:xfrm>
            <a:off x="731520" y="1270000"/>
            <a:ext cx="10728960" cy="928797"/>
            <a:chOff x="731520" y="1270000"/>
            <a:chExt cx="10728960" cy="928797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C278C06E-60C0-DE81-384E-C3B2C1591AFE}"/>
                </a:ext>
              </a:extLst>
            </p:cNvPr>
            <p:cNvSpPr txBox="1"/>
            <p:nvPr/>
          </p:nvSpPr>
          <p:spPr>
            <a:xfrm>
              <a:off x="934720" y="1270000"/>
              <a:ext cx="10525760" cy="877997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GROUP 4: EXPANSION &amp; REDUCTION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be expanded / extended / enlarged / reduced in size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được mở rộng / cơi nới / thu hẹp diện tích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9A2654B3-EDB2-FC38-966B-DC55CAD9A381}"/>
                </a:ext>
              </a:extLst>
            </p:cNvPr>
            <p:cNvSpPr/>
            <p:nvPr/>
          </p:nvSpPr>
          <p:spPr>
            <a:xfrm>
              <a:off x="731520" y="1270000"/>
              <a:ext cx="50800" cy="928797"/>
            </a:xfrm>
            <a:prstGeom prst="rect">
              <a:avLst/>
            </a:prstGeom>
            <a:solidFill>
              <a:srgbClr val="EA580C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10834D37-0297-6CC6-012F-1A41B1486E48}"/>
              </a:ext>
            </a:extLst>
          </p:cNvPr>
          <p:cNvGrpSpPr/>
          <p:nvPr/>
        </p:nvGrpSpPr>
        <p:grpSpPr>
          <a:xfrm>
            <a:off x="731520" y="2516297"/>
            <a:ext cx="10728960" cy="928797"/>
            <a:chOff x="731520" y="2516297"/>
            <a:chExt cx="10728960" cy="92879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4DF9A23-ABC7-7879-2C98-C3EB486853F4}"/>
                </a:ext>
              </a:extLst>
            </p:cNvPr>
            <p:cNvSpPr txBox="1"/>
            <p:nvPr/>
          </p:nvSpPr>
          <p:spPr>
            <a:xfrm>
              <a:off x="934720" y="2516297"/>
              <a:ext cx="10525760" cy="877997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GROUP 5: REMAINING UNCHANGED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remained unchanged / stayed intact / stood unmodified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giữ nguyên không đổi / nguyên vẹn suốt giai đoạn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20CB2E7-48D5-200C-E66A-DE9DA7FEE553}"/>
                </a:ext>
              </a:extLst>
            </p:cNvPr>
            <p:cNvSpPr/>
            <p:nvPr/>
          </p:nvSpPr>
          <p:spPr>
            <a:xfrm>
              <a:off x="731520" y="2516297"/>
              <a:ext cx="50800" cy="928797"/>
            </a:xfrm>
            <a:prstGeom prst="rect">
              <a:avLst/>
            </a:prstGeom>
            <a:solidFill>
              <a:srgbClr val="EA580C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30389366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AEB2030-1297-C1CB-1375-A3AF61BB81B8}"/>
              </a:ext>
            </a:extLst>
          </p:cNvPr>
          <p:cNvSpPr txBox="1"/>
          <p:nvPr/>
        </p:nvSpPr>
        <p:spPr>
          <a:xfrm>
            <a:off x="731520" y="330200"/>
            <a:ext cx="1072896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400" b="1">
                <a:solidFill>
                  <a:srgbClr val="DB2777"/>
                </a:solidFill>
                <a:latin typeface="Montserrat" panose="00000500000000000000" pitchFamily="2" charset="0"/>
              </a:rPr>
              <a:t>💡 08. ADVANCED GRAMMAR #1: PARTICIPLE CLAUSES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07EB5C9-D807-2AC6-C6C0-DC57C5DFC881}"/>
              </a:ext>
            </a:extLst>
          </p:cNvPr>
          <p:cNvGrpSpPr/>
          <p:nvPr/>
        </p:nvGrpSpPr>
        <p:grpSpPr>
          <a:xfrm>
            <a:off x="731520" y="1270000"/>
            <a:ext cx="10728960" cy="928797"/>
            <a:chOff x="731520" y="1270000"/>
            <a:chExt cx="10728960" cy="928797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DFE6EFA4-A644-C79F-19D2-F2D9853D98E5}"/>
                </a:ext>
              </a:extLst>
            </p:cNvPr>
            <p:cNvSpPr txBox="1"/>
            <p:nvPr/>
          </p:nvSpPr>
          <p:spPr>
            <a:xfrm>
              <a:off x="934720" y="1270000"/>
              <a:ext cx="10525760" cy="877997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PARTICIPLE CLAUSE MECHANISM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Located / Situated + [Location], [Main Subject] was + [Past Participle].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Đặt cụm phân từ chỉ vị trí lên đầu câu tạo nhịp điệu phong phú.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CE39FED-6387-04DC-3F7C-274A641E4B76}"/>
                </a:ext>
              </a:extLst>
            </p:cNvPr>
            <p:cNvSpPr/>
            <p:nvPr/>
          </p:nvSpPr>
          <p:spPr>
            <a:xfrm>
              <a:off x="731520" y="1270000"/>
              <a:ext cx="50800" cy="928797"/>
            </a:xfrm>
            <a:prstGeom prst="rect">
              <a:avLst/>
            </a:prstGeom>
            <a:solidFill>
              <a:srgbClr val="DB2777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35FC88E8-6BE2-7E75-FAD4-DEA166657D09}"/>
              </a:ext>
            </a:extLst>
          </p:cNvPr>
          <p:cNvGrpSpPr/>
          <p:nvPr/>
        </p:nvGrpSpPr>
        <p:grpSpPr>
          <a:xfrm>
            <a:off x="731520" y="2516297"/>
            <a:ext cx="10728960" cy="928797"/>
            <a:chOff x="731520" y="2516297"/>
            <a:chExt cx="10728960" cy="92879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0DCB805-C5E5-E097-A8D1-E7918C8523B3}"/>
                </a:ext>
              </a:extLst>
            </p:cNvPr>
            <p:cNvSpPr txBox="1"/>
            <p:nvPr/>
          </p:nvSpPr>
          <p:spPr>
            <a:xfrm>
              <a:off x="934720" y="2516297"/>
              <a:ext cx="10525760" cy="877997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MODEL SENTENCE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Located to the east of the primary road, the local school was significantly extended.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Nằm ở phía đông trục đường chính, ngôi trường địa phương đã được mở rộng đáng kể.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F5DD24C-D4E1-CE9A-169B-1F4D7D0E3EC5}"/>
                </a:ext>
              </a:extLst>
            </p:cNvPr>
            <p:cNvSpPr/>
            <p:nvPr/>
          </p:nvSpPr>
          <p:spPr>
            <a:xfrm>
              <a:off x="731520" y="2516297"/>
              <a:ext cx="50800" cy="928797"/>
            </a:xfrm>
            <a:prstGeom prst="rect">
              <a:avLst/>
            </a:prstGeom>
            <a:solidFill>
              <a:srgbClr val="DB2777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96783218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8C9D308-6272-2117-AFB6-0C7D4DEBD38E}"/>
              </a:ext>
            </a:extLst>
          </p:cNvPr>
          <p:cNvSpPr txBox="1"/>
          <p:nvPr/>
        </p:nvSpPr>
        <p:spPr>
          <a:xfrm>
            <a:off x="731520" y="330200"/>
            <a:ext cx="1072896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400" b="1">
                <a:solidFill>
                  <a:srgbClr val="DB2777"/>
                </a:solidFill>
                <a:latin typeface="Montserrat" panose="00000500000000000000" pitchFamily="2" charset="0"/>
              </a:rPr>
              <a:t>💡 08. ADVANCED GRAMMAR #2: SPATIAL INVERSION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86D6D11-FEDC-6DAA-F4B5-F058E2072101}"/>
              </a:ext>
            </a:extLst>
          </p:cNvPr>
          <p:cNvGrpSpPr/>
          <p:nvPr/>
        </p:nvGrpSpPr>
        <p:grpSpPr>
          <a:xfrm>
            <a:off x="731520" y="1270000"/>
            <a:ext cx="10728960" cy="928797"/>
            <a:chOff x="731520" y="1270000"/>
            <a:chExt cx="10728960" cy="928797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EB65710E-F163-4C32-CB2B-88E761012B3C}"/>
                </a:ext>
              </a:extLst>
            </p:cNvPr>
            <p:cNvSpPr txBox="1"/>
            <p:nvPr/>
          </p:nvSpPr>
          <p:spPr>
            <a:xfrm>
              <a:off x="934720" y="1270000"/>
              <a:ext cx="10525760" cy="877997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PREPOSITIONAL INVERSION RULES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[Prepositional Phrase of Place] + stands / lies / sat + [Subject].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Đảo cụm giới từ chỉ vị trí lên đầu câu (không dùng trợ động từ).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91274055-D7F2-FDE9-DB77-111D0068E5C6}"/>
                </a:ext>
              </a:extLst>
            </p:cNvPr>
            <p:cNvSpPr/>
            <p:nvPr/>
          </p:nvSpPr>
          <p:spPr>
            <a:xfrm>
              <a:off x="731520" y="1270000"/>
              <a:ext cx="50800" cy="928797"/>
            </a:xfrm>
            <a:prstGeom prst="rect">
              <a:avLst/>
            </a:prstGeom>
            <a:solidFill>
              <a:srgbClr val="DB2777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E34270A-034B-DD1C-CD50-158CCEC0AFA0}"/>
              </a:ext>
            </a:extLst>
          </p:cNvPr>
          <p:cNvGrpSpPr/>
          <p:nvPr/>
        </p:nvGrpSpPr>
        <p:grpSpPr>
          <a:xfrm>
            <a:off x="731520" y="2516297"/>
            <a:ext cx="10728960" cy="928797"/>
            <a:chOff x="731520" y="2516297"/>
            <a:chExt cx="10728960" cy="92879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B49046D-3052-13EB-482A-B0366A345B6A}"/>
                </a:ext>
              </a:extLst>
            </p:cNvPr>
            <p:cNvSpPr txBox="1"/>
            <p:nvPr/>
          </p:nvSpPr>
          <p:spPr>
            <a:xfrm>
              <a:off x="934720" y="2516297"/>
              <a:ext cx="10525760" cy="877997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MODEL SENTENCE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In the top-right corner of the library now stands a newly constructed lecture room.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Ở góc trên bên phải thư viện giờ đây hiện diện một phòng thuyết trình mới xây.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98030E4-247C-CF9E-27EF-E18835A7749D}"/>
                </a:ext>
              </a:extLst>
            </p:cNvPr>
            <p:cNvSpPr/>
            <p:nvPr/>
          </p:nvSpPr>
          <p:spPr>
            <a:xfrm>
              <a:off x="731520" y="2516297"/>
              <a:ext cx="50800" cy="928797"/>
            </a:xfrm>
            <a:prstGeom prst="rect">
              <a:avLst/>
            </a:prstGeom>
            <a:solidFill>
              <a:srgbClr val="DB2777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053536925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FD7F0DF-3187-A70C-B81F-32876CF1A85C}"/>
              </a:ext>
            </a:extLst>
          </p:cNvPr>
          <p:cNvSpPr txBox="1"/>
          <p:nvPr/>
        </p:nvSpPr>
        <p:spPr>
          <a:xfrm>
            <a:off x="731520" y="330200"/>
            <a:ext cx="1072896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400" b="1">
                <a:solidFill>
                  <a:srgbClr val="DB2777"/>
                </a:solidFill>
                <a:latin typeface="Montserrat" panose="00000500000000000000" pitchFamily="2" charset="0"/>
              </a:rPr>
              <a:t>💡 08. ADVANCED GRAMMAR #3: AT THE EXPENSE OF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3733BB2-96D7-3153-5683-485FB43E7800}"/>
              </a:ext>
            </a:extLst>
          </p:cNvPr>
          <p:cNvGrpSpPr/>
          <p:nvPr/>
        </p:nvGrpSpPr>
        <p:grpSpPr>
          <a:xfrm>
            <a:off x="731520" y="1270000"/>
            <a:ext cx="10728960" cy="928797"/>
            <a:chOff x="731520" y="1270000"/>
            <a:chExt cx="10728960" cy="928797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0E67F44-1242-721A-E29E-7A8246A98F15}"/>
                </a:ext>
              </a:extLst>
            </p:cNvPr>
            <p:cNvSpPr txBox="1"/>
            <p:nvPr/>
          </p:nvSpPr>
          <p:spPr>
            <a:xfrm>
              <a:off x="934720" y="1270000"/>
              <a:ext cx="10525760" cy="877997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TRADE-OFF RELATIONSHIPS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Expresses that the expansion of one feature came at the sacrifice of another.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Diễn tả sự phát triển của công trình này đánh đổi bằng sự thu hẹp của công trình khác.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E4A0F4C-D8C9-ED40-983A-18E217F475D6}"/>
                </a:ext>
              </a:extLst>
            </p:cNvPr>
            <p:cNvSpPr/>
            <p:nvPr/>
          </p:nvSpPr>
          <p:spPr>
            <a:xfrm>
              <a:off x="731520" y="1270000"/>
              <a:ext cx="50800" cy="928797"/>
            </a:xfrm>
            <a:prstGeom prst="rect">
              <a:avLst/>
            </a:prstGeom>
            <a:solidFill>
              <a:srgbClr val="DB2777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366E76E-D132-144D-9302-CC04B6B7D590}"/>
              </a:ext>
            </a:extLst>
          </p:cNvPr>
          <p:cNvGrpSpPr/>
          <p:nvPr/>
        </p:nvGrpSpPr>
        <p:grpSpPr>
          <a:xfrm>
            <a:off x="731520" y="2516297"/>
            <a:ext cx="10728960" cy="928797"/>
            <a:chOff x="731520" y="2516297"/>
            <a:chExt cx="10728960" cy="92879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F2B93DD-1ECE-D624-535E-60B3BBE3F778}"/>
                </a:ext>
              </a:extLst>
            </p:cNvPr>
            <p:cNvSpPr txBox="1"/>
            <p:nvPr/>
          </p:nvSpPr>
          <p:spPr>
            <a:xfrm>
              <a:off x="934720" y="2516297"/>
              <a:ext cx="10525760" cy="877997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MODEL SENTENCE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The retirement home was expanded at the expense of the surrounding gardens.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Nhà dưỡng lão được mở rộng trên phần đất vốn là khu vườn bao quanh.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8743699-5727-DD08-9F6D-926B0C03E3BF}"/>
                </a:ext>
              </a:extLst>
            </p:cNvPr>
            <p:cNvSpPr/>
            <p:nvPr/>
          </p:nvSpPr>
          <p:spPr>
            <a:xfrm>
              <a:off x="731520" y="2516297"/>
              <a:ext cx="50800" cy="928797"/>
            </a:xfrm>
            <a:prstGeom prst="rect">
              <a:avLst/>
            </a:prstGeom>
            <a:solidFill>
              <a:srgbClr val="DB2777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57582352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6EA0F3-A1FB-399D-D8D3-14C7835C3E22}"/>
              </a:ext>
            </a:extLst>
          </p:cNvPr>
          <p:cNvSpPr txBox="1"/>
          <p:nvPr/>
        </p:nvSpPr>
        <p:spPr>
          <a:xfrm>
            <a:off x="731520" y="330200"/>
            <a:ext cx="1072896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400" b="1">
                <a:solidFill>
                  <a:srgbClr val="DB2777"/>
                </a:solidFill>
                <a:latin typeface="Montserrat" panose="00000500000000000000" pitchFamily="2" charset="0"/>
              </a:rPr>
              <a:t>💡 08. ADVANCED GRAMMAR #4: NOMINALIZATION WITNESSED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BE3CFCF-80E4-11A5-FA8F-9471CDC4B3B6}"/>
              </a:ext>
            </a:extLst>
          </p:cNvPr>
          <p:cNvGrpSpPr/>
          <p:nvPr/>
        </p:nvGrpSpPr>
        <p:grpSpPr>
          <a:xfrm>
            <a:off x="731520" y="1270000"/>
            <a:ext cx="10728960" cy="928797"/>
            <a:chOff x="731520" y="1270000"/>
            <a:chExt cx="10728960" cy="928797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195732D-D1A5-A675-641F-51F0BB7A177D}"/>
                </a:ext>
              </a:extLst>
            </p:cNvPr>
            <p:cNvSpPr txBox="1"/>
            <p:nvPr/>
          </p:nvSpPr>
          <p:spPr>
            <a:xfrm>
              <a:off x="934720" y="1270000"/>
              <a:ext cx="10525760" cy="877997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PERSONIFIED LOCATION SUBJECT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[Place / Time] + witnessed / saw + the [Noun Phrase of Change].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Lấy địa điểm hoặc thời gian làm chủ ngữ cho động từ witnessed / saw.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F944A0A-D279-33A9-4F3B-3E63C67E7988}"/>
                </a:ext>
              </a:extLst>
            </p:cNvPr>
            <p:cNvSpPr/>
            <p:nvPr/>
          </p:nvSpPr>
          <p:spPr>
            <a:xfrm>
              <a:off x="731520" y="1270000"/>
              <a:ext cx="50800" cy="928797"/>
            </a:xfrm>
            <a:prstGeom prst="rect">
              <a:avLst/>
            </a:prstGeom>
            <a:solidFill>
              <a:srgbClr val="DB2777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66F1CD14-7001-B6A2-8A40-8BE376EAD557}"/>
              </a:ext>
            </a:extLst>
          </p:cNvPr>
          <p:cNvGrpSpPr/>
          <p:nvPr/>
        </p:nvGrpSpPr>
        <p:grpSpPr>
          <a:xfrm>
            <a:off x="731520" y="2516297"/>
            <a:ext cx="10728960" cy="928797"/>
            <a:chOff x="731520" y="2516297"/>
            <a:chExt cx="10728960" cy="92879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8CDBEED-16A7-5693-2001-4F69BCE877C0}"/>
                </a:ext>
              </a:extLst>
            </p:cNvPr>
            <p:cNvSpPr txBox="1"/>
            <p:nvPr/>
          </p:nvSpPr>
          <p:spPr>
            <a:xfrm>
              <a:off x="934720" y="2516297"/>
              <a:ext cx="10525760" cy="877997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MODEL SENTENCE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The bottom-right corner witnessed the conversion of the enquiry desk into a café.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Góc dưới bên phải đã chứng kiến sự chuyển đổi của bàn thông tin thành một quán café.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FCAFC7B-FEF9-CB78-62ED-CF2889FBC538}"/>
                </a:ext>
              </a:extLst>
            </p:cNvPr>
            <p:cNvSpPr/>
            <p:nvPr/>
          </p:nvSpPr>
          <p:spPr>
            <a:xfrm>
              <a:off x="731520" y="2516297"/>
              <a:ext cx="50800" cy="928797"/>
            </a:xfrm>
            <a:prstGeom prst="rect">
              <a:avLst/>
            </a:prstGeom>
            <a:solidFill>
              <a:srgbClr val="DB2777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403089710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5DDBBE-CBEF-5AFD-8349-96C75B421AE3}"/>
              </a:ext>
            </a:extLst>
          </p:cNvPr>
          <p:cNvSpPr txBox="1"/>
          <p:nvPr/>
        </p:nvSpPr>
        <p:spPr>
          <a:xfrm>
            <a:off x="731520" y="330200"/>
            <a:ext cx="1072896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400" b="1">
                <a:solidFill>
                  <a:srgbClr val="DC2626"/>
                </a:solidFill>
                <a:latin typeface="Montserrat" panose="00000500000000000000" pitchFamily="2" charset="0"/>
              </a:rPr>
              <a:t>🏡 09. REAL EXAM #1: STOKEFORD – INTRODUCTION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A9CE92-FA76-5823-F6D9-7EFB197A07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2426071"/>
            <a:ext cx="4318000" cy="2259859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EC7F5DA6-ABAB-29E8-A865-2966BAE34DE5}"/>
              </a:ext>
            </a:extLst>
          </p:cNvPr>
          <p:cNvGrpSpPr/>
          <p:nvPr/>
        </p:nvGrpSpPr>
        <p:grpSpPr>
          <a:xfrm>
            <a:off x="5461000" y="1651000"/>
            <a:ext cx="5969000" cy="2355470"/>
            <a:chOff x="5461000" y="1651000"/>
            <a:chExt cx="5969000" cy="235547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FA088EC-754A-A34B-FBD4-D84A3572DECE}"/>
                </a:ext>
              </a:extLst>
            </p:cNvPr>
            <p:cNvSpPr txBox="1"/>
            <p:nvPr/>
          </p:nvSpPr>
          <p:spPr>
            <a:xfrm>
              <a:off x="5664200" y="1651000"/>
              <a:ext cx="5765800" cy="2304670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1-SENTENCE INTRODUCTION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800"/>
                </a:spcAft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The two maps illustrate how Stokeford developed over an 80-year period from 1930 to 2010.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Hai bản đồ minh họa cách làng Stokeford phát triển trong 80 năm từ 1930 đến 2010.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A concise, accurate paraphrase avoiding repetitive prompt vocabulary.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Paraphrase ngắn gọn, chuẩn xác, tránh lặp lại từ ngữ của đề bài.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0BC02C4-1D04-C766-5AD3-36765864184B}"/>
                </a:ext>
              </a:extLst>
            </p:cNvPr>
            <p:cNvSpPr/>
            <p:nvPr/>
          </p:nvSpPr>
          <p:spPr>
            <a:xfrm>
              <a:off x="5461000" y="1651000"/>
              <a:ext cx="50800" cy="2355470"/>
            </a:xfrm>
            <a:prstGeom prst="rect">
              <a:avLst/>
            </a:prstGeom>
            <a:solidFill>
              <a:srgbClr val="DC2626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914274904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20777E-DF7F-BF50-6166-A72CFD2F6B1F}"/>
              </a:ext>
            </a:extLst>
          </p:cNvPr>
          <p:cNvSpPr txBox="1"/>
          <p:nvPr/>
        </p:nvSpPr>
        <p:spPr>
          <a:xfrm>
            <a:off x="731520" y="330200"/>
            <a:ext cx="1072896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400" b="1">
                <a:solidFill>
                  <a:srgbClr val="DC2626"/>
                </a:solidFill>
                <a:latin typeface="Montserrat" panose="00000500000000000000" pitchFamily="2" charset="0"/>
              </a:rPr>
              <a:t>🏡 09. REAL EXAM #1: STOKEFORD – OVERVIEW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F7BD37-E494-C8A6-E064-9A2153DD27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2426071"/>
            <a:ext cx="4318000" cy="2259859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7C59C5C6-3C60-81A6-83A4-EDED03F1D939}"/>
              </a:ext>
            </a:extLst>
          </p:cNvPr>
          <p:cNvGrpSpPr/>
          <p:nvPr/>
        </p:nvGrpSpPr>
        <p:grpSpPr>
          <a:xfrm>
            <a:off x="5461000" y="1651000"/>
            <a:ext cx="5969000" cy="2586302"/>
            <a:chOff x="5461000" y="1651000"/>
            <a:chExt cx="5969000" cy="258630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29558C3-16C2-45E1-BBAB-0F3810ABEF8E}"/>
                </a:ext>
              </a:extLst>
            </p:cNvPr>
            <p:cNvSpPr txBox="1"/>
            <p:nvPr/>
          </p:nvSpPr>
          <p:spPr>
            <a:xfrm>
              <a:off x="5664200" y="1651000"/>
              <a:ext cx="5765800" cy="253550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2-SENTENCE MACRO OVERVIEW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800"/>
                </a:spcAft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Overall, the village underwent a transformation from a rural into a residential area.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Tổng thể, ngôi làng trải qua sự chuyển dịch từ vùng nông thôn thành khu dân cư.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The most notable changes include the complete clearance of farmland for new housing.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Thay đổi đáng kể nhất bao gồm việc xóa sổ hoàn toàn đất nông nghiệp để xây nhà ở.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D9FB4C9-0EAE-67B0-BE90-30B033F1611B}"/>
                </a:ext>
              </a:extLst>
            </p:cNvPr>
            <p:cNvSpPr/>
            <p:nvPr/>
          </p:nvSpPr>
          <p:spPr>
            <a:xfrm>
              <a:off x="5461000" y="1651000"/>
              <a:ext cx="50800" cy="2586302"/>
            </a:xfrm>
            <a:prstGeom prst="rect">
              <a:avLst/>
            </a:prstGeom>
            <a:solidFill>
              <a:srgbClr val="DC2626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112400371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896F10-6DFB-A9A0-098F-05337C71EB5D}"/>
              </a:ext>
            </a:extLst>
          </p:cNvPr>
          <p:cNvSpPr txBox="1"/>
          <p:nvPr/>
        </p:nvSpPr>
        <p:spPr>
          <a:xfrm>
            <a:off x="731520" y="330200"/>
            <a:ext cx="1072896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400" b="1">
                <a:solidFill>
                  <a:srgbClr val="DC2626"/>
                </a:solidFill>
                <a:latin typeface="Montserrat" panose="00000500000000000000" pitchFamily="2" charset="0"/>
              </a:rPr>
              <a:t>🏡 09. REAL EXAM #1: STOKEFORD – BODY 1 (UNCHANGED)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32C0C7-E13A-A483-4E0B-8CE278FA6A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2426071"/>
            <a:ext cx="4318000" cy="2259859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34AA0284-F534-D9E4-2D6E-8BB48B20F690}"/>
              </a:ext>
            </a:extLst>
          </p:cNvPr>
          <p:cNvGrpSpPr/>
          <p:nvPr/>
        </p:nvGrpSpPr>
        <p:grpSpPr>
          <a:xfrm>
            <a:off x="5461000" y="1651000"/>
            <a:ext cx="5969000" cy="2124637"/>
            <a:chOff x="5461000" y="1651000"/>
            <a:chExt cx="5969000" cy="212463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43765DF-BB35-F222-1D94-406F6F18CD20}"/>
                </a:ext>
              </a:extLst>
            </p:cNvPr>
            <p:cNvSpPr txBox="1"/>
            <p:nvPr/>
          </p:nvSpPr>
          <p:spPr>
            <a:xfrm>
              <a:off x="5664200" y="1651000"/>
              <a:ext cx="5765800" cy="2073837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NORTHERN UNCHANGED FEATURES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800"/>
                </a:spcAft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River Stoke and the bridge in the north remained completely unchanged.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Dòng sông Stoke và cây cầu ở phía bắc hoàn toàn giữ nguyên không đổi.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The post office in the village center also stayed intact throughout the period.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Bưu điện ở trung tâm làng cũng giữ nguyên vẹn trong suốt giai đoạn.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452BAA7-0779-9A36-E684-173E6D73D5A5}"/>
                </a:ext>
              </a:extLst>
            </p:cNvPr>
            <p:cNvSpPr/>
            <p:nvPr/>
          </p:nvSpPr>
          <p:spPr>
            <a:xfrm>
              <a:off x="5461000" y="1651000"/>
              <a:ext cx="50800" cy="2124637"/>
            </a:xfrm>
            <a:prstGeom prst="rect">
              <a:avLst/>
            </a:prstGeom>
            <a:solidFill>
              <a:srgbClr val="DC2626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41141305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C32AF8-7714-BFBA-8ED6-CFF2EB401B79}"/>
              </a:ext>
            </a:extLst>
          </p:cNvPr>
          <p:cNvSpPr txBox="1"/>
          <p:nvPr/>
        </p:nvSpPr>
        <p:spPr>
          <a:xfrm>
            <a:off x="731520" y="330200"/>
            <a:ext cx="1072896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400" b="1">
                <a:solidFill>
                  <a:srgbClr val="DC2626"/>
                </a:solidFill>
                <a:latin typeface="Montserrat" panose="00000500000000000000" pitchFamily="2" charset="0"/>
              </a:rPr>
              <a:t>🏡 09. REAL EXAM #1: STOKEFORD – BODY 1 (CHANGED)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01FC5E-0358-17CC-F8E4-EE7EBB28AC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2426071"/>
            <a:ext cx="4318000" cy="2259859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AD6AD91-4113-6027-2788-9FB2F9EFC6FB}"/>
              </a:ext>
            </a:extLst>
          </p:cNvPr>
          <p:cNvGrpSpPr/>
          <p:nvPr/>
        </p:nvGrpSpPr>
        <p:grpSpPr>
          <a:xfrm>
            <a:off x="5461000" y="1651000"/>
            <a:ext cx="5969000" cy="2124637"/>
            <a:chOff x="5461000" y="1651000"/>
            <a:chExt cx="5969000" cy="212463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77CD889-8E54-DB54-AB2D-D1874187E5F9}"/>
                </a:ext>
              </a:extLst>
            </p:cNvPr>
            <p:cNvSpPr txBox="1"/>
            <p:nvPr/>
          </p:nvSpPr>
          <p:spPr>
            <a:xfrm>
              <a:off x="5664200" y="1651000"/>
              <a:ext cx="5765800" cy="2073837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NORTHERN DEVELOPMENTS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800"/>
                </a:spcAft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Farmland in the north-east was cleared to make way for new residential housing.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Đất nông nghiệp phía đông bắc bị giải tỏa để nhường chỗ cho nhà ở mới.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The shops adjacent to the post office were replaced by residential dwellings.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Dãy cửa hàng cạnh bưu điện bị thay thế bởi các căn nhà ở.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5F0202-A794-CABE-2CD8-BA6449D4D511}"/>
                </a:ext>
              </a:extLst>
            </p:cNvPr>
            <p:cNvSpPr/>
            <p:nvPr/>
          </p:nvSpPr>
          <p:spPr>
            <a:xfrm>
              <a:off x="5461000" y="1651000"/>
              <a:ext cx="50800" cy="2124637"/>
            </a:xfrm>
            <a:prstGeom prst="rect">
              <a:avLst/>
            </a:prstGeom>
            <a:solidFill>
              <a:srgbClr val="DC2626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40566834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B6FB6C2-407E-CA22-37AF-3F5BE12A9C0D}"/>
              </a:ext>
            </a:extLst>
          </p:cNvPr>
          <p:cNvSpPr txBox="1"/>
          <p:nvPr/>
        </p:nvSpPr>
        <p:spPr>
          <a:xfrm>
            <a:off x="731520" y="330200"/>
            <a:ext cx="1072896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400" b="1">
                <a:solidFill>
                  <a:srgbClr val="DC2626"/>
                </a:solidFill>
                <a:latin typeface="Montserrat" panose="00000500000000000000" pitchFamily="2" charset="0"/>
              </a:rPr>
              <a:t>🏡 09. REAL EXAM #1: STOKEFORD – BODY 2 (SOUTH)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4176EE7-DF21-E96E-7BE0-D796C6CAD8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2426071"/>
            <a:ext cx="4318000" cy="2259859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7BB2C172-A6DC-EC0F-FDD5-C2845F8F4200}"/>
              </a:ext>
            </a:extLst>
          </p:cNvPr>
          <p:cNvGrpSpPr/>
          <p:nvPr/>
        </p:nvGrpSpPr>
        <p:grpSpPr>
          <a:xfrm>
            <a:off x="5461000" y="1651000"/>
            <a:ext cx="5969000" cy="2355470"/>
            <a:chOff x="5461000" y="1651000"/>
            <a:chExt cx="5969000" cy="235547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4F60682-8347-C6A2-FD59-6CDF2CC18A07}"/>
                </a:ext>
              </a:extLst>
            </p:cNvPr>
            <p:cNvSpPr txBox="1"/>
            <p:nvPr/>
          </p:nvSpPr>
          <p:spPr>
            <a:xfrm>
              <a:off x="5664200" y="1651000"/>
              <a:ext cx="5765800" cy="2304670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SCHOOL &amp; RETIREMENT HOME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800"/>
                </a:spcAft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The primary school to the east of the road was significantly extended.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Trường tiểu học ở phía đông trục đường đã được mở rộng đáng kể.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The large house was converted into a retirement home at the expense of gardens.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Ngôi nhà lớn được chuyển đổi thành nhà dưỡng lão, thu hẹp diện tích khu vườn.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DD9EBC1-EE5E-151E-8CD6-4E59C1A6F0DE}"/>
                </a:ext>
              </a:extLst>
            </p:cNvPr>
            <p:cNvSpPr/>
            <p:nvPr/>
          </p:nvSpPr>
          <p:spPr>
            <a:xfrm>
              <a:off x="5461000" y="1651000"/>
              <a:ext cx="50800" cy="2355470"/>
            </a:xfrm>
            <a:prstGeom prst="rect">
              <a:avLst/>
            </a:prstGeom>
            <a:solidFill>
              <a:srgbClr val="DC2626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9430381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A2B7AE3-E51B-899B-B06F-21826AF44C10}"/>
              </a:ext>
            </a:extLst>
          </p:cNvPr>
          <p:cNvSpPr txBox="1"/>
          <p:nvPr/>
        </p:nvSpPr>
        <p:spPr>
          <a:xfrm>
            <a:off x="731520" y="330200"/>
            <a:ext cx="1072896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400" b="1">
                <a:solidFill>
                  <a:srgbClr val="DC2626"/>
                </a:solidFill>
                <a:latin typeface="Montserrat" panose="00000500000000000000" pitchFamily="2" charset="0"/>
              </a:rPr>
              <a:t>🏡 09. REAL EXAM #1: STOKEFORD – BODY 2 (SOUTH-WEST)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24AE43F-C622-8ABE-D0CA-84C98F4A82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2426071"/>
            <a:ext cx="4318000" cy="2259859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1F122C2-42A7-04EC-88CB-13F9631E4B75}"/>
              </a:ext>
            </a:extLst>
          </p:cNvPr>
          <p:cNvGrpSpPr/>
          <p:nvPr/>
        </p:nvGrpSpPr>
        <p:grpSpPr>
          <a:xfrm>
            <a:off x="5461000" y="1651000"/>
            <a:ext cx="5969000" cy="2586302"/>
            <a:chOff x="5461000" y="1651000"/>
            <a:chExt cx="5969000" cy="258630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655AE81-B7A7-79F5-ED96-29BAA3C6D267}"/>
                </a:ext>
              </a:extLst>
            </p:cNvPr>
            <p:cNvSpPr txBox="1"/>
            <p:nvPr/>
          </p:nvSpPr>
          <p:spPr>
            <a:xfrm>
              <a:off x="5664200" y="1651000"/>
              <a:ext cx="5765800" cy="253550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SOUTH-WESTERN RESIDENTIAL EXPANSION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800"/>
                </a:spcAft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Farmland in the south-west gave way to an extensive modern housing network.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Đất nông nghiệp ở phía tây nam nhường chỗ cho mạng lưới nhà ở hiện đại.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Additional side roads were constructed to connect the newly built houses.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Các con đường nhánh bổ sung được xây dựng để kết nối các ngôi nhà mới.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2BD337F-FBE2-BDC9-0666-C09C92AB8675}"/>
                </a:ext>
              </a:extLst>
            </p:cNvPr>
            <p:cNvSpPr/>
            <p:nvPr/>
          </p:nvSpPr>
          <p:spPr>
            <a:xfrm>
              <a:off x="5461000" y="1651000"/>
              <a:ext cx="50800" cy="2586302"/>
            </a:xfrm>
            <a:prstGeom prst="rect">
              <a:avLst/>
            </a:prstGeom>
            <a:solidFill>
              <a:srgbClr val="DC2626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96318616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4A6A3C0-8A30-5B5D-8DBC-920F0887952B}"/>
              </a:ext>
            </a:extLst>
          </p:cNvPr>
          <p:cNvSpPr txBox="1"/>
          <p:nvPr/>
        </p:nvSpPr>
        <p:spPr>
          <a:xfrm>
            <a:off x="731520" y="330200"/>
            <a:ext cx="1072896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400" b="1">
                <a:solidFill>
                  <a:srgbClr val="7C3AED"/>
                </a:solidFill>
                <a:latin typeface="Montserrat" panose="00000500000000000000" pitchFamily="2" charset="0"/>
              </a:rPr>
              <a:t>📚 10. REAL EXAM #2: LIBRARY – OVERVIEW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F40C19-E094-BCB6-17A0-EB1FD7E255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1103093"/>
            <a:ext cx="4318000" cy="4905814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9070FB6-C61C-BB13-D9D9-F6D7B31F89E2}"/>
              </a:ext>
            </a:extLst>
          </p:cNvPr>
          <p:cNvGrpSpPr/>
          <p:nvPr/>
        </p:nvGrpSpPr>
        <p:grpSpPr>
          <a:xfrm>
            <a:off x="5461000" y="1651000"/>
            <a:ext cx="5969000" cy="2124637"/>
            <a:chOff x="5461000" y="1651000"/>
            <a:chExt cx="5969000" cy="212463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7AE19D6-A800-EDFF-C0D7-5E6BEB7F1C05}"/>
                </a:ext>
              </a:extLst>
            </p:cNvPr>
            <p:cNvSpPr txBox="1"/>
            <p:nvPr/>
          </p:nvSpPr>
          <p:spPr>
            <a:xfrm>
              <a:off x="5664200" y="1651000"/>
              <a:ext cx="5765800" cy="2073837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MACRO MODERNIZATION OVERVIEW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800"/>
                </a:spcAft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The library has been significantly modernized with expanded digital amenities.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Thư viện đã được hiện đại hóa đáng kể với các tiện ích kỹ thuật số.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The central tables and chairs have been completely removed to create open space.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Bàn ghế ở trung tâm đã được dọn đi hoàn toàn để tạo không gian mở.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DE9608E-C7DE-BECF-0DB9-FC3647382945}"/>
                </a:ext>
              </a:extLst>
            </p:cNvPr>
            <p:cNvSpPr/>
            <p:nvPr/>
          </p:nvSpPr>
          <p:spPr>
            <a:xfrm>
              <a:off x="5461000" y="1651000"/>
              <a:ext cx="50800" cy="2124637"/>
            </a:xfrm>
            <a:prstGeom prst="rect">
              <a:avLst/>
            </a:prstGeom>
            <a:solidFill>
              <a:srgbClr val="7C3AED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92905528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7558F2D-C5CA-38DF-F4DC-8CDFF011FC16}"/>
              </a:ext>
            </a:extLst>
          </p:cNvPr>
          <p:cNvSpPr txBox="1"/>
          <p:nvPr/>
        </p:nvSpPr>
        <p:spPr>
          <a:xfrm>
            <a:off x="731520" y="330200"/>
            <a:ext cx="1072896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400" b="1">
                <a:solidFill>
                  <a:srgbClr val="7C3AED"/>
                </a:solidFill>
                <a:latin typeface="Montserrat" panose="00000500000000000000" pitchFamily="2" charset="0"/>
              </a:rPr>
              <a:t>📚 10. REAL EXAM #2: LIBRARY – BODY 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4478F3-907D-46D1-5F53-BD48F3A572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1103093"/>
            <a:ext cx="4318000" cy="4905814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37E0491A-64F4-BBD7-80F1-BAAD31767802}"/>
              </a:ext>
            </a:extLst>
          </p:cNvPr>
          <p:cNvGrpSpPr/>
          <p:nvPr/>
        </p:nvGrpSpPr>
        <p:grpSpPr>
          <a:xfrm>
            <a:off x="5461000" y="1651000"/>
            <a:ext cx="5969000" cy="1845715"/>
            <a:chOff x="5461000" y="1651000"/>
            <a:chExt cx="5969000" cy="184571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1139F22-865A-5F3E-90E6-991E41A08C85}"/>
                </a:ext>
              </a:extLst>
            </p:cNvPr>
            <p:cNvSpPr txBox="1"/>
            <p:nvPr/>
          </p:nvSpPr>
          <p:spPr>
            <a:xfrm>
              <a:off x="5664200" y="1651000"/>
              <a:ext cx="5765800" cy="1794915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ENTRANCE &amp; CENTRAL DESK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800"/>
                </a:spcAft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The main entrance has remained in its original location.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Lối vào chính vẫn giữ nguyên ở vị trí ban đầu.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The enquiry desk has given way to a café and modern self-service machines.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Bàn thông tin cũ đã nhường chỗ cho một quán café và máy tự phục vụ.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24B7182-40CC-F23E-C065-1BF9542F22BC}"/>
                </a:ext>
              </a:extLst>
            </p:cNvPr>
            <p:cNvSpPr/>
            <p:nvPr/>
          </p:nvSpPr>
          <p:spPr>
            <a:xfrm>
              <a:off x="5461000" y="1651000"/>
              <a:ext cx="50800" cy="1845715"/>
            </a:xfrm>
            <a:prstGeom prst="rect">
              <a:avLst/>
            </a:prstGeom>
            <a:solidFill>
              <a:srgbClr val="7C3AED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530897511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B3B3816-494D-3847-ACAB-215352C32662}"/>
              </a:ext>
            </a:extLst>
          </p:cNvPr>
          <p:cNvSpPr txBox="1"/>
          <p:nvPr/>
        </p:nvSpPr>
        <p:spPr>
          <a:xfrm>
            <a:off x="731520" y="330200"/>
            <a:ext cx="1072896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400" b="1">
                <a:solidFill>
                  <a:srgbClr val="7C3AED"/>
                </a:solidFill>
                <a:latin typeface="Montserrat" panose="00000500000000000000" pitchFamily="2" charset="0"/>
              </a:rPr>
              <a:t>📚 10. REAL EXAM #2: LIBRARY – BODY 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7274BA4-0429-292E-0EA6-B92BC975EE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1103093"/>
            <a:ext cx="4318000" cy="4905814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A23A8CAE-9E52-7210-DB02-75F642E44AE4}"/>
              </a:ext>
            </a:extLst>
          </p:cNvPr>
          <p:cNvGrpSpPr/>
          <p:nvPr/>
        </p:nvGrpSpPr>
        <p:grpSpPr>
          <a:xfrm>
            <a:off x="5461000" y="1651000"/>
            <a:ext cx="5969000" cy="2124637"/>
            <a:chOff x="5461000" y="1651000"/>
            <a:chExt cx="5969000" cy="212463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EA60913-21CC-BE49-B06B-5402ABB98063}"/>
                </a:ext>
              </a:extLst>
            </p:cNvPr>
            <p:cNvSpPr txBox="1"/>
            <p:nvPr/>
          </p:nvSpPr>
          <p:spPr>
            <a:xfrm>
              <a:off x="5664200" y="1651000"/>
              <a:ext cx="5765800" cy="2073837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CORNER &amp; FUNCTION ROOMS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800"/>
                </a:spcAft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The room in the top-left corner was enlarged into a storytelling area.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Phòng ở góc trên bên trái được mở rộng thành khu vực kể chuyện.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The former children's book section has been converted into a lecture room.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Khu vực sách thiếu nhi cũ được chuyển đổi thành phòng thuyết trình.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D234D32-E739-FBF7-956A-1DF27B727437}"/>
                </a:ext>
              </a:extLst>
            </p:cNvPr>
            <p:cNvSpPr/>
            <p:nvPr/>
          </p:nvSpPr>
          <p:spPr>
            <a:xfrm>
              <a:off x="5461000" y="1651000"/>
              <a:ext cx="50800" cy="2124637"/>
            </a:xfrm>
            <a:prstGeom prst="rect">
              <a:avLst/>
            </a:prstGeom>
            <a:solidFill>
              <a:srgbClr val="7C3AED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045165541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CCB996D-7B1A-F375-1425-438F5E1E4EF0}"/>
              </a:ext>
            </a:extLst>
          </p:cNvPr>
          <p:cNvSpPr txBox="1"/>
          <p:nvPr/>
        </p:nvSpPr>
        <p:spPr>
          <a:xfrm>
            <a:off x="731520" y="330200"/>
            <a:ext cx="1072896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400" b="1">
                <a:solidFill>
                  <a:srgbClr val="7C3AED"/>
                </a:solidFill>
                <a:latin typeface="Montserrat" panose="00000500000000000000" pitchFamily="2" charset="0"/>
              </a:rPr>
              <a:t>📚 10. REAL EXAM #2: LIBRARY – INVERSION FINALE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D0D0593-C21E-71BA-B425-C14F4EEF54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1103093"/>
            <a:ext cx="4318000" cy="4905814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9112D924-9153-17FB-594A-04367B14FF6A}"/>
              </a:ext>
            </a:extLst>
          </p:cNvPr>
          <p:cNvGrpSpPr/>
          <p:nvPr/>
        </p:nvGrpSpPr>
        <p:grpSpPr>
          <a:xfrm>
            <a:off x="5461000" y="1651000"/>
            <a:ext cx="5969000" cy="2124637"/>
            <a:chOff x="5461000" y="1651000"/>
            <a:chExt cx="5969000" cy="212463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5783F26-35A7-C2E1-DA91-36D2CC5DC825}"/>
                </a:ext>
              </a:extLst>
            </p:cNvPr>
            <p:cNvSpPr txBox="1"/>
            <p:nvPr/>
          </p:nvSpPr>
          <p:spPr>
            <a:xfrm>
              <a:off x="5664200" y="1651000"/>
              <a:ext cx="5765800" cy="2073837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750" b="1">
                  <a:solidFill>
                    <a:srgbClr val="0F172A"/>
                  </a:solidFill>
                  <a:latin typeface="Montserrat" panose="00000500000000000000" pitchFamily="2" charset="0"/>
                </a:rPr>
                <a:t>SPATIAL INVERSION HIGHLIGHT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800"/>
                </a:spcAft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In the top-right corner now stands a newly constructed lecture room.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  <a:spcAft>
                  <a:spcPts val="200"/>
                </a:spcAft>
              </a:pPr>
              <a:r>
                <a:rPr lang="en-US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Ở góc trên bên phải giờ đây hiện diện một phòng thuyết trình mới xây.</a:t>
              </a:r>
              <a:endParaRPr lang="en-US" sz="1450">
                <a:solidFill>
                  <a:srgbClr val="0F172A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en-US" sz="1450">
                  <a:solidFill>
                    <a:srgbClr val="0F172A"/>
                  </a:solidFill>
                  <a:latin typeface="Montserrat" panose="00000500000000000000" pitchFamily="2" charset="0"/>
                </a:rPr>
                <a:t>Positioned along the right-hand wall are updated self-service kiosks.</a:t>
              </a:r>
              <a:endParaRPr lang="vi-VN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  <a:p>
              <a:pPr>
                <a:lnSpc>
                  <a:spcPct val="125000"/>
                </a:lnSpc>
              </a:pPr>
              <a:r>
                <a:rPr lang="vi-VN" sz="1200" i="1">
                  <a:solidFill>
                    <a:srgbClr val="64748B"/>
                  </a:solidFill>
                  <a:latin typeface="Montserrat" panose="00000500000000000000" pitchFamily="2" charset="0"/>
                </a:rPr>
                <a:t>Nằm dọc theo bức tường bên phải là các trạm máy tự phục vụ hiện đại.</a:t>
              </a:r>
              <a:endParaRPr lang="en-US" sz="1200" i="1">
                <a:solidFill>
                  <a:srgbClr val="64748B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555A10F-7711-1A21-AA06-FDCD4512BE0A}"/>
                </a:ext>
              </a:extLst>
            </p:cNvPr>
            <p:cNvSpPr/>
            <p:nvPr/>
          </p:nvSpPr>
          <p:spPr>
            <a:xfrm>
              <a:off x="5461000" y="1651000"/>
              <a:ext cx="50800" cy="2124637"/>
            </a:xfrm>
            <a:prstGeom prst="rect">
              <a:avLst/>
            </a:prstGeom>
            <a:solidFill>
              <a:srgbClr val="7C3AED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84351054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3399</Words>
  <Application>Microsoft Office PowerPoint</Application>
  <PresentationFormat>Custom</PresentationFormat>
  <Paragraphs>289</Paragraphs>
  <Slides>41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6" baseType="lpstr">
      <vt:lpstr>Aptos</vt:lpstr>
      <vt:lpstr>Aptos Display</vt:lpstr>
      <vt:lpstr>Arial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Lê Thành Hiệu</dc:creator>
  <cp:lastModifiedBy>Lê Thành Hiệu</cp:lastModifiedBy>
  <cp:revision>1</cp:revision>
  <dcterms:created xsi:type="dcterms:W3CDTF">2026-10-22T15:56:03Z</dcterms:created>
  <dcterms:modified xsi:type="dcterms:W3CDTF">2026-10-22T15:56:03Z</dcterms:modified>
</cp:coreProperties>
</file>