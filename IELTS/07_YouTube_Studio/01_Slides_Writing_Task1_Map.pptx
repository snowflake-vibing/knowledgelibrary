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DC2626"/>
                </a:solidFill>
                <a:latin typeface="Montserrat"/>
              </a:defRPr>
            </a:pPr>
            <a:r>
              <a:t>🗺️ PHÂN LOẠI CÁC DẠNG BÀI MAP</a:t>
            </a:r>
          </a:p>
        </p:txBody>
      </p:sp>
      <p:pic>
        <p:nvPicPr>
          <p:cNvPr id="3" name="Picture 2" descr="cambridge_static_map_s1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396431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1371600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5232" y="1371600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QUÁ KHỨ ➔ QUÁ KHỨ (1930 - 2010)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was constructed / had been demolished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2560320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85232" y="2560320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QUÁ KHỨ ➔ HIỆN TẠI (20 YEARS AGO - TODAY)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has been converted into / have been removed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749039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3749039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HIỆN TẠI ➔ TƯƠNG LAI (NOW - 2035)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is planned to be built / is projected to be converted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4937760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2" y="4937760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STATIC MAP (SO SÁNH 2 VỊ TRÍ S1 VS S2)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is located in / lies to the north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7C3AED"/>
                </a:solidFill>
                <a:latin typeface="Montserrat"/>
              </a:defRPr>
            </a:pPr>
            <a:r>
              <a:t>🎯 4 TIÊU CHÍ CHẤM ĐIỂM (BAND 7.5+)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45720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463040"/>
            <a:ext cx="495604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TASK ACHIEVEMENT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Bắt buộc có Overview tổng thể.</a:t>
            </a:r>
            <a:br/>
            <a:r>
              <a:t>Mô tả cả những chi tiết giữ nguyên.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45720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566160"/>
            <a:ext cx="495604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COHERENCE AND COHESION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Chia đoạn theo trật tự không gian rõ ràng.</a:t>
            </a:r>
            <a:br/>
            <a:r>
              <a:t>Không nhảy cóc vị trí lộn xộn trên bản đồ.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63040"/>
            <a:ext cx="45720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463040"/>
            <a:ext cx="495604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LEXICAL RESOURCE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Đa dạng 5 nhóm động từ thay đổi.</a:t>
            </a:r>
            <a:br/>
            <a:r>
              <a:t>Chính xác giới từ in và to khi chỉ hướng.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566160"/>
            <a:ext cx="45720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3566160"/>
            <a:ext cx="495604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GRAMMATICAL RANGE AND ACCURACY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80% sử dụng thể bị động.</a:t>
            </a:r>
            <a:br/>
            <a:r>
              <a:t>Kết hợp danh từ hóa và mệnh đề phân từ.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Montserrat"/>
              </a:defRPr>
            </a:pPr>
            <a:r>
              <a:t>📐 CẤU TRÚC BÀI VIẾT VÀ CÁCH CHIA 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45720" cy="868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71600"/>
            <a:ext cx="10564063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CẤU TRÚC 4 ĐOẠN CHUẨN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Introduction ➔ Overview ➔ Body 1 ➔ Body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14600"/>
            <a:ext cx="45720" cy="868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514600"/>
            <a:ext cx="10564063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CÁCH 1 ➔ CHIA ĐÔI KHÔNG GIAN BẮC VÀ NAM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Áp dụng khi có con sông hoặc trục đường lớn cắt ngang.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45720" cy="868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657600"/>
            <a:ext cx="10564063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CÁCH 2 ➔ TRUNG TÂM VÀ CÁC PHÒNG XUNG QUANH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Áp dụng cho sơ đồ phòng hoặc hòn đảo du lịch.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00600"/>
            <a:ext cx="45720" cy="868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800600"/>
            <a:ext cx="10564063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CÁCH 3 ➔ CHIA THEO NHÓM CHỨC NĂNG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Body 1 tả hạ tầng và nhà ở ➔ Body 2 tả tiện ích và thiên nhiên.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DB2777"/>
                </a:solidFill>
                <a:latin typeface="Montserrat"/>
              </a:defRPr>
            </a:pPr>
            <a:r>
              <a:t>✍️ KHUNG CÂU INTRODUCTION &amp;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45720" cy="146304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417320"/>
            <a:ext cx="10564063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INTRODUCTION (1 CÂU PARAPHRASE)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The two maps illustrate how Stokeford developed over an 80-year period.</a:t>
            </a:r>
            <a:br/>
            <a:r>
              <a:t>The two floor plans compare the layout of the library with its current configuration.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45720" cy="164592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291840"/>
            <a:ext cx="10564063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OVERVIEW (2 CÂU BỨC TRANH TỔNG THỂ)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Overall, the village underwent a transformation from a rural into a residential area.</a:t>
            </a:r>
            <a:br/>
            <a:r>
              <a:t>The most notable changes include the complete clearance of farmland for new housing.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DC2626"/>
                </a:solidFill>
                <a:latin typeface="Montserrat"/>
              </a:defRPr>
            </a:pPr>
            <a:r>
              <a:t>🧭 8 HƯỚNG LA BÀN VÀ GIỚI TỪ IN VS TO</a:t>
            </a:r>
          </a:p>
        </p:txBody>
      </p:sp>
      <p:pic>
        <p:nvPicPr>
          <p:cNvPr id="3" name="Picture 2" descr="wikimedia_compass_r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3474720" cy="352581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0" y="1371600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36592" y="1371600"/>
            <a:ext cx="669340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NORTH ➔ SOUTH ➔ EAST ➔ WEST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in the northern part of the village / in the south-west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560320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36592" y="2560320"/>
            <a:ext cx="669340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IN THE NORTH ➔ NẰM TRONG RANH GIỚI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A new hospital was built in the north of the town.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749039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3749039"/>
            <a:ext cx="669340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TO THE NORTH ➔ NẰM TÁCH BIỆT BÊN NGOÀI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A dense forest lies to the north of the town.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937760"/>
            <a:ext cx="45720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937760"/>
            <a:ext cx="669340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ADJACENT TO (SÁT CẠNH) ➔ OPPOSITE (ĐỐI DIỆN)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The shops adjacent to the post office were demolished.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7C3AED"/>
                </a:solidFill>
                <a:latin typeface="Montserrat"/>
              </a:defRPr>
            </a:pPr>
            <a:r>
              <a:t>🏢 ĐỊNH VỊ SƠ ĐỒ TRONG NHÀ (FLOOR PLAN)</a:t>
            </a:r>
          </a:p>
        </p:txBody>
      </p:sp>
      <p:pic>
        <p:nvPicPr>
          <p:cNvPr id="3" name="Picture 2" descr="cambridge_18_library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457106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1371600"/>
            <a:ext cx="4572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5232" y="1371600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LỐI VÀO CHÍNH LÀM MỐC XUẤT PHÁT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To the immediate left / right of the entrance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2560320"/>
            <a:ext cx="4572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85232" y="2560320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KHU VỰC CHÍNH GIỮA PHÒNG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In the center / middle / heart of the library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749039"/>
            <a:ext cx="4572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3749039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DỌC THEO CÁC BỨC TƯỜNG HAI BÊN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Along the left-hand / right-hand wall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4937760"/>
            <a:ext cx="4572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2" y="4937760"/>
            <a:ext cx="6144768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HAI GÓC VÀ PHÍA CUỐI CĂN PHÒNG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At the back of the room / In the top-left corner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Montserrat"/>
              </a:defRPr>
            </a:pPr>
            <a:r>
              <a:t>🔄 5 NHÓM ĐỘNG TỪ VÀ DANH TỪ HÓA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45720" cy="1645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463040"/>
            <a:ext cx="495604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1. XÂY MỚI HOẶC THÊM VÀO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be constructed / erected / added</a:t>
            </a:r>
            <a:br/>
            <a:r>
              <a:t>the construction / addition of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45720" cy="19202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474720"/>
            <a:ext cx="4956048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2. PHÁ BỎ HOẶC DỌN TRỐNG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be demolished / knocked down (nhà)</a:t>
            </a:r>
            <a:br/>
            <a:r>
              <a:t>be cleared (cây) / be removed (đồ)</a:t>
            </a:r>
            <a:br/>
            <a:r>
              <a:t>the demolition / clearance / removal of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63040"/>
            <a:ext cx="45720" cy="1280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463040"/>
            <a:ext cx="4956048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3. THAY THẾ VÀ CHUYỂN ĐỔI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be converted into / be replaced by</a:t>
            </a:r>
            <a:br/>
            <a:r>
              <a:t>gave way to / made way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017520"/>
            <a:ext cx="45720" cy="1280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3017520"/>
            <a:ext cx="4956048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4. MỞ RỘNG HOẶC THU HẸP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be expanded / extended / enlarged</a:t>
            </a:r>
            <a:br/>
            <a:r>
              <a:t>be reduced in size / narrowed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572000"/>
            <a:ext cx="4572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4572000"/>
            <a:ext cx="49560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5. GIỮ NGUYÊN KHÔNG ĐỔI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remained unchanged / stayed intact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DB2777"/>
                </a:solidFill>
                <a:latin typeface="Montserrat"/>
              </a:defRPr>
            </a:pPr>
            <a:r>
              <a:t>💡 4 CẤU TRÚC NGỮ PHÁP ĂN ĐIỂM GRA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45720" cy="96012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71600"/>
            <a:ext cx="1056406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1. MỆNH ĐỀ PHÂN TỪ RÚT GỌN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Located to the east of the road, the primary school was significantly extended.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14600"/>
            <a:ext cx="45720" cy="96012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514600"/>
            <a:ext cx="1056406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2. ĐẢO NGỮ CỤM GIỚI TỪ CHỈ NƠI CHỐN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In the top-right corner of the library now stands a newly constructed lecture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45720" cy="96012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657600"/>
            <a:ext cx="1056406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3. CẤU TRÚC ĐÁNH ĐỔI AT THE EXPENSE OF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The retirement home was expanded at the expense of the surrounding gardens.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00600"/>
            <a:ext cx="45720" cy="96012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800600"/>
            <a:ext cx="1056406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4. DANH TỪ HÓA VỚI ĐỘNG TỪ WITNESSED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The bottom-right corner witnessed the conversion of the enquiry desk into a café.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DC2626"/>
                </a:solidFill>
                <a:latin typeface="Montserrat"/>
              </a:defRPr>
            </a:pPr>
            <a:r>
              <a:t>🏡 ĐỀ THI THẬT #1: LÀNG STOKEFORD (1930 - 2010)</a:t>
            </a:r>
          </a:p>
        </p:txBody>
      </p:sp>
      <p:pic>
        <p:nvPicPr>
          <p:cNvPr id="3" name="Picture 2" descr="cambridge_stokeford_1930_2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210565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1371600"/>
            <a:ext cx="45720" cy="1554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5232" y="1371600"/>
            <a:ext cx="6144768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INTRODUCTION (QUÁ KHỨ ĐƠN)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The two maps illustrate how Stokeford developed over an 80-year period from 1930 to 2010.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3200400"/>
            <a:ext cx="45720" cy="2377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85232" y="3200400"/>
            <a:ext cx="6144768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OVERVIEW (BỨC TRANH TỔNG THỂ)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Overall, the village underwent a transformation from a rural into a densely populated residential area.</a:t>
            </a:r>
            <a:br/>
            <a:br/>
            <a:r>
              <a:t>The most notable changes include the complete clearance of farmland for new housing.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7C3AED"/>
                </a:solidFill>
                <a:latin typeface="Montserrat"/>
              </a:defRPr>
            </a:pPr>
            <a:r>
              <a:t>📝 ĐỀ THI THẬT #1: THÂN BÀI BODY 1 &amp; BODY 2</a:t>
            </a:r>
          </a:p>
        </p:txBody>
      </p:sp>
      <p:pic>
        <p:nvPicPr>
          <p:cNvPr id="3" name="Picture 2" descr="cambridge_stokeford_1930_2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210565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1371600"/>
            <a:ext cx="45720" cy="2011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5232" y="1371600"/>
            <a:ext cx="61447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BODY 1 ➔ NỬA PHÍA BẮC VÀ TRUNG TÂM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River Stoke and bridge remained unchanged.</a:t>
            </a:r>
            <a:br/>
            <a:r>
              <a:t>Farmland in north-east was cleared for new housing.</a:t>
            </a:r>
            <a:br/>
            <a:r>
              <a:t>Post office stayed intact, while shops were replaced by houses.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3657600"/>
            <a:ext cx="45720" cy="2011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85232" y="3657600"/>
            <a:ext cx="61447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BODY 2 ➔ NỬA PHÍA NAM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Primary school to the east of road was significantly extended.</a:t>
            </a:r>
            <a:br/>
            <a:r>
              <a:t>Large house became a retirement home at expense of gardens.</a:t>
            </a:r>
            <a:br/>
            <a:r>
              <a:t>Farmland in south-west gave way to new houses.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Montserrat"/>
              </a:defRPr>
            </a:pPr>
            <a:r>
              <a:t>📚 ĐỀ THI THẬT #2: THƯ VIỆN (CAMBRIDGE 18) - P1</a:t>
            </a:r>
          </a:p>
        </p:txBody>
      </p:sp>
      <p:pic>
        <p:nvPicPr>
          <p:cNvPr id="3" name="Picture 2" descr="cambridge_18_library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457106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1371600"/>
            <a:ext cx="45720" cy="1737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5232" y="1371600"/>
            <a:ext cx="614476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OVERVIEW (HIỆN TẠI HOÀN THÀNH)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The library has been significantly modernized, while the central tables and chairs have been completely removed.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3474720"/>
            <a:ext cx="45720" cy="20116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85232" y="3474720"/>
            <a:ext cx="61447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BODY 1 ➔ LỐI VÀO VÀ TRUNG TÂM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Main entrance has remained in the same location.</a:t>
            </a:r>
            <a:br/>
            <a:r>
              <a:t>Reading room has been replaced by a computer room.</a:t>
            </a:r>
            <a:br/>
            <a:r>
              <a:t>Enquiry desk has given way to a café and self-service machines.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DB2777"/>
                </a:solidFill>
                <a:latin typeface="Montserrat"/>
              </a:defRPr>
            </a:pPr>
            <a:r>
              <a:t>📚 ĐỀ THI THẬT #2: THƯ VIỆN (CAMBRIDGE 18) - P2</a:t>
            </a:r>
          </a:p>
        </p:txBody>
      </p:sp>
      <p:pic>
        <p:nvPicPr>
          <p:cNvPr id="3" name="Picture 2" descr="cambridge_18_library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457106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1371600"/>
            <a:ext cx="45720" cy="201168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85232" y="1371600"/>
            <a:ext cx="61447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BODY 2 ➔ CÁC GÓC CUỐI THƯ VIỆN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Room in top-left corner has been enlarged and converted into a storytelling space equipped with sofas.</a:t>
            </a:r>
            <a:br/>
            <a:r>
              <a:t>Former children's book area has been turned into a lecture room.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3657600"/>
            <a:ext cx="45720" cy="173736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85232" y="3657600"/>
            <a:ext cx="614476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b="1" sz="2400">
                <a:solidFill>
                  <a:srgbClr val="0F172A"/>
                </a:solidFill>
                <a:latin typeface="Montserrat"/>
              </a:defRPr>
            </a:pPr>
            <a:r>
              <a:t>CẤU TRÚC ĐẢO NGỮ NƠI CHỐN ĂN ĐIỂM</a:t>
            </a:r>
          </a:p>
          <a:p>
            <a:pPr>
              <a:defRPr i="1" sz="2400">
                <a:solidFill>
                  <a:srgbClr val="0F172A"/>
                </a:solidFill>
                <a:latin typeface="Montserrat"/>
              </a:defRPr>
            </a:pPr>
            <a:r>
              <a:t>In the top-right corner now stands a newly constructed lecture 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